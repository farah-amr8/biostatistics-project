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3">
  <p:sldMasterIdLst>
    <p:sldMasterId id="2147483671" r:id="rId1"/>
    <p:sldMasterId id="2147483672" r:id="rId2"/>
  </p:sldMasterIdLst>
  <p:notesMasterIdLst>
    <p:notesMasterId r:id="rId35"/>
  </p:notesMasterIdLst>
  <p:sldIdLst>
    <p:sldId id="256" r:id="rId3"/>
    <p:sldId id="311" r:id="rId4"/>
    <p:sldId id="263" r:id="rId5"/>
    <p:sldId id="259" r:id="rId6"/>
    <p:sldId id="318" r:id="rId7"/>
    <p:sldId id="319" r:id="rId8"/>
    <p:sldId id="260" r:id="rId9"/>
    <p:sldId id="290" r:id="rId10"/>
    <p:sldId id="291" r:id="rId11"/>
    <p:sldId id="292" r:id="rId12"/>
    <p:sldId id="293" r:id="rId13"/>
    <p:sldId id="294" r:id="rId14"/>
    <p:sldId id="295" r:id="rId15"/>
    <p:sldId id="302" r:id="rId16"/>
    <p:sldId id="303" r:id="rId17"/>
    <p:sldId id="304" r:id="rId18"/>
    <p:sldId id="305" r:id="rId19"/>
    <p:sldId id="306" r:id="rId20"/>
    <p:sldId id="307" r:id="rId21"/>
    <p:sldId id="308" r:id="rId22"/>
    <p:sldId id="297" r:id="rId23"/>
    <p:sldId id="298" r:id="rId24"/>
    <p:sldId id="299" r:id="rId25"/>
    <p:sldId id="300" r:id="rId26"/>
    <p:sldId id="310" r:id="rId27"/>
    <p:sldId id="312" r:id="rId28"/>
    <p:sldId id="314" r:id="rId29"/>
    <p:sldId id="315" r:id="rId30"/>
    <p:sldId id="316" r:id="rId31"/>
    <p:sldId id="317" r:id="rId32"/>
    <p:sldId id="257" r:id="rId33"/>
    <p:sldId id="296" r:id="rId34"/>
  </p:sldIdLst>
  <p:sldSz cx="9144000" cy="5143500" type="screen16x9"/>
  <p:notesSz cx="6858000" cy="9144000"/>
  <p:embeddedFontLst>
    <p:embeddedFont>
      <p:font typeface="Fira Sans Condensed SemiBold" charset="0"/>
      <p:regular r:id="rId36"/>
      <p:bold r:id="rId37"/>
      <p:italic r:id="rId38"/>
      <p:boldItalic r:id="rId39"/>
    </p:embeddedFont>
    <p:embeddedFont>
      <p:font typeface="Fira Sans Extra Condensed SemiBold" charset="0"/>
      <p:regular r:id="rId40"/>
      <p:bold r:id="rId41"/>
      <p:italic r:id="rId42"/>
      <p:boldItalic r:id="rId43"/>
    </p:embeddedFont>
    <p:embeddedFont>
      <p:font typeface="Calibri" pitchFamily="34" charset="0"/>
      <p:regular r:id="rId44"/>
      <p:bold r:id="rId45"/>
      <p:italic r:id="rId46"/>
      <p:boldItalic r:id="rId47"/>
    </p:embeddedFont>
    <p:embeddedFont>
      <p:font typeface="Roboto"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16" y="1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6.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49"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9.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6.xml"/><Relationship Id="rId51" Type="http://schemas.openxmlformats.org/officeDocument/2006/relationships/font" Target="fonts/font16.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0707740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b18ed2f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b18ed2f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b839c91458_0_34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b839c91458_0_3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351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b82fb82d2a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b82fb82d2a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ed3dfe5505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ed3dfe5505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d3dfe550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d3dfe550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d3dfe550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d3dfe550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8083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d3dfe550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d3dfe550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3946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d3dfe550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d3dfe550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4893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d3dfe550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d3dfe550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0948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d3dfe550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d3dfe550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1941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d3dfe5505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d3dfe550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6351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b82fb82d2a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b82fb82d2a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b82fb82d2a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b82fb82d2a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4679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091150" y="1562313"/>
            <a:ext cx="4389000" cy="16614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00">
                <a:latin typeface="Fira Sans Extra Condensed SemiBold"/>
                <a:ea typeface="Fira Sans Extra Condensed SemiBold"/>
                <a:cs typeface="Fira Sans Extra Condensed SemiBold"/>
                <a:sym typeface="Fira Sans Extra Condensed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091150" y="3225688"/>
            <a:ext cx="4389000" cy="355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57200" y="411475"/>
            <a:ext cx="8229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523875" y="1152475"/>
            <a:ext cx="3999900" cy="3416400"/>
          </a:xfrm>
          <a:prstGeom prst="rect">
            <a:avLst/>
          </a:prstGeom>
        </p:spPr>
        <p:txBody>
          <a:bodyPr spcFirstLastPara="1" wrap="square" lIns="91425" tIns="91425" rIns="91425" bIns="91425" anchor="t" anchorCtr="0">
            <a:noAutofit/>
          </a:bodyPr>
          <a:lstStyle>
            <a:lvl1pPr marL="457200" lvl="0" indent="-330200">
              <a:lnSpc>
                <a:spcPct val="100000"/>
              </a:lnSpc>
              <a:spcBef>
                <a:spcPts val="0"/>
              </a:spcBef>
              <a:spcAft>
                <a:spcPts val="0"/>
              </a:spcAft>
              <a:buSzPts val="1600"/>
              <a:buFont typeface="Niramit"/>
              <a:buChar char="●"/>
              <a:defRPr/>
            </a:lvl1pPr>
            <a:lvl2pPr marL="914400" lvl="1" indent="-330200">
              <a:spcBef>
                <a:spcPts val="0"/>
              </a:spcBef>
              <a:spcAft>
                <a:spcPts val="0"/>
              </a:spcAft>
              <a:buSzPts val="1600"/>
              <a:buFont typeface="Niramit"/>
              <a:buChar char="○"/>
              <a:defRPr sz="1200"/>
            </a:lvl2pPr>
            <a:lvl3pPr marL="1371600" lvl="2" indent="-330200">
              <a:spcBef>
                <a:spcPts val="0"/>
              </a:spcBef>
              <a:spcAft>
                <a:spcPts val="0"/>
              </a:spcAft>
              <a:buSzPts val="1600"/>
              <a:buFont typeface="Niramit"/>
              <a:buChar char="■"/>
              <a:defRPr sz="1200"/>
            </a:lvl3pPr>
            <a:lvl4pPr marL="1828800" lvl="3" indent="-330200">
              <a:spcBef>
                <a:spcPts val="0"/>
              </a:spcBef>
              <a:spcAft>
                <a:spcPts val="0"/>
              </a:spcAft>
              <a:buSzPts val="1600"/>
              <a:buFont typeface="Niramit"/>
              <a:buChar char="●"/>
              <a:defRPr sz="1200"/>
            </a:lvl4pPr>
            <a:lvl5pPr marL="2286000" lvl="4" indent="-330200">
              <a:spcBef>
                <a:spcPts val="0"/>
              </a:spcBef>
              <a:spcAft>
                <a:spcPts val="0"/>
              </a:spcAft>
              <a:buSzPts val="1600"/>
              <a:buFont typeface="Niramit"/>
              <a:buChar char="○"/>
              <a:defRPr sz="1200"/>
            </a:lvl5pPr>
            <a:lvl6pPr marL="2743200" lvl="5" indent="-330200">
              <a:spcBef>
                <a:spcPts val="0"/>
              </a:spcBef>
              <a:spcAft>
                <a:spcPts val="0"/>
              </a:spcAft>
              <a:buSzPts val="1600"/>
              <a:buFont typeface="Niramit"/>
              <a:buChar char="■"/>
              <a:defRPr sz="1200"/>
            </a:lvl6pPr>
            <a:lvl7pPr marL="3200400" lvl="6" indent="-330200">
              <a:spcBef>
                <a:spcPts val="0"/>
              </a:spcBef>
              <a:spcAft>
                <a:spcPts val="0"/>
              </a:spcAft>
              <a:buSzPts val="1600"/>
              <a:buFont typeface="Niramit"/>
              <a:buChar char="●"/>
              <a:defRPr sz="1200"/>
            </a:lvl7pPr>
            <a:lvl8pPr marL="3657600" lvl="7" indent="-330200">
              <a:spcBef>
                <a:spcPts val="0"/>
              </a:spcBef>
              <a:spcAft>
                <a:spcPts val="0"/>
              </a:spcAft>
              <a:buSzPts val="1600"/>
              <a:buFont typeface="Niramit"/>
              <a:buChar char="○"/>
              <a:defRPr sz="1200"/>
            </a:lvl8pPr>
            <a:lvl9pPr marL="4114800" lvl="8" indent="-330200">
              <a:spcBef>
                <a:spcPts val="0"/>
              </a:spcBef>
              <a:spcAft>
                <a:spcPts val="0"/>
              </a:spcAft>
              <a:buSzPts val="1600"/>
              <a:buFont typeface="Niramit"/>
              <a:buChar char="■"/>
              <a:defRPr sz="1200"/>
            </a:lvl9pPr>
          </a:lstStyle>
          <a:p>
            <a:endParaRPr/>
          </a:p>
        </p:txBody>
      </p:sp>
      <p:sp>
        <p:nvSpPr>
          <p:cNvPr id="19" name="Google Shape;19;p5"/>
          <p:cNvSpPr txBox="1">
            <a:spLocks noGrp="1"/>
          </p:cNvSpPr>
          <p:nvPr>
            <p:ph type="body" idx="2"/>
          </p:nvPr>
        </p:nvSpPr>
        <p:spPr>
          <a:xfrm>
            <a:off x="4638675" y="1152475"/>
            <a:ext cx="3999900" cy="34164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Niramit"/>
              <a:buChar char="●"/>
              <a:defRPr u="sng"/>
            </a:lvl1pPr>
            <a:lvl2pPr marL="914400" lvl="1" indent="-330200" rtl="0">
              <a:spcBef>
                <a:spcPts val="0"/>
              </a:spcBef>
              <a:spcAft>
                <a:spcPts val="0"/>
              </a:spcAft>
              <a:buSzPts val="1600"/>
              <a:buFont typeface="Niramit"/>
              <a:buChar char="○"/>
              <a:defRPr sz="1200"/>
            </a:lvl2pPr>
            <a:lvl3pPr marL="1371600" lvl="2" indent="-330200" rtl="0">
              <a:spcBef>
                <a:spcPts val="0"/>
              </a:spcBef>
              <a:spcAft>
                <a:spcPts val="0"/>
              </a:spcAft>
              <a:buSzPts val="1600"/>
              <a:buFont typeface="Niramit"/>
              <a:buChar char="■"/>
              <a:defRPr sz="1200"/>
            </a:lvl3pPr>
            <a:lvl4pPr marL="1828800" lvl="3" indent="-330200" rtl="0">
              <a:spcBef>
                <a:spcPts val="0"/>
              </a:spcBef>
              <a:spcAft>
                <a:spcPts val="0"/>
              </a:spcAft>
              <a:buSzPts val="1600"/>
              <a:buFont typeface="Niramit"/>
              <a:buChar char="●"/>
              <a:defRPr sz="1200"/>
            </a:lvl4pPr>
            <a:lvl5pPr marL="2286000" lvl="4" indent="-330200" rtl="0">
              <a:spcBef>
                <a:spcPts val="0"/>
              </a:spcBef>
              <a:spcAft>
                <a:spcPts val="0"/>
              </a:spcAft>
              <a:buSzPts val="1600"/>
              <a:buFont typeface="Niramit"/>
              <a:buChar char="○"/>
              <a:defRPr sz="1200"/>
            </a:lvl5pPr>
            <a:lvl6pPr marL="2743200" lvl="5" indent="-330200" rtl="0">
              <a:spcBef>
                <a:spcPts val="0"/>
              </a:spcBef>
              <a:spcAft>
                <a:spcPts val="0"/>
              </a:spcAft>
              <a:buSzPts val="1600"/>
              <a:buFont typeface="Niramit"/>
              <a:buChar char="■"/>
              <a:defRPr sz="1200"/>
            </a:lvl6pPr>
            <a:lvl7pPr marL="3200400" lvl="6" indent="-330200" rtl="0">
              <a:spcBef>
                <a:spcPts val="0"/>
              </a:spcBef>
              <a:spcAft>
                <a:spcPts val="0"/>
              </a:spcAft>
              <a:buSzPts val="1600"/>
              <a:buFont typeface="Niramit"/>
              <a:buChar char="●"/>
              <a:defRPr sz="1200"/>
            </a:lvl7pPr>
            <a:lvl8pPr marL="3657600" lvl="7" indent="-330200" rtl="0">
              <a:spcBef>
                <a:spcPts val="0"/>
              </a:spcBef>
              <a:spcAft>
                <a:spcPts val="0"/>
              </a:spcAft>
              <a:buSzPts val="1600"/>
              <a:buFont typeface="Niramit"/>
              <a:buChar char="○"/>
              <a:defRPr sz="1200"/>
            </a:lvl8pPr>
            <a:lvl9pPr marL="4114800" lvl="8" indent="-330200" rtl="0">
              <a:spcBef>
                <a:spcPts val="0"/>
              </a:spcBef>
              <a:spcAft>
                <a:spcPts val="0"/>
              </a:spcAft>
              <a:buSzPts val="1600"/>
              <a:buFont typeface="Niramit"/>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57200" y="411475"/>
            <a:ext cx="8229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9" name="Google Shape;2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0" name="Google Shape;3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3"/>
        <p:cNvGrpSpPr/>
        <p:nvPr/>
      </p:nvGrpSpPr>
      <p:grpSpPr>
        <a:xfrm>
          <a:off x="0" y="0"/>
          <a:ext cx="0" cy="0"/>
          <a:chOff x="0" y="0"/>
          <a:chExt cx="0" cy="0"/>
        </a:xfrm>
      </p:grpSpPr>
      <p:sp>
        <p:nvSpPr>
          <p:cNvPr id="34" name="Google Shape;3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 name="Google Shape;35;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6"/>
        <p:cNvGrpSpPr/>
        <p:nvPr/>
      </p:nvGrpSpPr>
      <p:grpSpPr>
        <a:xfrm>
          <a:off x="0" y="0"/>
          <a:ext cx="0" cy="0"/>
          <a:chOff x="0" y="0"/>
          <a:chExt cx="0" cy="0"/>
        </a:xfrm>
      </p:grpSpPr>
      <p:sp>
        <p:nvSpPr>
          <p:cNvPr id="47" name="Google Shape;47;p16"/>
          <p:cNvSpPr txBox="1">
            <a:spLocks noGrp="1"/>
          </p:cNvSpPr>
          <p:nvPr>
            <p:ph type="title"/>
          </p:nvPr>
        </p:nvSpPr>
        <p:spPr>
          <a:xfrm>
            <a:off x="457200" y="411475"/>
            <a:ext cx="8229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8" name="Google Shape;48;p16"/>
          <p:cNvSpPr txBox="1">
            <a:spLocks noGrp="1"/>
          </p:cNvSpPr>
          <p:nvPr>
            <p:ph type="body" idx="1"/>
          </p:nvPr>
        </p:nvSpPr>
        <p:spPr>
          <a:xfrm>
            <a:off x="457200" y="1152475"/>
            <a:ext cx="8229600" cy="3416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a:lvl2pPr>
            <a:lvl3pPr marL="1371600" lvl="2" indent="-304800" rtl="0">
              <a:spcBef>
                <a:spcPts val="0"/>
              </a:spcBef>
              <a:spcAft>
                <a:spcPts val="0"/>
              </a:spcAft>
              <a:buSzPts val="1200"/>
              <a:buChar char="■"/>
              <a:defRPr/>
            </a:lvl3pPr>
            <a:lvl4pPr marL="1828800" lvl="3" indent="-304800" rtl="0">
              <a:spcBef>
                <a:spcPts val="0"/>
              </a:spcBef>
              <a:spcAft>
                <a:spcPts val="0"/>
              </a:spcAft>
              <a:buSzPts val="1200"/>
              <a:buChar char="●"/>
              <a:defRPr/>
            </a:lvl4pPr>
            <a:lvl5pPr marL="2286000" lvl="4" indent="-304800" rtl="0">
              <a:spcBef>
                <a:spcPts val="0"/>
              </a:spcBef>
              <a:spcAft>
                <a:spcPts val="0"/>
              </a:spcAft>
              <a:buSzPts val="1200"/>
              <a:buChar char="○"/>
              <a:defRPr/>
            </a:lvl5pPr>
            <a:lvl6pPr marL="2743200" lvl="5" indent="-304800" rtl="0">
              <a:spcBef>
                <a:spcPts val="0"/>
              </a:spcBef>
              <a:spcAft>
                <a:spcPts val="0"/>
              </a:spcAft>
              <a:buSzPts val="1200"/>
              <a:buChar char="■"/>
              <a:defRPr/>
            </a:lvl6pPr>
            <a:lvl7pPr marL="3200400" lvl="6" indent="-304800" rtl="0">
              <a:spcBef>
                <a:spcPts val="0"/>
              </a:spcBef>
              <a:spcAft>
                <a:spcPts val="0"/>
              </a:spcAft>
              <a:buSzPts val="1200"/>
              <a:buChar char="●"/>
              <a:defRPr/>
            </a:lvl7pPr>
            <a:lvl8pPr marL="3657600" lvl="7" indent="-304800" rtl="0">
              <a:spcBef>
                <a:spcPts val="0"/>
              </a:spcBef>
              <a:spcAft>
                <a:spcPts val="0"/>
              </a:spcAft>
              <a:buSzPts val="1200"/>
              <a:buChar char="○"/>
              <a:defRPr/>
            </a:lvl8pPr>
            <a:lvl9pPr marL="4114800" lvl="8" indent="-304800" rtl="0">
              <a:spcBef>
                <a:spcPts val="0"/>
              </a:spcBef>
              <a:spcAft>
                <a:spcPts val="0"/>
              </a:spcAft>
              <a:buSzPts val="1200"/>
              <a:buChar char="■"/>
              <a:defRPr/>
            </a:lvl9pPr>
          </a:lstStyle>
          <a:p>
            <a:endParaRPr/>
          </a:p>
        </p:txBody>
      </p:sp>
    </p:spTree>
    <p:extLst>
      <p:ext uri="{BB962C8B-B14F-4D97-AF65-F5344CB8AC3E}">
        <p14:creationId xmlns:p14="http://schemas.microsoft.com/office/powerpoint/2010/main" val="1286938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1"/>
        <p:cNvGrpSpPr/>
        <p:nvPr/>
      </p:nvGrpSpPr>
      <p:grpSpPr>
        <a:xfrm>
          <a:off x="0" y="0"/>
          <a:ext cx="0" cy="0"/>
          <a:chOff x="0" y="0"/>
          <a:chExt cx="0" cy="0"/>
        </a:xfrm>
      </p:grpSpPr>
      <p:sp>
        <p:nvSpPr>
          <p:cNvPr id="42" name="Google Shape;42;p14"/>
          <p:cNvSpPr txBox="1">
            <a:spLocks noGrp="1"/>
          </p:cNvSpPr>
          <p:nvPr>
            <p:ph type="ctrTitle"/>
          </p:nvPr>
        </p:nvSpPr>
        <p:spPr>
          <a:xfrm>
            <a:off x="2377500" y="933450"/>
            <a:ext cx="4389000" cy="278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6000">
                <a:latin typeface="Fira Sans Extra Condensed SemiBold"/>
                <a:ea typeface="Fira Sans Extra Condensed SemiBold"/>
                <a:cs typeface="Fira Sans Extra Condensed SemiBold"/>
                <a:sym typeface="Fira Sans Extra Condensed SemiBold"/>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3" name="Google Shape;43;p14"/>
          <p:cNvSpPr txBox="1">
            <a:spLocks noGrp="1"/>
          </p:cNvSpPr>
          <p:nvPr>
            <p:ph type="subTitle" idx="1"/>
          </p:nvPr>
        </p:nvSpPr>
        <p:spPr>
          <a:xfrm>
            <a:off x="2964975" y="3716625"/>
            <a:ext cx="3330600" cy="71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0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411475"/>
            <a:ext cx="822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17"/>
          <p:cNvSpPr txBox="1">
            <a:spLocks noGrp="1"/>
          </p:cNvSpPr>
          <p:nvPr>
            <p:ph type="body" idx="1"/>
          </p:nvPr>
        </p:nvSpPr>
        <p:spPr>
          <a:xfrm>
            <a:off x="523875" y="1152475"/>
            <a:ext cx="3999900" cy="34164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Niramit"/>
              <a:buChar char="●"/>
              <a:defRPr/>
            </a:lvl1pPr>
            <a:lvl2pPr marL="914400" lvl="1" indent="-330200" rtl="0">
              <a:spcBef>
                <a:spcPts val="0"/>
              </a:spcBef>
              <a:spcAft>
                <a:spcPts val="0"/>
              </a:spcAft>
              <a:buSzPts val="1600"/>
              <a:buFont typeface="Niramit"/>
              <a:buChar char="○"/>
              <a:defRPr sz="1200"/>
            </a:lvl2pPr>
            <a:lvl3pPr marL="1371600" lvl="2" indent="-330200" rtl="0">
              <a:spcBef>
                <a:spcPts val="0"/>
              </a:spcBef>
              <a:spcAft>
                <a:spcPts val="0"/>
              </a:spcAft>
              <a:buSzPts val="1600"/>
              <a:buFont typeface="Niramit"/>
              <a:buChar char="■"/>
              <a:defRPr sz="1200"/>
            </a:lvl3pPr>
            <a:lvl4pPr marL="1828800" lvl="3" indent="-330200" rtl="0">
              <a:spcBef>
                <a:spcPts val="0"/>
              </a:spcBef>
              <a:spcAft>
                <a:spcPts val="0"/>
              </a:spcAft>
              <a:buSzPts val="1600"/>
              <a:buFont typeface="Niramit"/>
              <a:buChar char="●"/>
              <a:defRPr sz="1200"/>
            </a:lvl4pPr>
            <a:lvl5pPr marL="2286000" lvl="4" indent="-330200" rtl="0">
              <a:spcBef>
                <a:spcPts val="0"/>
              </a:spcBef>
              <a:spcAft>
                <a:spcPts val="0"/>
              </a:spcAft>
              <a:buSzPts val="1600"/>
              <a:buFont typeface="Niramit"/>
              <a:buChar char="○"/>
              <a:defRPr sz="1200"/>
            </a:lvl5pPr>
            <a:lvl6pPr marL="2743200" lvl="5" indent="-330200" rtl="0">
              <a:spcBef>
                <a:spcPts val="0"/>
              </a:spcBef>
              <a:spcAft>
                <a:spcPts val="0"/>
              </a:spcAft>
              <a:buSzPts val="1600"/>
              <a:buFont typeface="Niramit"/>
              <a:buChar char="■"/>
              <a:defRPr sz="1200"/>
            </a:lvl6pPr>
            <a:lvl7pPr marL="3200400" lvl="6" indent="-330200" rtl="0">
              <a:spcBef>
                <a:spcPts val="0"/>
              </a:spcBef>
              <a:spcAft>
                <a:spcPts val="0"/>
              </a:spcAft>
              <a:buSzPts val="1600"/>
              <a:buFont typeface="Niramit"/>
              <a:buChar char="●"/>
              <a:defRPr sz="1200"/>
            </a:lvl7pPr>
            <a:lvl8pPr marL="3657600" lvl="7" indent="-330200" rtl="0">
              <a:spcBef>
                <a:spcPts val="0"/>
              </a:spcBef>
              <a:spcAft>
                <a:spcPts val="0"/>
              </a:spcAft>
              <a:buSzPts val="1600"/>
              <a:buFont typeface="Niramit"/>
              <a:buChar char="○"/>
              <a:defRPr sz="1200"/>
            </a:lvl8pPr>
            <a:lvl9pPr marL="4114800" lvl="8" indent="-330200" rtl="0">
              <a:spcBef>
                <a:spcPts val="0"/>
              </a:spcBef>
              <a:spcAft>
                <a:spcPts val="0"/>
              </a:spcAft>
              <a:buSzPts val="1600"/>
              <a:buFont typeface="Niramit"/>
              <a:buChar char="■"/>
              <a:defRPr sz="1200"/>
            </a:lvl9pPr>
          </a:lstStyle>
          <a:p>
            <a:endParaRPr/>
          </a:p>
        </p:txBody>
      </p:sp>
      <p:sp>
        <p:nvSpPr>
          <p:cNvPr id="52" name="Google Shape;52;p17"/>
          <p:cNvSpPr txBox="1">
            <a:spLocks noGrp="1"/>
          </p:cNvSpPr>
          <p:nvPr>
            <p:ph type="body" idx="2"/>
          </p:nvPr>
        </p:nvSpPr>
        <p:spPr>
          <a:xfrm>
            <a:off x="4638675" y="1152475"/>
            <a:ext cx="3999900" cy="34164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Niramit"/>
              <a:buChar char="●"/>
              <a:defRPr u="sng"/>
            </a:lvl1pPr>
            <a:lvl2pPr marL="914400" lvl="1" indent="-330200" rtl="0">
              <a:spcBef>
                <a:spcPts val="0"/>
              </a:spcBef>
              <a:spcAft>
                <a:spcPts val="0"/>
              </a:spcAft>
              <a:buSzPts val="1600"/>
              <a:buFont typeface="Niramit"/>
              <a:buChar char="○"/>
              <a:defRPr sz="1200"/>
            </a:lvl2pPr>
            <a:lvl3pPr marL="1371600" lvl="2" indent="-330200" rtl="0">
              <a:spcBef>
                <a:spcPts val="0"/>
              </a:spcBef>
              <a:spcAft>
                <a:spcPts val="0"/>
              </a:spcAft>
              <a:buSzPts val="1600"/>
              <a:buFont typeface="Niramit"/>
              <a:buChar char="■"/>
              <a:defRPr sz="1200"/>
            </a:lvl3pPr>
            <a:lvl4pPr marL="1828800" lvl="3" indent="-330200" rtl="0">
              <a:spcBef>
                <a:spcPts val="0"/>
              </a:spcBef>
              <a:spcAft>
                <a:spcPts val="0"/>
              </a:spcAft>
              <a:buSzPts val="1600"/>
              <a:buFont typeface="Niramit"/>
              <a:buChar char="●"/>
              <a:defRPr sz="1200"/>
            </a:lvl4pPr>
            <a:lvl5pPr marL="2286000" lvl="4" indent="-330200" rtl="0">
              <a:spcBef>
                <a:spcPts val="0"/>
              </a:spcBef>
              <a:spcAft>
                <a:spcPts val="0"/>
              </a:spcAft>
              <a:buSzPts val="1600"/>
              <a:buFont typeface="Niramit"/>
              <a:buChar char="○"/>
              <a:defRPr sz="1200"/>
            </a:lvl5pPr>
            <a:lvl6pPr marL="2743200" lvl="5" indent="-330200" rtl="0">
              <a:spcBef>
                <a:spcPts val="0"/>
              </a:spcBef>
              <a:spcAft>
                <a:spcPts val="0"/>
              </a:spcAft>
              <a:buSzPts val="1600"/>
              <a:buFont typeface="Niramit"/>
              <a:buChar char="■"/>
              <a:defRPr sz="1200"/>
            </a:lvl6pPr>
            <a:lvl7pPr marL="3200400" lvl="6" indent="-330200" rtl="0">
              <a:spcBef>
                <a:spcPts val="0"/>
              </a:spcBef>
              <a:spcAft>
                <a:spcPts val="0"/>
              </a:spcAft>
              <a:buSzPts val="1600"/>
              <a:buFont typeface="Niramit"/>
              <a:buChar char="●"/>
              <a:defRPr sz="1200"/>
            </a:lvl7pPr>
            <a:lvl8pPr marL="3657600" lvl="7" indent="-330200" rtl="0">
              <a:spcBef>
                <a:spcPts val="0"/>
              </a:spcBef>
              <a:spcAft>
                <a:spcPts val="0"/>
              </a:spcAft>
              <a:buSzPts val="1600"/>
              <a:buFont typeface="Niramit"/>
              <a:buChar char="○"/>
              <a:defRPr sz="1200"/>
            </a:lvl8pPr>
            <a:lvl9pPr marL="4114800" lvl="8" indent="-330200" rtl="0">
              <a:spcBef>
                <a:spcPts val="0"/>
              </a:spcBef>
              <a:spcAft>
                <a:spcPts val="0"/>
              </a:spcAft>
              <a:buSzPts val="1600"/>
              <a:buFont typeface="Niramit"/>
              <a:buChar char="■"/>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7" name="Google Shape;57;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62" name="Google Shape;62;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3" name="Google Shape;63;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a:lvl2pPr>
            <a:lvl3pPr marL="1371600" lvl="2" indent="-304800" rtl="0">
              <a:spcBef>
                <a:spcPts val="0"/>
              </a:spcBef>
              <a:spcAft>
                <a:spcPts val="0"/>
              </a:spcAft>
              <a:buSzPts val="1200"/>
              <a:buChar char="■"/>
              <a:defRPr/>
            </a:lvl3pPr>
            <a:lvl4pPr marL="1828800" lvl="3" indent="-304800" rtl="0">
              <a:spcBef>
                <a:spcPts val="0"/>
              </a:spcBef>
              <a:spcAft>
                <a:spcPts val="0"/>
              </a:spcAft>
              <a:buSzPts val="1200"/>
              <a:buChar char="●"/>
              <a:defRPr/>
            </a:lvl4pPr>
            <a:lvl5pPr marL="2286000" lvl="4" indent="-304800" rtl="0">
              <a:spcBef>
                <a:spcPts val="0"/>
              </a:spcBef>
              <a:spcAft>
                <a:spcPts val="0"/>
              </a:spcAft>
              <a:buSzPts val="1200"/>
              <a:buChar char="○"/>
              <a:defRPr/>
            </a:lvl5pPr>
            <a:lvl6pPr marL="2743200" lvl="5" indent="-304800" rtl="0">
              <a:spcBef>
                <a:spcPts val="0"/>
              </a:spcBef>
              <a:spcAft>
                <a:spcPts val="0"/>
              </a:spcAft>
              <a:buSzPts val="1200"/>
              <a:buChar char="■"/>
              <a:defRPr/>
            </a:lvl6pPr>
            <a:lvl7pPr marL="3200400" lvl="6" indent="-304800" rtl="0">
              <a:spcBef>
                <a:spcPts val="0"/>
              </a:spcBef>
              <a:spcAft>
                <a:spcPts val="0"/>
              </a:spcAft>
              <a:buSzPts val="1200"/>
              <a:buChar char="●"/>
              <a:defRPr/>
            </a:lvl7pPr>
            <a:lvl8pPr marL="3657600" lvl="7" indent="-304800" rtl="0">
              <a:spcBef>
                <a:spcPts val="0"/>
              </a:spcBef>
              <a:spcAft>
                <a:spcPts val="0"/>
              </a:spcAft>
              <a:buSzPts val="1200"/>
              <a:buChar char="○"/>
              <a:defRPr/>
            </a:lvl8pPr>
            <a:lvl9pPr marL="4114800" lvl="8" indent="-304800" rtl="0">
              <a:spcBef>
                <a:spcPts val="0"/>
              </a:spcBef>
              <a:spcAft>
                <a:spcPts val="0"/>
              </a:spcAft>
              <a:buSzPts val="12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4"/>
        <p:cNvGrpSpPr/>
        <p:nvPr/>
      </p:nvGrpSpPr>
      <p:grpSpPr>
        <a:xfrm>
          <a:off x="0" y="0"/>
          <a:ext cx="0" cy="0"/>
          <a:chOff x="0" y="0"/>
          <a:chExt cx="0" cy="0"/>
        </a:xfrm>
      </p:grpSpPr>
      <p:sp>
        <p:nvSpPr>
          <p:cNvPr id="65" name="Google Shape;65;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200"/>
              <a:buNone/>
              <a:defRPr/>
            </a:lvl1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8" name="Google Shape;68;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rtl="0">
              <a:spcBef>
                <a:spcPts val="0"/>
              </a:spcBef>
              <a:spcAft>
                <a:spcPts val="0"/>
              </a:spcAft>
              <a:buSzPts val="1200"/>
              <a:buChar char="●"/>
              <a:defRPr/>
            </a:lvl1pPr>
            <a:lvl2pPr marL="914400" lvl="1" indent="-304800" algn="ctr" rtl="0">
              <a:spcBef>
                <a:spcPts val="0"/>
              </a:spcBef>
              <a:spcAft>
                <a:spcPts val="0"/>
              </a:spcAft>
              <a:buSzPts val="1200"/>
              <a:buChar char="○"/>
              <a:defRPr/>
            </a:lvl2pPr>
            <a:lvl3pPr marL="1371600" lvl="2" indent="-304800" algn="ctr" rtl="0">
              <a:spcBef>
                <a:spcPts val="0"/>
              </a:spcBef>
              <a:spcAft>
                <a:spcPts val="0"/>
              </a:spcAft>
              <a:buSzPts val="1200"/>
              <a:buChar char="■"/>
              <a:defRPr/>
            </a:lvl3pPr>
            <a:lvl4pPr marL="1828800" lvl="3" indent="-304800" algn="ctr" rtl="0">
              <a:spcBef>
                <a:spcPts val="0"/>
              </a:spcBef>
              <a:spcAft>
                <a:spcPts val="0"/>
              </a:spcAft>
              <a:buSzPts val="1200"/>
              <a:buChar char="●"/>
              <a:defRPr/>
            </a:lvl4pPr>
            <a:lvl5pPr marL="2286000" lvl="4" indent="-304800" algn="ctr" rtl="0">
              <a:spcBef>
                <a:spcPts val="0"/>
              </a:spcBef>
              <a:spcAft>
                <a:spcPts val="0"/>
              </a:spcAft>
              <a:buSzPts val="1200"/>
              <a:buChar char="○"/>
              <a:defRPr/>
            </a:lvl5pPr>
            <a:lvl6pPr marL="2743200" lvl="5" indent="-304800" algn="ctr" rtl="0">
              <a:spcBef>
                <a:spcPts val="0"/>
              </a:spcBef>
              <a:spcAft>
                <a:spcPts val="0"/>
              </a:spcAft>
              <a:buSzPts val="1200"/>
              <a:buChar char="■"/>
              <a:defRPr/>
            </a:lvl6pPr>
            <a:lvl7pPr marL="3200400" lvl="6" indent="-304800" algn="ctr" rtl="0">
              <a:spcBef>
                <a:spcPts val="0"/>
              </a:spcBef>
              <a:spcAft>
                <a:spcPts val="0"/>
              </a:spcAft>
              <a:buSzPts val="1200"/>
              <a:buChar char="●"/>
              <a:defRPr/>
            </a:lvl7pPr>
            <a:lvl8pPr marL="3657600" lvl="7" indent="-304800" algn="ctr" rtl="0">
              <a:spcBef>
                <a:spcPts val="0"/>
              </a:spcBef>
              <a:spcAft>
                <a:spcPts val="0"/>
              </a:spcAft>
              <a:buSzPts val="1200"/>
              <a:buChar char="○"/>
              <a:defRPr/>
            </a:lvl8pPr>
            <a:lvl9pPr marL="4114800" lvl="8" indent="-304800" algn="ctr" rtl="0">
              <a:spcBef>
                <a:spcPts val="0"/>
              </a:spcBef>
              <a:spcAft>
                <a:spcPts val="0"/>
              </a:spcAft>
              <a:buSzPts val="12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1475"/>
            <a:ext cx="8229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2pPr>
            <a:lvl3pPr lvl="2">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3pPr>
            <a:lvl4pPr lvl="3">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4pPr>
            <a:lvl5pPr lvl="4">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5pPr>
            <a:lvl6pPr lvl="5">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6pPr>
            <a:lvl7pPr lvl="6">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7pPr>
            <a:lvl8pPr lvl="7">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8pPr>
            <a:lvl9pPr lvl="8">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9pPr>
          </a:lstStyle>
          <a:p>
            <a:endParaRPr/>
          </a:p>
        </p:txBody>
      </p:sp>
      <p:sp>
        <p:nvSpPr>
          <p:cNvPr id="7" name="Google Shape;7;p1"/>
          <p:cNvSpPr txBox="1">
            <a:spLocks noGrp="1"/>
          </p:cNvSpPr>
          <p:nvPr>
            <p:ph type="body" idx="1"/>
          </p:nvPr>
        </p:nvSpPr>
        <p:spPr>
          <a:xfrm>
            <a:off x="457200" y="1152475"/>
            <a:ext cx="8229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7" r:id="rId8"/>
    <p:sldLayoutId id="2147483674"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8"/>
        <p:cNvGrpSpPr/>
        <p:nvPr/>
      </p:nvGrpSpPr>
      <p:grpSpPr>
        <a:xfrm>
          <a:off x="0" y="0"/>
          <a:ext cx="0" cy="0"/>
          <a:chOff x="0" y="0"/>
          <a:chExt cx="0" cy="0"/>
        </a:xfrm>
      </p:grpSpPr>
      <p:sp>
        <p:nvSpPr>
          <p:cNvPr id="39" name="Google Shape;39;p13"/>
          <p:cNvSpPr txBox="1">
            <a:spLocks noGrp="1"/>
          </p:cNvSpPr>
          <p:nvPr>
            <p:ph type="title"/>
          </p:nvPr>
        </p:nvSpPr>
        <p:spPr>
          <a:xfrm>
            <a:off x="457200" y="411475"/>
            <a:ext cx="8229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2pPr>
            <a:lvl3pPr lvl="2"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3pPr>
            <a:lvl4pPr lvl="3"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4pPr>
            <a:lvl5pPr lvl="4"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5pPr>
            <a:lvl6pPr lvl="5"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6pPr>
            <a:lvl7pPr lvl="6"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7pPr>
            <a:lvl8pPr lvl="7"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8pPr>
            <a:lvl9pPr lvl="8" rtl="0">
              <a:spcBef>
                <a:spcPts val="0"/>
              </a:spcBef>
              <a:spcAft>
                <a:spcPts val="0"/>
              </a:spcAft>
              <a:buClr>
                <a:schemeClr val="dk1"/>
              </a:buClr>
              <a:buSzPts val="2800"/>
              <a:buFont typeface="Fira Sans Condensed SemiBold"/>
              <a:buNone/>
              <a:defRPr sz="2800">
                <a:solidFill>
                  <a:schemeClr val="dk1"/>
                </a:solidFill>
                <a:latin typeface="Fira Sans Condensed SemiBold"/>
                <a:ea typeface="Fira Sans Condensed SemiBold"/>
                <a:cs typeface="Fira Sans Condensed SemiBold"/>
                <a:sym typeface="Fira Sans Condensed SemiBold"/>
              </a:defRPr>
            </a:lvl9pPr>
          </a:lstStyle>
          <a:p>
            <a:endParaRPr/>
          </a:p>
        </p:txBody>
      </p:sp>
      <p:sp>
        <p:nvSpPr>
          <p:cNvPr id="40" name="Google Shape;40;p13"/>
          <p:cNvSpPr txBox="1">
            <a:spLocks noGrp="1"/>
          </p:cNvSpPr>
          <p:nvPr>
            <p:ph type="body" idx="1"/>
          </p:nvPr>
        </p:nvSpPr>
        <p:spPr>
          <a:xfrm>
            <a:off x="457200" y="1152475"/>
            <a:ext cx="8229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rtl="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YutGQInX_PDP6dH7l1UAnegDP2kfsOz_ZbMyB8jdLC4/copy#gid=861821873"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4.xml"/><Relationship Id="rId5" Type="http://schemas.openxmlformats.org/officeDocument/2006/relationships/image" Target="../media/image18.tmp"/><Relationship Id="rId4" Type="http://schemas.openxmlformats.org/officeDocument/2006/relationships/image" Target="../media/image17.tm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27"/>
          <p:cNvSpPr/>
          <p:nvPr/>
        </p:nvSpPr>
        <p:spPr>
          <a:xfrm rot="-5400000">
            <a:off x="543630" y="1070070"/>
            <a:ext cx="3371250" cy="3003361"/>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7"/>
          <p:cNvSpPr txBox="1">
            <a:spLocks noGrp="1"/>
          </p:cNvSpPr>
          <p:nvPr>
            <p:ph type="ctrTitle"/>
          </p:nvPr>
        </p:nvSpPr>
        <p:spPr>
          <a:xfrm>
            <a:off x="4024303" y="1593307"/>
            <a:ext cx="4809010" cy="16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Post-weaning diarrhea I statistics </a:t>
            </a:r>
          </a:p>
        </p:txBody>
      </p:sp>
      <p:sp>
        <p:nvSpPr>
          <p:cNvPr id="81" name="Google Shape;81;p27"/>
          <p:cNvSpPr txBox="1">
            <a:spLocks noGrp="1"/>
          </p:cNvSpPr>
          <p:nvPr>
            <p:ph type="subTitle" idx="1"/>
          </p:nvPr>
        </p:nvSpPr>
        <p:spPr>
          <a:xfrm>
            <a:off x="4091150" y="3225688"/>
            <a:ext cx="4389000" cy="35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By: </a:t>
            </a:r>
          </a:p>
          <a:p>
            <a:pPr marL="0" lvl="0" indent="0" algn="l" rtl="0">
              <a:spcBef>
                <a:spcPts val="0"/>
              </a:spcBef>
              <a:spcAft>
                <a:spcPts val="0"/>
              </a:spcAft>
              <a:buNone/>
            </a:pPr>
            <a:r>
              <a:rPr lang="en-US" dirty="0"/>
              <a:t>Malak Essam</a:t>
            </a:r>
          </a:p>
          <a:p>
            <a:pPr marL="0" lvl="0" indent="0" algn="l" rtl="0">
              <a:spcBef>
                <a:spcPts val="0"/>
              </a:spcBef>
              <a:spcAft>
                <a:spcPts val="0"/>
              </a:spcAft>
              <a:buNone/>
            </a:pPr>
            <a:r>
              <a:rPr lang="en-US" dirty="0"/>
              <a:t>Farah Amr</a:t>
            </a:r>
          </a:p>
          <a:p>
            <a:pPr marL="0" lvl="0" indent="0" algn="l" rtl="0">
              <a:spcBef>
                <a:spcPts val="0"/>
              </a:spcBef>
              <a:spcAft>
                <a:spcPts val="0"/>
              </a:spcAft>
              <a:buNone/>
            </a:pPr>
            <a:r>
              <a:rPr lang="en-US" dirty="0"/>
              <a:t>Youssef Ismail</a:t>
            </a:r>
          </a:p>
          <a:p>
            <a:pPr marL="0" lvl="0" indent="0" algn="l" rtl="0">
              <a:spcBef>
                <a:spcPts val="0"/>
              </a:spcBef>
              <a:spcAft>
                <a:spcPts val="0"/>
              </a:spcAft>
              <a:buNone/>
            </a:pPr>
            <a:r>
              <a:rPr lang="en-US" dirty="0" err="1"/>
              <a:t>Mazen</a:t>
            </a:r>
            <a:r>
              <a:rPr lang="en-US" dirty="0"/>
              <a:t> Mohamed</a:t>
            </a:r>
            <a:endParaRPr dirty="0"/>
          </a:p>
        </p:txBody>
      </p:sp>
      <p:grpSp>
        <p:nvGrpSpPr>
          <p:cNvPr id="82" name="Google Shape;82;p27"/>
          <p:cNvGrpSpPr/>
          <p:nvPr/>
        </p:nvGrpSpPr>
        <p:grpSpPr>
          <a:xfrm>
            <a:off x="1039654" y="2194460"/>
            <a:ext cx="665259" cy="573421"/>
            <a:chOff x="2248825" y="1392050"/>
            <a:chExt cx="380300" cy="327800"/>
          </a:xfrm>
        </p:grpSpPr>
        <p:sp>
          <p:nvSpPr>
            <p:cNvPr id="83" name="Google Shape;83;p27"/>
            <p:cNvSpPr/>
            <p:nvPr/>
          </p:nvSpPr>
          <p:spPr>
            <a:xfrm>
              <a:off x="2248825" y="1392050"/>
              <a:ext cx="380300" cy="327800"/>
            </a:xfrm>
            <a:custGeom>
              <a:avLst/>
              <a:gdLst/>
              <a:ahLst/>
              <a:cxnLst/>
              <a:rect l="l" t="t" r="r" b="b"/>
              <a:pathLst>
                <a:path w="15212" h="13112" extrusionOk="0">
                  <a:moveTo>
                    <a:pt x="13375" y="6004"/>
                  </a:moveTo>
                  <a:cubicBezTo>
                    <a:pt x="13491" y="6004"/>
                    <a:pt x="13605" y="6014"/>
                    <a:pt x="13705" y="6047"/>
                  </a:cubicBezTo>
                  <a:cubicBezTo>
                    <a:pt x="14270" y="6257"/>
                    <a:pt x="14396" y="6822"/>
                    <a:pt x="14480" y="7449"/>
                  </a:cubicBezTo>
                  <a:cubicBezTo>
                    <a:pt x="14647" y="8809"/>
                    <a:pt x="14521" y="10211"/>
                    <a:pt x="14459" y="11571"/>
                  </a:cubicBezTo>
                  <a:cubicBezTo>
                    <a:pt x="13585" y="11606"/>
                    <a:pt x="12711" y="11831"/>
                    <a:pt x="11850" y="11831"/>
                  </a:cubicBezTo>
                  <a:cubicBezTo>
                    <a:pt x="11680" y="11831"/>
                    <a:pt x="11510" y="11822"/>
                    <a:pt x="11341" y="11801"/>
                  </a:cubicBezTo>
                  <a:cubicBezTo>
                    <a:pt x="11320" y="11697"/>
                    <a:pt x="11236" y="11592"/>
                    <a:pt x="11132" y="11571"/>
                  </a:cubicBezTo>
                  <a:cubicBezTo>
                    <a:pt x="11216" y="10839"/>
                    <a:pt x="11341" y="10211"/>
                    <a:pt x="11320" y="9395"/>
                  </a:cubicBezTo>
                  <a:cubicBezTo>
                    <a:pt x="11257" y="8537"/>
                    <a:pt x="11236" y="7679"/>
                    <a:pt x="11153" y="6801"/>
                  </a:cubicBezTo>
                  <a:cubicBezTo>
                    <a:pt x="11174" y="6717"/>
                    <a:pt x="11153" y="6654"/>
                    <a:pt x="11132" y="6591"/>
                  </a:cubicBezTo>
                  <a:cubicBezTo>
                    <a:pt x="11111" y="6403"/>
                    <a:pt x="11111" y="6194"/>
                    <a:pt x="11090" y="6026"/>
                  </a:cubicBezTo>
                  <a:lnTo>
                    <a:pt x="12868" y="6026"/>
                  </a:lnTo>
                  <a:cubicBezTo>
                    <a:pt x="13019" y="6026"/>
                    <a:pt x="13200" y="6004"/>
                    <a:pt x="13375" y="6004"/>
                  </a:cubicBezTo>
                  <a:close/>
                  <a:moveTo>
                    <a:pt x="4892" y="696"/>
                  </a:moveTo>
                  <a:cubicBezTo>
                    <a:pt x="4947" y="696"/>
                    <a:pt x="5005" y="708"/>
                    <a:pt x="5064" y="733"/>
                  </a:cubicBezTo>
                  <a:cubicBezTo>
                    <a:pt x="5503" y="942"/>
                    <a:pt x="5378" y="1905"/>
                    <a:pt x="5378" y="2302"/>
                  </a:cubicBezTo>
                  <a:cubicBezTo>
                    <a:pt x="5315" y="3558"/>
                    <a:pt x="5734" y="4834"/>
                    <a:pt x="6633" y="5734"/>
                  </a:cubicBezTo>
                  <a:cubicBezTo>
                    <a:pt x="6633" y="5775"/>
                    <a:pt x="6675" y="5859"/>
                    <a:pt x="6738" y="5922"/>
                  </a:cubicBezTo>
                  <a:cubicBezTo>
                    <a:pt x="7805" y="6863"/>
                    <a:pt x="9081" y="7031"/>
                    <a:pt x="10441" y="7073"/>
                  </a:cubicBezTo>
                  <a:cubicBezTo>
                    <a:pt x="10504" y="7847"/>
                    <a:pt x="10525" y="8642"/>
                    <a:pt x="10588" y="9416"/>
                  </a:cubicBezTo>
                  <a:cubicBezTo>
                    <a:pt x="10608" y="9702"/>
                    <a:pt x="10589" y="9948"/>
                    <a:pt x="10549" y="10212"/>
                  </a:cubicBezTo>
                  <a:lnTo>
                    <a:pt x="10549" y="10212"/>
                  </a:lnTo>
                  <a:cubicBezTo>
                    <a:pt x="8510" y="10347"/>
                    <a:pt x="7339" y="12116"/>
                    <a:pt x="5399" y="12492"/>
                  </a:cubicBezTo>
                  <a:cubicBezTo>
                    <a:pt x="5196" y="12531"/>
                    <a:pt x="4989" y="12547"/>
                    <a:pt x="4781" y="12547"/>
                  </a:cubicBezTo>
                  <a:cubicBezTo>
                    <a:pt x="4433" y="12547"/>
                    <a:pt x="4079" y="12502"/>
                    <a:pt x="3725" y="12450"/>
                  </a:cubicBezTo>
                  <a:cubicBezTo>
                    <a:pt x="3285" y="12408"/>
                    <a:pt x="1381" y="12178"/>
                    <a:pt x="2218" y="11446"/>
                  </a:cubicBezTo>
                  <a:lnTo>
                    <a:pt x="2239" y="11404"/>
                  </a:lnTo>
                  <a:cubicBezTo>
                    <a:pt x="2536" y="11285"/>
                    <a:pt x="2384" y="10813"/>
                    <a:pt x="2032" y="10813"/>
                  </a:cubicBezTo>
                  <a:cubicBezTo>
                    <a:pt x="2011" y="10813"/>
                    <a:pt x="1990" y="10814"/>
                    <a:pt x="1967" y="10818"/>
                  </a:cubicBezTo>
                  <a:cubicBezTo>
                    <a:pt x="1938" y="10823"/>
                    <a:pt x="1909" y="10825"/>
                    <a:pt x="1880" y="10825"/>
                  </a:cubicBezTo>
                  <a:cubicBezTo>
                    <a:pt x="1271" y="10825"/>
                    <a:pt x="799" y="9816"/>
                    <a:pt x="1319" y="9416"/>
                  </a:cubicBezTo>
                  <a:lnTo>
                    <a:pt x="1486" y="9416"/>
                  </a:lnTo>
                  <a:cubicBezTo>
                    <a:pt x="1898" y="9396"/>
                    <a:pt x="1904" y="8767"/>
                    <a:pt x="1506" y="8767"/>
                  </a:cubicBezTo>
                  <a:cubicBezTo>
                    <a:pt x="1499" y="8767"/>
                    <a:pt x="1493" y="8767"/>
                    <a:pt x="1486" y="8767"/>
                  </a:cubicBezTo>
                  <a:cubicBezTo>
                    <a:pt x="1471" y="8768"/>
                    <a:pt x="1455" y="8769"/>
                    <a:pt x="1440" y="8769"/>
                  </a:cubicBezTo>
                  <a:cubicBezTo>
                    <a:pt x="1065" y="8769"/>
                    <a:pt x="772" y="8522"/>
                    <a:pt x="712" y="8140"/>
                  </a:cubicBezTo>
                  <a:cubicBezTo>
                    <a:pt x="676" y="7764"/>
                    <a:pt x="915" y="7603"/>
                    <a:pt x="1220" y="7603"/>
                  </a:cubicBezTo>
                  <a:cubicBezTo>
                    <a:pt x="1273" y="7603"/>
                    <a:pt x="1327" y="7608"/>
                    <a:pt x="1381" y="7617"/>
                  </a:cubicBezTo>
                  <a:cubicBezTo>
                    <a:pt x="1397" y="7619"/>
                    <a:pt x="1411" y="7620"/>
                    <a:pt x="1425" y="7620"/>
                  </a:cubicBezTo>
                  <a:cubicBezTo>
                    <a:pt x="1549" y="7620"/>
                    <a:pt x="1635" y="7541"/>
                    <a:pt x="1653" y="7428"/>
                  </a:cubicBezTo>
                  <a:cubicBezTo>
                    <a:pt x="1800" y="7324"/>
                    <a:pt x="1842" y="7115"/>
                    <a:pt x="1695" y="6968"/>
                  </a:cubicBezTo>
                  <a:cubicBezTo>
                    <a:pt x="1486" y="6717"/>
                    <a:pt x="1214" y="6508"/>
                    <a:pt x="1089" y="6257"/>
                  </a:cubicBezTo>
                  <a:cubicBezTo>
                    <a:pt x="858" y="5838"/>
                    <a:pt x="1381" y="5524"/>
                    <a:pt x="1737" y="5420"/>
                  </a:cubicBezTo>
                  <a:cubicBezTo>
                    <a:pt x="1988" y="5347"/>
                    <a:pt x="2243" y="5333"/>
                    <a:pt x="2498" y="5333"/>
                  </a:cubicBezTo>
                  <a:cubicBezTo>
                    <a:pt x="2663" y="5333"/>
                    <a:pt x="2828" y="5339"/>
                    <a:pt x="2991" y="5339"/>
                  </a:cubicBezTo>
                  <a:cubicBezTo>
                    <a:pt x="3375" y="5339"/>
                    <a:pt x="3750" y="5306"/>
                    <a:pt x="4102" y="5085"/>
                  </a:cubicBezTo>
                  <a:lnTo>
                    <a:pt x="4122" y="5064"/>
                  </a:lnTo>
                  <a:cubicBezTo>
                    <a:pt x="4227" y="5001"/>
                    <a:pt x="4311" y="4876"/>
                    <a:pt x="4227" y="4708"/>
                  </a:cubicBezTo>
                  <a:cubicBezTo>
                    <a:pt x="3850" y="3788"/>
                    <a:pt x="3641" y="2700"/>
                    <a:pt x="3997" y="1758"/>
                  </a:cubicBezTo>
                  <a:cubicBezTo>
                    <a:pt x="4109" y="1460"/>
                    <a:pt x="4437" y="696"/>
                    <a:pt x="4892" y="696"/>
                  </a:cubicBezTo>
                  <a:close/>
                  <a:moveTo>
                    <a:pt x="4918" y="0"/>
                  </a:moveTo>
                  <a:cubicBezTo>
                    <a:pt x="4143" y="0"/>
                    <a:pt x="3662" y="879"/>
                    <a:pt x="3411" y="1465"/>
                  </a:cubicBezTo>
                  <a:cubicBezTo>
                    <a:pt x="3055" y="2469"/>
                    <a:pt x="3181" y="3620"/>
                    <a:pt x="3516" y="4604"/>
                  </a:cubicBezTo>
                  <a:cubicBezTo>
                    <a:pt x="3323" y="4671"/>
                    <a:pt x="3114" y="4687"/>
                    <a:pt x="2899" y="4687"/>
                  </a:cubicBezTo>
                  <a:cubicBezTo>
                    <a:pt x="2683" y="4687"/>
                    <a:pt x="2462" y="4671"/>
                    <a:pt x="2245" y="4671"/>
                  </a:cubicBezTo>
                  <a:cubicBezTo>
                    <a:pt x="2137" y="4671"/>
                    <a:pt x="2030" y="4675"/>
                    <a:pt x="1925" y="4687"/>
                  </a:cubicBezTo>
                  <a:cubicBezTo>
                    <a:pt x="1402" y="4729"/>
                    <a:pt x="858" y="5001"/>
                    <a:pt x="544" y="5420"/>
                  </a:cubicBezTo>
                  <a:cubicBezTo>
                    <a:pt x="105" y="5985"/>
                    <a:pt x="440" y="6508"/>
                    <a:pt x="837" y="6968"/>
                  </a:cubicBezTo>
                  <a:cubicBezTo>
                    <a:pt x="335" y="7094"/>
                    <a:pt x="0" y="7533"/>
                    <a:pt x="42" y="8119"/>
                  </a:cubicBezTo>
                  <a:cubicBezTo>
                    <a:pt x="63" y="8558"/>
                    <a:pt x="314" y="8935"/>
                    <a:pt x="649" y="9165"/>
                  </a:cubicBezTo>
                  <a:cubicBezTo>
                    <a:pt x="419" y="9521"/>
                    <a:pt x="419" y="10023"/>
                    <a:pt x="544" y="10441"/>
                  </a:cubicBezTo>
                  <a:cubicBezTo>
                    <a:pt x="691" y="10881"/>
                    <a:pt x="984" y="11174"/>
                    <a:pt x="1361" y="11299"/>
                  </a:cubicBezTo>
                  <a:cubicBezTo>
                    <a:pt x="628" y="12408"/>
                    <a:pt x="2616" y="12931"/>
                    <a:pt x="3578" y="13036"/>
                  </a:cubicBezTo>
                  <a:cubicBezTo>
                    <a:pt x="3957" y="13079"/>
                    <a:pt x="4325" y="13111"/>
                    <a:pt x="4686" y="13111"/>
                  </a:cubicBezTo>
                  <a:cubicBezTo>
                    <a:pt x="5204" y="13111"/>
                    <a:pt x="5710" y="13045"/>
                    <a:pt x="6215" y="12848"/>
                  </a:cubicBezTo>
                  <a:cubicBezTo>
                    <a:pt x="7742" y="12241"/>
                    <a:pt x="8809" y="10923"/>
                    <a:pt x="10504" y="10818"/>
                  </a:cubicBezTo>
                  <a:lnTo>
                    <a:pt x="10504" y="10818"/>
                  </a:lnTo>
                  <a:cubicBezTo>
                    <a:pt x="10462" y="11195"/>
                    <a:pt x="10400" y="11592"/>
                    <a:pt x="10379" y="12011"/>
                  </a:cubicBezTo>
                  <a:cubicBezTo>
                    <a:pt x="10359" y="12222"/>
                    <a:pt x="10551" y="12327"/>
                    <a:pt x="10728" y="12327"/>
                  </a:cubicBezTo>
                  <a:cubicBezTo>
                    <a:pt x="10744" y="12327"/>
                    <a:pt x="10760" y="12326"/>
                    <a:pt x="10776" y="12325"/>
                  </a:cubicBezTo>
                  <a:cubicBezTo>
                    <a:pt x="11113" y="12410"/>
                    <a:pt x="11448" y="12442"/>
                    <a:pt x="11782" y="12442"/>
                  </a:cubicBezTo>
                  <a:cubicBezTo>
                    <a:pt x="12758" y="12442"/>
                    <a:pt x="13728" y="12167"/>
                    <a:pt x="14710" y="12136"/>
                  </a:cubicBezTo>
                  <a:cubicBezTo>
                    <a:pt x="14898" y="12136"/>
                    <a:pt x="15024" y="11990"/>
                    <a:pt x="15024" y="11822"/>
                  </a:cubicBezTo>
                  <a:cubicBezTo>
                    <a:pt x="15128" y="10672"/>
                    <a:pt x="15212" y="9500"/>
                    <a:pt x="15170" y="8307"/>
                  </a:cubicBezTo>
                  <a:cubicBezTo>
                    <a:pt x="15128" y="7596"/>
                    <a:pt x="15170" y="6508"/>
                    <a:pt x="14752" y="5901"/>
                  </a:cubicBezTo>
                  <a:cubicBezTo>
                    <a:pt x="14362" y="5344"/>
                    <a:pt x="13517" y="5214"/>
                    <a:pt x="12653" y="5214"/>
                  </a:cubicBezTo>
                  <a:cubicBezTo>
                    <a:pt x="11893" y="5214"/>
                    <a:pt x="11119" y="5315"/>
                    <a:pt x="10630" y="5315"/>
                  </a:cubicBezTo>
                  <a:cubicBezTo>
                    <a:pt x="10316" y="5315"/>
                    <a:pt x="10253" y="5692"/>
                    <a:pt x="10400" y="5859"/>
                  </a:cubicBezTo>
                  <a:lnTo>
                    <a:pt x="10400" y="5922"/>
                  </a:lnTo>
                  <a:cubicBezTo>
                    <a:pt x="10420" y="6068"/>
                    <a:pt x="10420" y="6215"/>
                    <a:pt x="10420" y="6361"/>
                  </a:cubicBezTo>
                  <a:cubicBezTo>
                    <a:pt x="9353" y="6340"/>
                    <a:pt x="8328" y="6236"/>
                    <a:pt x="7449" y="5608"/>
                  </a:cubicBezTo>
                  <a:cubicBezTo>
                    <a:pt x="7428" y="5545"/>
                    <a:pt x="7387" y="5503"/>
                    <a:pt x="7345" y="5462"/>
                  </a:cubicBezTo>
                  <a:cubicBezTo>
                    <a:pt x="6717" y="5001"/>
                    <a:pt x="6194" y="4039"/>
                    <a:pt x="6068" y="3265"/>
                  </a:cubicBezTo>
                  <a:cubicBezTo>
                    <a:pt x="5964" y="2700"/>
                    <a:pt x="6089" y="2114"/>
                    <a:pt x="6068" y="1549"/>
                  </a:cubicBezTo>
                  <a:cubicBezTo>
                    <a:pt x="6026" y="837"/>
                    <a:pt x="5754" y="21"/>
                    <a:pt x="4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7"/>
            <p:cNvSpPr/>
            <p:nvPr/>
          </p:nvSpPr>
          <p:spPr>
            <a:xfrm>
              <a:off x="2553275" y="1631175"/>
              <a:ext cx="41850" cy="41275"/>
            </a:xfrm>
            <a:custGeom>
              <a:avLst/>
              <a:gdLst/>
              <a:ahLst/>
              <a:cxnLst/>
              <a:rect l="l" t="t" r="r" b="b"/>
              <a:pathLst>
                <a:path w="1674" h="1651" extrusionOk="0">
                  <a:moveTo>
                    <a:pt x="963" y="667"/>
                  </a:moveTo>
                  <a:cubicBezTo>
                    <a:pt x="963" y="688"/>
                    <a:pt x="983" y="688"/>
                    <a:pt x="983" y="730"/>
                  </a:cubicBezTo>
                  <a:cubicBezTo>
                    <a:pt x="983" y="751"/>
                    <a:pt x="1025" y="793"/>
                    <a:pt x="1025" y="835"/>
                  </a:cubicBezTo>
                  <a:lnTo>
                    <a:pt x="1025" y="876"/>
                  </a:lnTo>
                  <a:lnTo>
                    <a:pt x="1025" y="1002"/>
                  </a:lnTo>
                  <a:cubicBezTo>
                    <a:pt x="1025" y="995"/>
                    <a:pt x="1023" y="993"/>
                    <a:pt x="1020" y="993"/>
                  </a:cubicBezTo>
                  <a:cubicBezTo>
                    <a:pt x="1014" y="993"/>
                    <a:pt x="1004" y="1002"/>
                    <a:pt x="1004" y="1002"/>
                  </a:cubicBezTo>
                  <a:lnTo>
                    <a:pt x="921" y="1002"/>
                  </a:lnTo>
                  <a:cubicBezTo>
                    <a:pt x="900" y="1002"/>
                    <a:pt x="858" y="1002"/>
                    <a:pt x="837" y="981"/>
                  </a:cubicBezTo>
                  <a:lnTo>
                    <a:pt x="816" y="981"/>
                  </a:lnTo>
                  <a:lnTo>
                    <a:pt x="774" y="960"/>
                  </a:lnTo>
                  <a:cubicBezTo>
                    <a:pt x="774" y="960"/>
                    <a:pt x="774" y="939"/>
                    <a:pt x="753" y="939"/>
                  </a:cubicBezTo>
                  <a:lnTo>
                    <a:pt x="753" y="897"/>
                  </a:lnTo>
                  <a:lnTo>
                    <a:pt x="753" y="876"/>
                  </a:lnTo>
                  <a:lnTo>
                    <a:pt x="753" y="855"/>
                  </a:lnTo>
                  <a:lnTo>
                    <a:pt x="774" y="793"/>
                  </a:lnTo>
                  <a:cubicBezTo>
                    <a:pt x="837" y="751"/>
                    <a:pt x="858" y="730"/>
                    <a:pt x="942" y="688"/>
                  </a:cubicBezTo>
                  <a:lnTo>
                    <a:pt x="963" y="667"/>
                  </a:lnTo>
                  <a:close/>
                  <a:moveTo>
                    <a:pt x="949" y="1"/>
                  </a:moveTo>
                  <a:cubicBezTo>
                    <a:pt x="795" y="1"/>
                    <a:pt x="644" y="52"/>
                    <a:pt x="502" y="123"/>
                  </a:cubicBezTo>
                  <a:cubicBezTo>
                    <a:pt x="398" y="165"/>
                    <a:pt x="377" y="228"/>
                    <a:pt x="335" y="311"/>
                  </a:cubicBezTo>
                  <a:cubicBezTo>
                    <a:pt x="126" y="521"/>
                    <a:pt x="0" y="835"/>
                    <a:pt x="126" y="1127"/>
                  </a:cubicBezTo>
                  <a:cubicBezTo>
                    <a:pt x="265" y="1476"/>
                    <a:pt x="593" y="1651"/>
                    <a:pt x="941" y="1651"/>
                  </a:cubicBezTo>
                  <a:cubicBezTo>
                    <a:pt x="1011" y="1651"/>
                    <a:pt x="1081" y="1644"/>
                    <a:pt x="1151" y="1630"/>
                  </a:cubicBezTo>
                  <a:cubicBezTo>
                    <a:pt x="1255" y="1609"/>
                    <a:pt x="1381" y="1546"/>
                    <a:pt x="1465" y="1504"/>
                  </a:cubicBezTo>
                  <a:cubicBezTo>
                    <a:pt x="1632" y="1399"/>
                    <a:pt x="1632" y="1274"/>
                    <a:pt x="1653" y="1107"/>
                  </a:cubicBezTo>
                  <a:cubicBezTo>
                    <a:pt x="1674" y="897"/>
                    <a:pt x="1653" y="688"/>
                    <a:pt x="1569" y="500"/>
                  </a:cubicBezTo>
                  <a:cubicBezTo>
                    <a:pt x="1527" y="270"/>
                    <a:pt x="1381" y="123"/>
                    <a:pt x="1172" y="39"/>
                  </a:cubicBezTo>
                  <a:cubicBezTo>
                    <a:pt x="1097" y="12"/>
                    <a:pt x="1023" y="1"/>
                    <a:pt x="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7"/>
          <p:cNvGrpSpPr/>
          <p:nvPr/>
        </p:nvGrpSpPr>
        <p:grpSpPr>
          <a:xfrm>
            <a:off x="1755573" y="1433325"/>
            <a:ext cx="1022529" cy="1026061"/>
            <a:chOff x="7672398" y="3615325"/>
            <a:chExt cx="1022529" cy="1026061"/>
          </a:xfrm>
        </p:grpSpPr>
        <p:sp>
          <p:nvSpPr>
            <p:cNvPr id="86" name="Google Shape;86;p27"/>
            <p:cNvSpPr/>
            <p:nvPr/>
          </p:nvSpPr>
          <p:spPr>
            <a:xfrm>
              <a:off x="7672398" y="3618986"/>
              <a:ext cx="1022400" cy="1022400"/>
            </a:xfrm>
            <a:prstGeom prst="pie">
              <a:avLst>
                <a:gd name="adj1" fmla="val 16304128"/>
                <a:gd name="adj2" fmla="val 542441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7"/>
            <p:cNvSpPr/>
            <p:nvPr/>
          </p:nvSpPr>
          <p:spPr>
            <a:xfrm>
              <a:off x="7672398" y="3618986"/>
              <a:ext cx="1022400" cy="1022400"/>
            </a:xfrm>
            <a:prstGeom prst="pie">
              <a:avLst>
                <a:gd name="adj1" fmla="val 16304128"/>
                <a:gd name="adj2" fmla="val 35223"/>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7"/>
            <p:cNvSpPr/>
            <p:nvPr/>
          </p:nvSpPr>
          <p:spPr>
            <a:xfrm>
              <a:off x="7700729" y="3615325"/>
              <a:ext cx="994198" cy="1022518"/>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noFill/>
            <a:ln w="19050" cap="flat" cmpd="sng">
              <a:solidFill>
                <a:schemeClr val="dk1"/>
              </a:solidFill>
              <a:prstDash val="solid"/>
              <a:round/>
              <a:headEnd type="none" w="med" len="med"/>
              <a:tailEnd type="none" w="med" len="med"/>
            </a:ln>
          </p:spPr>
        </p:sp>
      </p:grpSp>
      <p:grpSp>
        <p:nvGrpSpPr>
          <p:cNvPr id="89" name="Google Shape;89;p27"/>
          <p:cNvGrpSpPr/>
          <p:nvPr/>
        </p:nvGrpSpPr>
        <p:grpSpPr>
          <a:xfrm>
            <a:off x="3047886" y="3287299"/>
            <a:ext cx="573183" cy="763441"/>
            <a:chOff x="1797224" y="2053249"/>
            <a:chExt cx="573183" cy="763441"/>
          </a:xfrm>
        </p:grpSpPr>
        <p:sp>
          <p:nvSpPr>
            <p:cNvPr id="90" name="Google Shape;90;p27"/>
            <p:cNvSpPr/>
            <p:nvPr/>
          </p:nvSpPr>
          <p:spPr>
            <a:xfrm rot="6426915">
              <a:off x="1847685" y="2362551"/>
              <a:ext cx="403677" cy="403677"/>
            </a:xfrm>
            <a:prstGeom prst="pie">
              <a:avLst>
                <a:gd name="adj1" fmla="val 5344085"/>
                <a:gd name="adj2" fmla="val 162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7"/>
            <p:cNvSpPr/>
            <p:nvPr/>
          </p:nvSpPr>
          <p:spPr>
            <a:xfrm>
              <a:off x="2013175" y="2109800"/>
              <a:ext cx="247800" cy="24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7"/>
            <p:cNvSpPr/>
            <p:nvPr/>
          </p:nvSpPr>
          <p:spPr>
            <a:xfrm rot="833516">
              <a:off x="1881903" y="2097566"/>
              <a:ext cx="432461" cy="519513"/>
            </a:xfrm>
            <a:custGeom>
              <a:avLst/>
              <a:gdLst/>
              <a:ahLst/>
              <a:cxnLst/>
              <a:rect l="l" t="t" r="r" b="b"/>
              <a:pathLst>
                <a:path w="7157" h="8598" extrusionOk="0">
                  <a:moveTo>
                    <a:pt x="3485" y="357"/>
                  </a:moveTo>
                  <a:cubicBezTo>
                    <a:pt x="4120" y="357"/>
                    <a:pt x="4771" y="636"/>
                    <a:pt x="5190" y="1083"/>
                  </a:cubicBezTo>
                  <a:cubicBezTo>
                    <a:pt x="6027" y="2003"/>
                    <a:pt x="5880" y="3761"/>
                    <a:pt x="4395" y="3886"/>
                  </a:cubicBezTo>
                  <a:cubicBezTo>
                    <a:pt x="4256" y="3852"/>
                    <a:pt x="4105" y="3836"/>
                    <a:pt x="3956" y="3836"/>
                  </a:cubicBezTo>
                  <a:cubicBezTo>
                    <a:pt x="3834" y="3836"/>
                    <a:pt x="3712" y="3847"/>
                    <a:pt x="3599" y="3865"/>
                  </a:cubicBezTo>
                  <a:cubicBezTo>
                    <a:pt x="2909" y="3865"/>
                    <a:pt x="2239" y="3614"/>
                    <a:pt x="1863" y="3007"/>
                  </a:cubicBezTo>
                  <a:cubicBezTo>
                    <a:pt x="1382" y="2191"/>
                    <a:pt x="1758" y="1041"/>
                    <a:pt x="2574" y="580"/>
                  </a:cubicBezTo>
                  <a:cubicBezTo>
                    <a:pt x="2853" y="427"/>
                    <a:pt x="3167" y="357"/>
                    <a:pt x="3485" y="357"/>
                  </a:cubicBezTo>
                  <a:close/>
                  <a:moveTo>
                    <a:pt x="3848" y="4402"/>
                  </a:moveTo>
                  <a:cubicBezTo>
                    <a:pt x="4852" y="4402"/>
                    <a:pt x="5796" y="4977"/>
                    <a:pt x="6236" y="6376"/>
                  </a:cubicBezTo>
                  <a:cubicBezTo>
                    <a:pt x="6466" y="6983"/>
                    <a:pt x="6780" y="7715"/>
                    <a:pt x="6006" y="8092"/>
                  </a:cubicBezTo>
                  <a:cubicBezTo>
                    <a:pt x="5858" y="8166"/>
                    <a:pt x="5647" y="8188"/>
                    <a:pt x="5421" y="8188"/>
                  </a:cubicBezTo>
                  <a:cubicBezTo>
                    <a:pt x="5071" y="8188"/>
                    <a:pt x="4687" y="8134"/>
                    <a:pt x="4457" y="8134"/>
                  </a:cubicBezTo>
                  <a:cubicBezTo>
                    <a:pt x="3097" y="8134"/>
                    <a:pt x="1758" y="7987"/>
                    <a:pt x="398" y="7841"/>
                  </a:cubicBezTo>
                  <a:cubicBezTo>
                    <a:pt x="450" y="5902"/>
                    <a:pt x="2226" y="4402"/>
                    <a:pt x="3848" y="4402"/>
                  </a:cubicBezTo>
                  <a:close/>
                  <a:moveTo>
                    <a:pt x="3522" y="1"/>
                  </a:moveTo>
                  <a:cubicBezTo>
                    <a:pt x="3380" y="1"/>
                    <a:pt x="3238" y="12"/>
                    <a:pt x="3097" y="36"/>
                  </a:cubicBezTo>
                  <a:cubicBezTo>
                    <a:pt x="1947" y="225"/>
                    <a:pt x="1089" y="1355"/>
                    <a:pt x="1256" y="2526"/>
                  </a:cubicBezTo>
                  <a:cubicBezTo>
                    <a:pt x="1402" y="3363"/>
                    <a:pt x="2030" y="3886"/>
                    <a:pt x="2763" y="4137"/>
                  </a:cubicBezTo>
                  <a:cubicBezTo>
                    <a:pt x="1256" y="4744"/>
                    <a:pt x="1" y="6397"/>
                    <a:pt x="42" y="7966"/>
                  </a:cubicBezTo>
                  <a:cubicBezTo>
                    <a:pt x="42" y="8092"/>
                    <a:pt x="147" y="8155"/>
                    <a:pt x="252" y="8155"/>
                  </a:cubicBezTo>
                  <a:cubicBezTo>
                    <a:pt x="273" y="8197"/>
                    <a:pt x="335" y="8238"/>
                    <a:pt x="377" y="8238"/>
                  </a:cubicBezTo>
                  <a:cubicBezTo>
                    <a:pt x="1737" y="8406"/>
                    <a:pt x="3097" y="8510"/>
                    <a:pt x="4457" y="8510"/>
                  </a:cubicBezTo>
                  <a:cubicBezTo>
                    <a:pt x="4741" y="8510"/>
                    <a:pt x="5346" y="8597"/>
                    <a:pt x="5890" y="8597"/>
                  </a:cubicBezTo>
                  <a:cubicBezTo>
                    <a:pt x="6308" y="8597"/>
                    <a:pt x="6691" y="8546"/>
                    <a:pt x="6864" y="8364"/>
                  </a:cubicBezTo>
                  <a:cubicBezTo>
                    <a:pt x="7156" y="8050"/>
                    <a:pt x="6884" y="7360"/>
                    <a:pt x="6843" y="7046"/>
                  </a:cubicBezTo>
                  <a:cubicBezTo>
                    <a:pt x="6675" y="6292"/>
                    <a:pt x="6466" y="5518"/>
                    <a:pt x="5964" y="4912"/>
                  </a:cubicBezTo>
                  <a:cubicBezTo>
                    <a:pt x="5692" y="4577"/>
                    <a:pt x="5399" y="4305"/>
                    <a:pt x="5064" y="4137"/>
                  </a:cubicBezTo>
                  <a:cubicBezTo>
                    <a:pt x="5922" y="3761"/>
                    <a:pt x="6361" y="2756"/>
                    <a:pt x="6027" y="1773"/>
                  </a:cubicBezTo>
                  <a:cubicBezTo>
                    <a:pt x="5675" y="698"/>
                    <a:pt x="4617" y="1"/>
                    <a:pt x="35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93;p27"/>
          <p:cNvGrpSpPr/>
          <p:nvPr/>
        </p:nvGrpSpPr>
        <p:grpSpPr>
          <a:xfrm rot="-1822216">
            <a:off x="978065" y="3194761"/>
            <a:ext cx="573199" cy="763462"/>
            <a:chOff x="1797224" y="2053249"/>
            <a:chExt cx="573183" cy="763441"/>
          </a:xfrm>
        </p:grpSpPr>
        <p:sp>
          <p:nvSpPr>
            <p:cNvPr id="94" name="Google Shape;94;p27"/>
            <p:cNvSpPr/>
            <p:nvPr/>
          </p:nvSpPr>
          <p:spPr>
            <a:xfrm rot="6426915">
              <a:off x="1847685" y="2362551"/>
              <a:ext cx="403677" cy="403677"/>
            </a:xfrm>
            <a:prstGeom prst="pie">
              <a:avLst>
                <a:gd name="adj1" fmla="val 5344085"/>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7"/>
            <p:cNvSpPr/>
            <p:nvPr/>
          </p:nvSpPr>
          <p:spPr>
            <a:xfrm>
              <a:off x="2013175" y="2109800"/>
              <a:ext cx="247800" cy="247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7"/>
            <p:cNvSpPr/>
            <p:nvPr/>
          </p:nvSpPr>
          <p:spPr>
            <a:xfrm rot="833516">
              <a:off x="1881903" y="2097566"/>
              <a:ext cx="432461" cy="519513"/>
            </a:xfrm>
            <a:custGeom>
              <a:avLst/>
              <a:gdLst/>
              <a:ahLst/>
              <a:cxnLst/>
              <a:rect l="l" t="t" r="r" b="b"/>
              <a:pathLst>
                <a:path w="7157" h="8598" extrusionOk="0">
                  <a:moveTo>
                    <a:pt x="3485" y="357"/>
                  </a:moveTo>
                  <a:cubicBezTo>
                    <a:pt x="4120" y="357"/>
                    <a:pt x="4771" y="636"/>
                    <a:pt x="5190" y="1083"/>
                  </a:cubicBezTo>
                  <a:cubicBezTo>
                    <a:pt x="6027" y="2003"/>
                    <a:pt x="5880" y="3761"/>
                    <a:pt x="4395" y="3886"/>
                  </a:cubicBezTo>
                  <a:cubicBezTo>
                    <a:pt x="4256" y="3852"/>
                    <a:pt x="4105" y="3836"/>
                    <a:pt x="3956" y="3836"/>
                  </a:cubicBezTo>
                  <a:cubicBezTo>
                    <a:pt x="3834" y="3836"/>
                    <a:pt x="3712" y="3847"/>
                    <a:pt x="3599" y="3865"/>
                  </a:cubicBezTo>
                  <a:cubicBezTo>
                    <a:pt x="2909" y="3865"/>
                    <a:pt x="2239" y="3614"/>
                    <a:pt x="1863" y="3007"/>
                  </a:cubicBezTo>
                  <a:cubicBezTo>
                    <a:pt x="1382" y="2191"/>
                    <a:pt x="1758" y="1041"/>
                    <a:pt x="2574" y="580"/>
                  </a:cubicBezTo>
                  <a:cubicBezTo>
                    <a:pt x="2853" y="427"/>
                    <a:pt x="3167" y="357"/>
                    <a:pt x="3485" y="357"/>
                  </a:cubicBezTo>
                  <a:close/>
                  <a:moveTo>
                    <a:pt x="3848" y="4402"/>
                  </a:moveTo>
                  <a:cubicBezTo>
                    <a:pt x="4852" y="4402"/>
                    <a:pt x="5796" y="4977"/>
                    <a:pt x="6236" y="6376"/>
                  </a:cubicBezTo>
                  <a:cubicBezTo>
                    <a:pt x="6466" y="6983"/>
                    <a:pt x="6780" y="7715"/>
                    <a:pt x="6006" y="8092"/>
                  </a:cubicBezTo>
                  <a:cubicBezTo>
                    <a:pt x="5858" y="8166"/>
                    <a:pt x="5647" y="8188"/>
                    <a:pt x="5421" y="8188"/>
                  </a:cubicBezTo>
                  <a:cubicBezTo>
                    <a:pt x="5071" y="8188"/>
                    <a:pt x="4687" y="8134"/>
                    <a:pt x="4457" y="8134"/>
                  </a:cubicBezTo>
                  <a:cubicBezTo>
                    <a:pt x="3097" y="8134"/>
                    <a:pt x="1758" y="7987"/>
                    <a:pt x="398" y="7841"/>
                  </a:cubicBezTo>
                  <a:cubicBezTo>
                    <a:pt x="450" y="5902"/>
                    <a:pt x="2226" y="4402"/>
                    <a:pt x="3848" y="4402"/>
                  </a:cubicBezTo>
                  <a:close/>
                  <a:moveTo>
                    <a:pt x="3522" y="1"/>
                  </a:moveTo>
                  <a:cubicBezTo>
                    <a:pt x="3380" y="1"/>
                    <a:pt x="3238" y="12"/>
                    <a:pt x="3097" y="36"/>
                  </a:cubicBezTo>
                  <a:cubicBezTo>
                    <a:pt x="1947" y="225"/>
                    <a:pt x="1089" y="1355"/>
                    <a:pt x="1256" y="2526"/>
                  </a:cubicBezTo>
                  <a:cubicBezTo>
                    <a:pt x="1402" y="3363"/>
                    <a:pt x="2030" y="3886"/>
                    <a:pt x="2763" y="4137"/>
                  </a:cubicBezTo>
                  <a:cubicBezTo>
                    <a:pt x="1256" y="4744"/>
                    <a:pt x="1" y="6397"/>
                    <a:pt x="42" y="7966"/>
                  </a:cubicBezTo>
                  <a:cubicBezTo>
                    <a:pt x="42" y="8092"/>
                    <a:pt x="147" y="8155"/>
                    <a:pt x="252" y="8155"/>
                  </a:cubicBezTo>
                  <a:cubicBezTo>
                    <a:pt x="273" y="8197"/>
                    <a:pt x="335" y="8238"/>
                    <a:pt x="377" y="8238"/>
                  </a:cubicBezTo>
                  <a:cubicBezTo>
                    <a:pt x="1737" y="8406"/>
                    <a:pt x="3097" y="8510"/>
                    <a:pt x="4457" y="8510"/>
                  </a:cubicBezTo>
                  <a:cubicBezTo>
                    <a:pt x="4741" y="8510"/>
                    <a:pt x="5346" y="8597"/>
                    <a:pt x="5890" y="8597"/>
                  </a:cubicBezTo>
                  <a:cubicBezTo>
                    <a:pt x="6308" y="8597"/>
                    <a:pt x="6691" y="8546"/>
                    <a:pt x="6864" y="8364"/>
                  </a:cubicBezTo>
                  <a:cubicBezTo>
                    <a:pt x="7156" y="8050"/>
                    <a:pt x="6884" y="7360"/>
                    <a:pt x="6843" y="7046"/>
                  </a:cubicBezTo>
                  <a:cubicBezTo>
                    <a:pt x="6675" y="6292"/>
                    <a:pt x="6466" y="5518"/>
                    <a:pt x="5964" y="4912"/>
                  </a:cubicBezTo>
                  <a:cubicBezTo>
                    <a:pt x="5692" y="4577"/>
                    <a:pt x="5399" y="4305"/>
                    <a:pt x="5064" y="4137"/>
                  </a:cubicBezTo>
                  <a:cubicBezTo>
                    <a:pt x="5922" y="3761"/>
                    <a:pt x="6361" y="2756"/>
                    <a:pt x="6027" y="1773"/>
                  </a:cubicBezTo>
                  <a:cubicBezTo>
                    <a:pt x="5675" y="698"/>
                    <a:pt x="4617" y="1"/>
                    <a:pt x="35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27"/>
          <p:cNvGrpSpPr/>
          <p:nvPr/>
        </p:nvGrpSpPr>
        <p:grpSpPr>
          <a:xfrm>
            <a:off x="902904" y="1102154"/>
            <a:ext cx="3188243" cy="3039929"/>
            <a:chOff x="902904" y="1134829"/>
            <a:chExt cx="3188243" cy="3039929"/>
          </a:xfrm>
        </p:grpSpPr>
        <p:grpSp>
          <p:nvGrpSpPr>
            <p:cNvPr id="98" name="Google Shape;98;p27"/>
            <p:cNvGrpSpPr/>
            <p:nvPr/>
          </p:nvGrpSpPr>
          <p:grpSpPr>
            <a:xfrm>
              <a:off x="902904" y="1134829"/>
              <a:ext cx="570386" cy="559491"/>
              <a:chOff x="696854" y="833679"/>
              <a:chExt cx="570386" cy="559491"/>
            </a:xfrm>
          </p:grpSpPr>
          <p:sp>
            <p:nvSpPr>
              <p:cNvPr id="99" name="Google Shape;99;p27"/>
              <p:cNvSpPr/>
              <p:nvPr/>
            </p:nvSpPr>
            <p:spPr>
              <a:xfrm>
                <a:off x="801950" y="929788"/>
                <a:ext cx="395700" cy="395700"/>
              </a:xfrm>
              <a:prstGeom prst="donut">
                <a:avLst>
                  <a:gd name="adj" fmla="val 22165"/>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 name="Google Shape;100;p27"/>
              <p:cNvGrpSpPr/>
              <p:nvPr/>
            </p:nvGrpSpPr>
            <p:grpSpPr>
              <a:xfrm>
                <a:off x="1026500" y="882100"/>
                <a:ext cx="240740" cy="511070"/>
                <a:chOff x="1026500" y="882100"/>
                <a:chExt cx="240740" cy="511070"/>
              </a:xfrm>
            </p:grpSpPr>
            <p:sp>
              <p:nvSpPr>
                <p:cNvPr id="101" name="Google Shape;101;p27"/>
                <p:cNvSpPr/>
                <p:nvPr/>
              </p:nvSpPr>
              <p:spPr>
                <a:xfrm rot="-969609">
                  <a:off x="1037714" y="1298874"/>
                  <a:ext cx="54972" cy="8839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7"/>
                <p:cNvSpPr/>
                <p:nvPr/>
              </p:nvSpPr>
              <p:spPr>
                <a:xfrm rot="-4151241">
                  <a:off x="1179433" y="1184814"/>
                  <a:ext cx="54881" cy="88309"/>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7"/>
                <p:cNvSpPr/>
                <p:nvPr/>
              </p:nvSpPr>
              <p:spPr>
                <a:xfrm rot="-6488285">
                  <a:off x="1189225" y="1023513"/>
                  <a:ext cx="54930" cy="88233"/>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7"/>
                <p:cNvSpPr/>
                <p:nvPr/>
              </p:nvSpPr>
              <p:spPr>
                <a:xfrm rot="-8893668">
                  <a:off x="1082920" y="889775"/>
                  <a:ext cx="54696" cy="88149"/>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105;p27"/>
              <p:cNvGrpSpPr/>
              <p:nvPr/>
            </p:nvGrpSpPr>
            <p:grpSpPr>
              <a:xfrm rot="710080" flipH="1">
                <a:off x="746705" y="852935"/>
                <a:ext cx="240754" cy="511100"/>
                <a:chOff x="1026500" y="882100"/>
                <a:chExt cx="240740" cy="511070"/>
              </a:xfrm>
            </p:grpSpPr>
            <p:sp>
              <p:nvSpPr>
                <p:cNvPr id="106" name="Google Shape;106;p27"/>
                <p:cNvSpPr/>
                <p:nvPr/>
              </p:nvSpPr>
              <p:spPr>
                <a:xfrm rot="-969609">
                  <a:off x="1037714" y="1298874"/>
                  <a:ext cx="54972" cy="8839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7"/>
                <p:cNvSpPr/>
                <p:nvPr/>
              </p:nvSpPr>
              <p:spPr>
                <a:xfrm rot="-4151241">
                  <a:off x="1179433" y="1184814"/>
                  <a:ext cx="54881" cy="88309"/>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7"/>
                <p:cNvSpPr/>
                <p:nvPr/>
              </p:nvSpPr>
              <p:spPr>
                <a:xfrm rot="-6488285">
                  <a:off x="1189225" y="1023513"/>
                  <a:ext cx="54930" cy="88233"/>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7"/>
                <p:cNvSpPr/>
                <p:nvPr/>
              </p:nvSpPr>
              <p:spPr>
                <a:xfrm rot="-8893668">
                  <a:off x="1082920" y="889775"/>
                  <a:ext cx="54696" cy="88149"/>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0" name="Google Shape;110;p27"/>
            <p:cNvGrpSpPr/>
            <p:nvPr/>
          </p:nvGrpSpPr>
          <p:grpSpPr>
            <a:xfrm>
              <a:off x="917368" y="1148985"/>
              <a:ext cx="573169" cy="563174"/>
              <a:chOff x="1542125" y="1512275"/>
              <a:chExt cx="411700" cy="404550"/>
            </a:xfrm>
          </p:grpSpPr>
          <p:sp>
            <p:nvSpPr>
              <p:cNvPr id="111" name="Google Shape;111;p27"/>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7"/>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 name="Google Shape;113;p27"/>
            <p:cNvGrpSpPr/>
            <p:nvPr/>
          </p:nvGrpSpPr>
          <p:grpSpPr>
            <a:xfrm>
              <a:off x="1198816" y="1805486"/>
              <a:ext cx="2892331" cy="2369272"/>
              <a:chOff x="1248791" y="1662836"/>
              <a:chExt cx="2892331" cy="2369272"/>
            </a:xfrm>
          </p:grpSpPr>
          <p:sp>
            <p:nvSpPr>
              <p:cNvPr id="114" name="Google Shape;114;p27"/>
              <p:cNvSpPr/>
              <p:nvPr/>
            </p:nvSpPr>
            <p:spPr>
              <a:xfrm rot="-1626556">
                <a:off x="1416576" y="2171069"/>
                <a:ext cx="2556761" cy="1352805"/>
              </a:xfrm>
              <a:custGeom>
                <a:avLst/>
                <a:gdLst/>
                <a:ahLst/>
                <a:cxnLst/>
                <a:rect l="l" t="t" r="r" b="b"/>
                <a:pathLst>
                  <a:path w="39421" h="20858" extrusionOk="0">
                    <a:moveTo>
                      <a:pt x="38614" y="463"/>
                    </a:moveTo>
                    <a:cubicBezTo>
                      <a:pt x="38700" y="463"/>
                      <a:pt x="38762" y="475"/>
                      <a:pt x="38793" y="502"/>
                    </a:cubicBezTo>
                    <a:cubicBezTo>
                      <a:pt x="39421" y="1004"/>
                      <a:pt x="38144" y="3662"/>
                      <a:pt x="37935" y="4269"/>
                    </a:cubicBezTo>
                    <a:cubicBezTo>
                      <a:pt x="37433" y="5691"/>
                      <a:pt x="36931" y="7093"/>
                      <a:pt x="36408" y="8537"/>
                    </a:cubicBezTo>
                    <a:cubicBezTo>
                      <a:pt x="35654" y="7846"/>
                      <a:pt x="34985" y="7156"/>
                      <a:pt x="34315" y="6361"/>
                    </a:cubicBezTo>
                    <a:cubicBezTo>
                      <a:pt x="34294" y="6319"/>
                      <a:pt x="34253" y="6319"/>
                      <a:pt x="34211" y="6319"/>
                    </a:cubicBezTo>
                    <a:cubicBezTo>
                      <a:pt x="34190" y="6277"/>
                      <a:pt x="34148" y="6256"/>
                      <a:pt x="34106" y="6235"/>
                    </a:cubicBezTo>
                    <a:cubicBezTo>
                      <a:pt x="34074" y="6216"/>
                      <a:pt x="34042" y="6208"/>
                      <a:pt x="34011" y="6208"/>
                    </a:cubicBezTo>
                    <a:cubicBezTo>
                      <a:pt x="33842" y="6208"/>
                      <a:pt x="33720" y="6464"/>
                      <a:pt x="33897" y="6570"/>
                    </a:cubicBezTo>
                    <a:cubicBezTo>
                      <a:pt x="33939" y="6591"/>
                      <a:pt x="30005" y="10336"/>
                      <a:pt x="29649" y="10671"/>
                    </a:cubicBezTo>
                    <a:cubicBezTo>
                      <a:pt x="28247" y="11906"/>
                      <a:pt x="26867" y="13077"/>
                      <a:pt x="25423" y="14249"/>
                    </a:cubicBezTo>
                    <a:cubicBezTo>
                      <a:pt x="24753" y="14814"/>
                      <a:pt x="24063" y="15358"/>
                      <a:pt x="23372" y="15902"/>
                    </a:cubicBezTo>
                    <a:cubicBezTo>
                      <a:pt x="22837" y="16303"/>
                      <a:pt x="21638" y="17613"/>
                      <a:pt x="20829" y="17613"/>
                    </a:cubicBezTo>
                    <a:cubicBezTo>
                      <a:pt x="20752" y="17613"/>
                      <a:pt x="20679" y="17601"/>
                      <a:pt x="20610" y="17576"/>
                    </a:cubicBezTo>
                    <a:cubicBezTo>
                      <a:pt x="20359" y="17513"/>
                      <a:pt x="19773" y="16718"/>
                      <a:pt x="19606" y="16509"/>
                    </a:cubicBezTo>
                    <a:lnTo>
                      <a:pt x="16530" y="13287"/>
                    </a:lnTo>
                    <a:cubicBezTo>
                      <a:pt x="16499" y="13245"/>
                      <a:pt x="16447" y="13224"/>
                      <a:pt x="16394" y="13224"/>
                    </a:cubicBezTo>
                    <a:cubicBezTo>
                      <a:pt x="16342" y="13224"/>
                      <a:pt x="16290" y="13245"/>
                      <a:pt x="16258" y="13287"/>
                    </a:cubicBezTo>
                    <a:lnTo>
                      <a:pt x="11781" y="17994"/>
                    </a:lnTo>
                    <a:cubicBezTo>
                      <a:pt x="11273" y="18543"/>
                      <a:pt x="10409" y="19881"/>
                      <a:pt x="9632" y="19881"/>
                    </a:cubicBezTo>
                    <a:cubicBezTo>
                      <a:pt x="9609" y="19881"/>
                      <a:pt x="9586" y="19880"/>
                      <a:pt x="9563" y="19878"/>
                    </a:cubicBezTo>
                    <a:cubicBezTo>
                      <a:pt x="9249" y="19857"/>
                      <a:pt x="8726" y="19271"/>
                      <a:pt x="8433" y="19103"/>
                    </a:cubicBezTo>
                    <a:cubicBezTo>
                      <a:pt x="7826" y="18664"/>
                      <a:pt x="7219" y="18183"/>
                      <a:pt x="6654" y="17743"/>
                    </a:cubicBezTo>
                    <a:cubicBezTo>
                      <a:pt x="6612" y="17701"/>
                      <a:pt x="6565" y="17681"/>
                      <a:pt x="6516" y="17681"/>
                    </a:cubicBezTo>
                    <a:cubicBezTo>
                      <a:pt x="6466" y="17681"/>
                      <a:pt x="6414" y="17701"/>
                      <a:pt x="6361" y="17743"/>
                    </a:cubicBezTo>
                    <a:cubicBezTo>
                      <a:pt x="5922" y="18141"/>
                      <a:pt x="5504" y="18518"/>
                      <a:pt x="5085" y="18936"/>
                    </a:cubicBezTo>
                    <a:cubicBezTo>
                      <a:pt x="4792" y="19208"/>
                      <a:pt x="4206" y="20129"/>
                      <a:pt x="3851" y="20233"/>
                    </a:cubicBezTo>
                    <a:cubicBezTo>
                      <a:pt x="3789" y="20253"/>
                      <a:pt x="3726" y="20262"/>
                      <a:pt x="3661" y="20262"/>
                    </a:cubicBezTo>
                    <a:cubicBezTo>
                      <a:pt x="3040" y="20262"/>
                      <a:pt x="2282" y="19427"/>
                      <a:pt x="1884" y="19124"/>
                    </a:cubicBezTo>
                    <a:lnTo>
                      <a:pt x="482" y="17953"/>
                    </a:lnTo>
                    <a:cubicBezTo>
                      <a:pt x="1884" y="16718"/>
                      <a:pt x="3223" y="15442"/>
                      <a:pt x="4499" y="14061"/>
                    </a:cubicBezTo>
                    <a:cubicBezTo>
                      <a:pt x="4793" y="13728"/>
                      <a:pt x="4995" y="13322"/>
                      <a:pt x="5447" y="13322"/>
                    </a:cubicBezTo>
                    <a:cubicBezTo>
                      <a:pt x="5479" y="13322"/>
                      <a:pt x="5511" y="13324"/>
                      <a:pt x="5545" y="13328"/>
                    </a:cubicBezTo>
                    <a:cubicBezTo>
                      <a:pt x="5859" y="13349"/>
                      <a:pt x="6487" y="14082"/>
                      <a:pt x="6717" y="14249"/>
                    </a:cubicBezTo>
                    <a:lnTo>
                      <a:pt x="9081" y="16132"/>
                    </a:lnTo>
                    <a:cubicBezTo>
                      <a:pt x="9123" y="16174"/>
                      <a:pt x="9170" y="16195"/>
                      <a:pt x="9220" y="16195"/>
                    </a:cubicBezTo>
                    <a:cubicBezTo>
                      <a:pt x="9270" y="16195"/>
                      <a:pt x="9322" y="16174"/>
                      <a:pt x="9374" y="16132"/>
                    </a:cubicBezTo>
                    <a:lnTo>
                      <a:pt x="14856" y="10734"/>
                    </a:lnTo>
                    <a:cubicBezTo>
                      <a:pt x="15212" y="10378"/>
                      <a:pt x="15672" y="9709"/>
                      <a:pt x="16091" y="9499"/>
                    </a:cubicBezTo>
                    <a:cubicBezTo>
                      <a:pt x="16336" y="9384"/>
                      <a:pt x="16555" y="9335"/>
                      <a:pt x="16755" y="9335"/>
                    </a:cubicBezTo>
                    <a:cubicBezTo>
                      <a:pt x="17457" y="9335"/>
                      <a:pt x="17922" y="9943"/>
                      <a:pt x="18476" y="10399"/>
                    </a:cubicBezTo>
                    <a:lnTo>
                      <a:pt x="21447" y="12910"/>
                    </a:lnTo>
                    <a:cubicBezTo>
                      <a:pt x="21485" y="12948"/>
                      <a:pt x="21528" y="12964"/>
                      <a:pt x="21571" y="12964"/>
                    </a:cubicBezTo>
                    <a:cubicBezTo>
                      <a:pt x="21647" y="12964"/>
                      <a:pt x="21721" y="12914"/>
                      <a:pt x="21761" y="12847"/>
                    </a:cubicBezTo>
                    <a:cubicBezTo>
                      <a:pt x="21787" y="12856"/>
                      <a:pt x="21817" y="12861"/>
                      <a:pt x="21847" y="12861"/>
                    </a:cubicBezTo>
                    <a:cubicBezTo>
                      <a:pt x="21890" y="12861"/>
                      <a:pt x="21934" y="12851"/>
                      <a:pt x="21970" y="12826"/>
                    </a:cubicBezTo>
                    <a:cubicBezTo>
                      <a:pt x="25486" y="10023"/>
                      <a:pt x="28854" y="7072"/>
                      <a:pt x="32118" y="3976"/>
                    </a:cubicBezTo>
                    <a:cubicBezTo>
                      <a:pt x="32202" y="3913"/>
                      <a:pt x="32202" y="3829"/>
                      <a:pt x="32160" y="3766"/>
                    </a:cubicBezTo>
                    <a:cubicBezTo>
                      <a:pt x="32160" y="3725"/>
                      <a:pt x="32118" y="3662"/>
                      <a:pt x="32056" y="3620"/>
                    </a:cubicBezTo>
                    <a:cubicBezTo>
                      <a:pt x="31365" y="3285"/>
                      <a:pt x="30758" y="2867"/>
                      <a:pt x="30193" y="2364"/>
                    </a:cubicBezTo>
                    <a:cubicBezTo>
                      <a:pt x="31553" y="2051"/>
                      <a:pt x="32913" y="1737"/>
                      <a:pt x="34294" y="1423"/>
                    </a:cubicBezTo>
                    <a:cubicBezTo>
                      <a:pt x="35027" y="1256"/>
                      <a:pt x="35780" y="1109"/>
                      <a:pt x="36554" y="942"/>
                    </a:cubicBezTo>
                    <a:cubicBezTo>
                      <a:pt x="36822" y="870"/>
                      <a:pt x="38113" y="463"/>
                      <a:pt x="38614" y="463"/>
                    </a:cubicBezTo>
                    <a:close/>
                    <a:moveTo>
                      <a:pt x="39170" y="0"/>
                    </a:moveTo>
                    <a:cubicBezTo>
                      <a:pt x="35989" y="628"/>
                      <a:pt x="32851" y="1318"/>
                      <a:pt x="29712" y="2051"/>
                    </a:cubicBezTo>
                    <a:cubicBezTo>
                      <a:pt x="29587" y="2072"/>
                      <a:pt x="29545" y="2281"/>
                      <a:pt x="29628" y="2385"/>
                    </a:cubicBezTo>
                    <a:cubicBezTo>
                      <a:pt x="30256" y="2992"/>
                      <a:pt x="30926" y="3453"/>
                      <a:pt x="31679" y="3850"/>
                    </a:cubicBezTo>
                    <a:cubicBezTo>
                      <a:pt x="28457" y="6884"/>
                      <a:pt x="25130" y="9792"/>
                      <a:pt x="21698" y="12554"/>
                    </a:cubicBezTo>
                    <a:lnTo>
                      <a:pt x="21657" y="12596"/>
                    </a:lnTo>
                    <a:cubicBezTo>
                      <a:pt x="20882" y="11906"/>
                      <a:pt x="20087" y="11257"/>
                      <a:pt x="19313" y="10608"/>
                    </a:cubicBezTo>
                    <a:cubicBezTo>
                      <a:pt x="18644" y="10043"/>
                      <a:pt x="17953" y="9290"/>
                      <a:pt x="17221" y="8872"/>
                    </a:cubicBezTo>
                    <a:cubicBezTo>
                      <a:pt x="17026" y="8763"/>
                      <a:pt x="16845" y="8716"/>
                      <a:pt x="16675" y="8716"/>
                    </a:cubicBezTo>
                    <a:cubicBezTo>
                      <a:pt x="15892" y="8716"/>
                      <a:pt x="15332" y="9710"/>
                      <a:pt x="14731" y="10295"/>
                    </a:cubicBezTo>
                    <a:lnTo>
                      <a:pt x="10462" y="14479"/>
                    </a:lnTo>
                    <a:cubicBezTo>
                      <a:pt x="10232" y="14688"/>
                      <a:pt x="9730" y="15442"/>
                      <a:pt x="9395" y="15525"/>
                    </a:cubicBezTo>
                    <a:cubicBezTo>
                      <a:pt x="9313" y="15546"/>
                      <a:pt x="9237" y="15556"/>
                      <a:pt x="9166" y="15556"/>
                    </a:cubicBezTo>
                    <a:cubicBezTo>
                      <a:pt x="8735" y="15556"/>
                      <a:pt x="8499" y="15206"/>
                      <a:pt x="8140" y="14919"/>
                    </a:cubicBezTo>
                    <a:lnTo>
                      <a:pt x="5399" y="12722"/>
                    </a:lnTo>
                    <a:cubicBezTo>
                      <a:pt x="5354" y="12688"/>
                      <a:pt x="5297" y="12666"/>
                      <a:pt x="5241" y="12666"/>
                    </a:cubicBezTo>
                    <a:cubicBezTo>
                      <a:pt x="5193" y="12666"/>
                      <a:pt x="5145" y="12683"/>
                      <a:pt x="5106" y="12722"/>
                    </a:cubicBezTo>
                    <a:cubicBezTo>
                      <a:pt x="3537" y="14479"/>
                      <a:pt x="1884" y="16111"/>
                      <a:pt x="126" y="17660"/>
                    </a:cubicBezTo>
                    <a:cubicBezTo>
                      <a:pt x="63" y="17743"/>
                      <a:pt x="63" y="17827"/>
                      <a:pt x="105" y="17869"/>
                    </a:cubicBezTo>
                    <a:cubicBezTo>
                      <a:pt x="22" y="17953"/>
                      <a:pt x="1" y="18057"/>
                      <a:pt x="105" y="18141"/>
                    </a:cubicBezTo>
                    <a:cubicBezTo>
                      <a:pt x="1214" y="19103"/>
                      <a:pt x="2365" y="19982"/>
                      <a:pt x="3558" y="20819"/>
                    </a:cubicBezTo>
                    <a:cubicBezTo>
                      <a:pt x="3593" y="20845"/>
                      <a:pt x="3631" y="20857"/>
                      <a:pt x="3668" y="20857"/>
                    </a:cubicBezTo>
                    <a:cubicBezTo>
                      <a:pt x="3718" y="20857"/>
                      <a:pt x="3763" y="20835"/>
                      <a:pt x="3788" y="20798"/>
                    </a:cubicBezTo>
                    <a:cubicBezTo>
                      <a:pt x="4289" y="20257"/>
                      <a:pt x="5692" y="18276"/>
                      <a:pt x="6564" y="18276"/>
                    </a:cubicBezTo>
                    <a:cubicBezTo>
                      <a:pt x="6602" y="18276"/>
                      <a:pt x="6639" y="18279"/>
                      <a:pt x="6675" y="18287"/>
                    </a:cubicBezTo>
                    <a:cubicBezTo>
                      <a:pt x="6989" y="18350"/>
                      <a:pt x="7554" y="18999"/>
                      <a:pt x="7805" y="19145"/>
                    </a:cubicBezTo>
                    <a:cubicBezTo>
                      <a:pt x="8391" y="19626"/>
                      <a:pt x="9019" y="20045"/>
                      <a:pt x="9688" y="20484"/>
                    </a:cubicBezTo>
                    <a:cubicBezTo>
                      <a:pt x="9711" y="20507"/>
                      <a:pt x="9740" y="20516"/>
                      <a:pt x="9770" y="20516"/>
                    </a:cubicBezTo>
                    <a:cubicBezTo>
                      <a:pt x="9822" y="20516"/>
                      <a:pt x="9879" y="20490"/>
                      <a:pt x="9918" y="20463"/>
                    </a:cubicBezTo>
                    <a:cubicBezTo>
                      <a:pt x="11697" y="18580"/>
                      <a:pt x="13475" y="16718"/>
                      <a:pt x="15254" y="14835"/>
                    </a:cubicBezTo>
                    <a:cubicBezTo>
                      <a:pt x="15584" y="14505"/>
                      <a:pt x="15879" y="13903"/>
                      <a:pt x="16405" y="13903"/>
                    </a:cubicBezTo>
                    <a:cubicBezTo>
                      <a:pt x="16445" y="13903"/>
                      <a:pt x="16487" y="13907"/>
                      <a:pt x="16530" y="13914"/>
                    </a:cubicBezTo>
                    <a:cubicBezTo>
                      <a:pt x="16865" y="13977"/>
                      <a:pt x="17639" y="15065"/>
                      <a:pt x="17890" y="15358"/>
                    </a:cubicBezTo>
                    <a:lnTo>
                      <a:pt x="20610" y="18204"/>
                    </a:lnTo>
                    <a:cubicBezTo>
                      <a:pt x="20651" y="18244"/>
                      <a:pt x="20709" y="18267"/>
                      <a:pt x="20762" y="18267"/>
                    </a:cubicBezTo>
                    <a:cubicBezTo>
                      <a:pt x="20791" y="18267"/>
                      <a:pt x="20818" y="18260"/>
                      <a:pt x="20841" y="18246"/>
                    </a:cubicBezTo>
                    <a:cubicBezTo>
                      <a:pt x="23435" y="16321"/>
                      <a:pt x="25946" y="14312"/>
                      <a:pt x="28373" y="12220"/>
                    </a:cubicBezTo>
                    <a:cubicBezTo>
                      <a:pt x="29587" y="11173"/>
                      <a:pt x="30779" y="10106"/>
                      <a:pt x="31972" y="9039"/>
                    </a:cubicBezTo>
                    <a:cubicBezTo>
                      <a:pt x="32558" y="8474"/>
                      <a:pt x="33792" y="7721"/>
                      <a:pt x="34169" y="6863"/>
                    </a:cubicBezTo>
                    <a:cubicBezTo>
                      <a:pt x="34817" y="7637"/>
                      <a:pt x="35529" y="8349"/>
                      <a:pt x="36303" y="8997"/>
                    </a:cubicBezTo>
                    <a:cubicBezTo>
                      <a:pt x="36344" y="9038"/>
                      <a:pt x="36397" y="9057"/>
                      <a:pt x="36450" y="9057"/>
                    </a:cubicBezTo>
                    <a:cubicBezTo>
                      <a:pt x="36532" y="9057"/>
                      <a:pt x="36612" y="9011"/>
                      <a:pt x="36638" y="8935"/>
                    </a:cubicBezTo>
                    <a:cubicBezTo>
                      <a:pt x="37642" y="6110"/>
                      <a:pt x="39023" y="3201"/>
                      <a:pt x="39358" y="209"/>
                    </a:cubicBezTo>
                    <a:cubicBezTo>
                      <a:pt x="39421" y="63"/>
                      <a:pt x="39295" y="0"/>
                      <a:pt x="391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27"/>
              <p:cNvGrpSpPr/>
              <p:nvPr/>
            </p:nvGrpSpPr>
            <p:grpSpPr>
              <a:xfrm rot="1436877">
                <a:off x="1710826" y="3470589"/>
                <a:ext cx="304056" cy="290278"/>
                <a:chOff x="5860456" y="3065279"/>
                <a:chExt cx="304060" cy="290283"/>
              </a:xfrm>
            </p:grpSpPr>
            <p:sp>
              <p:nvSpPr>
                <p:cNvPr id="116" name="Google Shape;116;p27"/>
                <p:cNvSpPr/>
                <p:nvPr/>
              </p:nvSpPr>
              <p:spPr>
                <a:xfrm>
                  <a:off x="5905500" y="3103750"/>
                  <a:ext cx="213978" cy="213322"/>
                </a:xfrm>
                <a:custGeom>
                  <a:avLst/>
                  <a:gdLst/>
                  <a:ahLst/>
                  <a:cxnLst/>
                  <a:rect l="l" t="t" r="r" b="b"/>
                  <a:pathLst>
                    <a:path w="3875" h="3627" extrusionOk="0">
                      <a:moveTo>
                        <a:pt x="1324" y="0"/>
                      </a:moveTo>
                      <a:cubicBezTo>
                        <a:pt x="1059" y="0"/>
                        <a:pt x="1056" y="946"/>
                        <a:pt x="969" y="1186"/>
                      </a:cubicBezTo>
                      <a:cubicBezTo>
                        <a:pt x="890" y="1434"/>
                        <a:pt x="0" y="1997"/>
                        <a:pt x="23" y="2155"/>
                      </a:cubicBezTo>
                      <a:cubicBezTo>
                        <a:pt x="62" y="2420"/>
                        <a:pt x="947" y="2437"/>
                        <a:pt x="1175" y="2437"/>
                      </a:cubicBezTo>
                      <a:cubicBezTo>
                        <a:pt x="1209" y="2437"/>
                        <a:pt x="1228" y="2436"/>
                        <a:pt x="1228" y="2436"/>
                      </a:cubicBezTo>
                      <a:cubicBezTo>
                        <a:pt x="1228" y="2436"/>
                        <a:pt x="1284" y="3428"/>
                        <a:pt x="1431" y="3608"/>
                      </a:cubicBezTo>
                      <a:cubicBezTo>
                        <a:pt x="1442" y="3620"/>
                        <a:pt x="1455" y="3626"/>
                        <a:pt x="1471" y="3626"/>
                      </a:cubicBezTo>
                      <a:cubicBezTo>
                        <a:pt x="1685" y="3626"/>
                        <a:pt x="2309" y="2583"/>
                        <a:pt x="2309" y="2583"/>
                      </a:cubicBezTo>
                      <a:cubicBezTo>
                        <a:pt x="2309" y="2583"/>
                        <a:pt x="2852" y="2810"/>
                        <a:pt x="3273" y="2810"/>
                      </a:cubicBezTo>
                      <a:cubicBezTo>
                        <a:pt x="3330" y="2810"/>
                        <a:pt x="3385" y="2806"/>
                        <a:pt x="3436" y="2797"/>
                      </a:cubicBezTo>
                      <a:cubicBezTo>
                        <a:pt x="3875" y="2718"/>
                        <a:pt x="3143" y="1749"/>
                        <a:pt x="3008" y="1524"/>
                      </a:cubicBezTo>
                      <a:cubicBezTo>
                        <a:pt x="2895" y="1299"/>
                        <a:pt x="3447" y="905"/>
                        <a:pt x="3391" y="679"/>
                      </a:cubicBezTo>
                      <a:cubicBezTo>
                        <a:pt x="3376" y="622"/>
                        <a:pt x="3324" y="601"/>
                        <a:pt x="3247" y="601"/>
                      </a:cubicBezTo>
                      <a:cubicBezTo>
                        <a:pt x="3019" y="601"/>
                        <a:pt x="2582" y="792"/>
                        <a:pt x="2321" y="826"/>
                      </a:cubicBezTo>
                      <a:cubicBezTo>
                        <a:pt x="2313" y="826"/>
                        <a:pt x="2306" y="827"/>
                        <a:pt x="2299" y="827"/>
                      </a:cubicBezTo>
                      <a:cubicBezTo>
                        <a:pt x="1958" y="827"/>
                        <a:pt x="1639" y="70"/>
                        <a:pt x="1352" y="3"/>
                      </a:cubicBezTo>
                      <a:cubicBezTo>
                        <a:pt x="1342" y="1"/>
                        <a:pt x="1333" y="0"/>
                        <a:pt x="13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7"/>
                <p:cNvSpPr/>
                <p:nvPr/>
              </p:nvSpPr>
              <p:spPr>
                <a:xfrm rot="-1249224">
                  <a:off x="5891372" y="3101195"/>
                  <a:ext cx="242229" cy="218451"/>
                </a:xfrm>
                <a:custGeom>
                  <a:avLst/>
                  <a:gdLst/>
                  <a:ahLst/>
                  <a:cxnLst/>
                  <a:rect l="l" t="t" r="r" b="b"/>
                  <a:pathLst>
                    <a:path w="3730" h="3064" extrusionOk="0">
                      <a:moveTo>
                        <a:pt x="1848" y="293"/>
                      </a:moveTo>
                      <a:cubicBezTo>
                        <a:pt x="1904" y="394"/>
                        <a:pt x="1983" y="530"/>
                        <a:pt x="1995" y="563"/>
                      </a:cubicBezTo>
                      <a:cubicBezTo>
                        <a:pt x="2017" y="586"/>
                        <a:pt x="2040" y="631"/>
                        <a:pt x="2051" y="676"/>
                      </a:cubicBezTo>
                      <a:cubicBezTo>
                        <a:pt x="2130" y="856"/>
                        <a:pt x="2242" y="1082"/>
                        <a:pt x="2423" y="1138"/>
                      </a:cubicBezTo>
                      <a:cubicBezTo>
                        <a:pt x="2614" y="1205"/>
                        <a:pt x="2817" y="1217"/>
                        <a:pt x="3008" y="1217"/>
                      </a:cubicBezTo>
                      <a:cubicBezTo>
                        <a:pt x="3155" y="1217"/>
                        <a:pt x="3279" y="1217"/>
                        <a:pt x="3402" y="1250"/>
                      </a:cubicBezTo>
                      <a:cubicBezTo>
                        <a:pt x="3369" y="1296"/>
                        <a:pt x="3290" y="1352"/>
                        <a:pt x="3233" y="1386"/>
                      </a:cubicBezTo>
                      <a:cubicBezTo>
                        <a:pt x="3211" y="1408"/>
                        <a:pt x="3200" y="1431"/>
                        <a:pt x="3166" y="1442"/>
                      </a:cubicBezTo>
                      <a:cubicBezTo>
                        <a:pt x="3087" y="1521"/>
                        <a:pt x="2997" y="1577"/>
                        <a:pt x="2918" y="1645"/>
                      </a:cubicBezTo>
                      <a:lnTo>
                        <a:pt x="2749" y="1769"/>
                      </a:lnTo>
                      <a:cubicBezTo>
                        <a:pt x="2715" y="1780"/>
                        <a:pt x="2693" y="1814"/>
                        <a:pt x="2659" y="1859"/>
                      </a:cubicBezTo>
                      <a:cubicBezTo>
                        <a:pt x="2591" y="1971"/>
                        <a:pt x="2648" y="2163"/>
                        <a:pt x="2715" y="2422"/>
                      </a:cubicBezTo>
                      <a:cubicBezTo>
                        <a:pt x="2727" y="2478"/>
                        <a:pt x="2749" y="2512"/>
                        <a:pt x="2760" y="2557"/>
                      </a:cubicBezTo>
                      <a:cubicBezTo>
                        <a:pt x="2772" y="2568"/>
                        <a:pt x="2772" y="2602"/>
                        <a:pt x="2772" y="2625"/>
                      </a:cubicBezTo>
                      <a:cubicBezTo>
                        <a:pt x="2772" y="2670"/>
                        <a:pt x="2783" y="2715"/>
                        <a:pt x="2783" y="2760"/>
                      </a:cubicBezTo>
                      <a:lnTo>
                        <a:pt x="2085" y="2433"/>
                      </a:lnTo>
                      <a:cubicBezTo>
                        <a:pt x="2012" y="2402"/>
                        <a:pt x="1941" y="2389"/>
                        <a:pt x="1871" y="2389"/>
                      </a:cubicBezTo>
                      <a:cubicBezTo>
                        <a:pt x="1690" y="2389"/>
                        <a:pt x="1518" y="2476"/>
                        <a:pt x="1364" y="2557"/>
                      </a:cubicBezTo>
                      <a:cubicBezTo>
                        <a:pt x="1319" y="2591"/>
                        <a:pt x="1274" y="2613"/>
                        <a:pt x="1240" y="2625"/>
                      </a:cubicBezTo>
                      <a:cubicBezTo>
                        <a:pt x="1195" y="2647"/>
                        <a:pt x="1139" y="2670"/>
                        <a:pt x="1082" y="2703"/>
                      </a:cubicBezTo>
                      <a:cubicBezTo>
                        <a:pt x="1015" y="2726"/>
                        <a:pt x="958" y="2760"/>
                        <a:pt x="902" y="2782"/>
                      </a:cubicBezTo>
                      <a:cubicBezTo>
                        <a:pt x="913" y="2715"/>
                        <a:pt x="925" y="2625"/>
                        <a:pt x="958" y="2546"/>
                      </a:cubicBezTo>
                      <a:cubicBezTo>
                        <a:pt x="970" y="2489"/>
                        <a:pt x="981" y="2422"/>
                        <a:pt x="1003" y="2366"/>
                      </a:cubicBezTo>
                      <a:cubicBezTo>
                        <a:pt x="1015" y="2309"/>
                        <a:pt x="1026" y="2264"/>
                        <a:pt x="1037" y="2219"/>
                      </a:cubicBezTo>
                      <a:cubicBezTo>
                        <a:pt x="1060" y="2163"/>
                        <a:pt x="1071" y="2118"/>
                        <a:pt x="1082" y="2061"/>
                      </a:cubicBezTo>
                      <a:cubicBezTo>
                        <a:pt x="1127" y="1836"/>
                        <a:pt x="902" y="1690"/>
                        <a:pt x="733" y="1555"/>
                      </a:cubicBezTo>
                      <a:cubicBezTo>
                        <a:pt x="688" y="1532"/>
                        <a:pt x="643" y="1498"/>
                        <a:pt x="620" y="1476"/>
                      </a:cubicBezTo>
                      <a:lnTo>
                        <a:pt x="350" y="1250"/>
                      </a:lnTo>
                      <a:cubicBezTo>
                        <a:pt x="406" y="1250"/>
                        <a:pt x="463" y="1228"/>
                        <a:pt x="508" y="1217"/>
                      </a:cubicBezTo>
                      <a:cubicBezTo>
                        <a:pt x="553" y="1217"/>
                        <a:pt x="575" y="1205"/>
                        <a:pt x="587" y="1205"/>
                      </a:cubicBezTo>
                      <a:cubicBezTo>
                        <a:pt x="632" y="1194"/>
                        <a:pt x="699" y="1194"/>
                        <a:pt x="778" y="1194"/>
                      </a:cubicBezTo>
                      <a:cubicBezTo>
                        <a:pt x="1060" y="1183"/>
                        <a:pt x="1262" y="1160"/>
                        <a:pt x="1375" y="1082"/>
                      </a:cubicBezTo>
                      <a:cubicBezTo>
                        <a:pt x="1476" y="991"/>
                        <a:pt x="1533" y="868"/>
                        <a:pt x="1589" y="755"/>
                      </a:cubicBezTo>
                      <a:cubicBezTo>
                        <a:pt x="1600" y="710"/>
                        <a:pt x="1634" y="676"/>
                        <a:pt x="1645" y="642"/>
                      </a:cubicBezTo>
                      <a:cubicBezTo>
                        <a:pt x="1679" y="597"/>
                        <a:pt x="1702" y="541"/>
                        <a:pt x="1735" y="485"/>
                      </a:cubicBezTo>
                      <a:cubicBezTo>
                        <a:pt x="1769" y="417"/>
                        <a:pt x="1803" y="349"/>
                        <a:pt x="1848" y="293"/>
                      </a:cubicBezTo>
                      <a:close/>
                      <a:moveTo>
                        <a:pt x="1814" y="0"/>
                      </a:moveTo>
                      <a:lnTo>
                        <a:pt x="1769" y="34"/>
                      </a:lnTo>
                      <a:cubicBezTo>
                        <a:pt x="1657" y="135"/>
                        <a:pt x="1589" y="293"/>
                        <a:pt x="1533" y="417"/>
                      </a:cubicBezTo>
                      <a:cubicBezTo>
                        <a:pt x="1499" y="462"/>
                        <a:pt x="1488" y="518"/>
                        <a:pt x="1465" y="563"/>
                      </a:cubicBezTo>
                      <a:cubicBezTo>
                        <a:pt x="1431" y="586"/>
                        <a:pt x="1420" y="642"/>
                        <a:pt x="1386" y="687"/>
                      </a:cubicBezTo>
                      <a:cubicBezTo>
                        <a:pt x="1353" y="777"/>
                        <a:pt x="1296" y="901"/>
                        <a:pt x="1240" y="935"/>
                      </a:cubicBezTo>
                      <a:cubicBezTo>
                        <a:pt x="1184" y="991"/>
                        <a:pt x="913" y="991"/>
                        <a:pt x="778" y="1003"/>
                      </a:cubicBezTo>
                      <a:cubicBezTo>
                        <a:pt x="699" y="1003"/>
                        <a:pt x="632" y="1025"/>
                        <a:pt x="575" y="1025"/>
                      </a:cubicBezTo>
                      <a:cubicBezTo>
                        <a:pt x="542" y="1025"/>
                        <a:pt x="519" y="1025"/>
                        <a:pt x="463" y="1036"/>
                      </a:cubicBezTo>
                      <a:cubicBezTo>
                        <a:pt x="384" y="1048"/>
                        <a:pt x="170" y="1093"/>
                        <a:pt x="114" y="1093"/>
                      </a:cubicBezTo>
                      <a:cubicBezTo>
                        <a:pt x="114" y="1093"/>
                        <a:pt x="136" y="1093"/>
                        <a:pt x="147" y="1104"/>
                      </a:cubicBezTo>
                      <a:lnTo>
                        <a:pt x="1" y="1250"/>
                      </a:lnTo>
                      <a:lnTo>
                        <a:pt x="451" y="1611"/>
                      </a:lnTo>
                      <a:cubicBezTo>
                        <a:pt x="497" y="1656"/>
                        <a:pt x="530" y="1690"/>
                        <a:pt x="575" y="1712"/>
                      </a:cubicBezTo>
                      <a:cubicBezTo>
                        <a:pt x="722" y="1814"/>
                        <a:pt x="891" y="1926"/>
                        <a:pt x="857" y="2039"/>
                      </a:cubicBezTo>
                      <a:cubicBezTo>
                        <a:pt x="846" y="2073"/>
                        <a:pt x="834" y="2140"/>
                        <a:pt x="812" y="2174"/>
                      </a:cubicBezTo>
                      <a:cubicBezTo>
                        <a:pt x="801" y="2230"/>
                        <a:pt x="789" y="2275"/>
                        <a:pt x="778" y="2332"/>
                      </a:cubicBezTo>
                      <a:lnTo>
                        <a:pt x="733" y="2501"/>
                      </a:lnTo>
                      <a:cubicBezTo>
                        <a:pt x="688" y="2647"/>
                        <a:pt x="643" y="2782"/>
                        <a:pt x="665" y="2940"/>
                      </a:cubicBezTo>
                      <a:lnTo>
                        <a:pt x="677" y="3053"/>
                      </a:lnTo>
                      <a:lnTo>
                        <a:pt x="801" y="3053"/>
                      </a:lnTo>
                      <a:cubicBezTo>
                        <a:pt x="925" y="3019"/>
                        <a:pt x="1060" y="2951"/>
                        <a:pt x="1184" y="2895"/>
                      </a:cubicBezTo>
                      <a:cubicBezTo>
                        <a:pt x="1229" y="2872"/>
                        <a:pt x="1285" y="2850"/>
                        <a:pt x="1319" y="2827"/>
                      </a:cubicBezTo>
                      <a:cubicBezTo>
                        <a:pt x="1364" y="2816"/>
                        <a:pt x="1420" y="2782"/>
                        <a:pt x="1465" y="2760"/>
                      </a:cubicBezTo>
                      <a:cubicBezTo>
                        <a:pt x="1609" y="2684"/>
                        <a:pt x="1733" y="2627"/>
                        <a:pt x="1848" y="2627"/>
                      </a:cubicBezTo>
                      <a:cubicBezTo>
                        <a:pt x="1887" y="2627"/>
                        <a:pt x="1924" y="2633"/>
                        <a:pt x="1961" y="2647"/>
                      </a:cubicBezTo>
                      <a:lnTo>
                        <a:pt x="2884" y="3064"/>
                      </a:lnTo>
                      <a:lnTo>
                        <a:pt x="2986" y="2895"/>
                      </a:lnTo>
                      <a:cubicBezTo>
                        <a:pt x="3008" y="2906"/>
                        <a:pt x="3031" y="2929"/>
                        <a:pt x="3031" y="2929"/>
                      </a:cubicBezTo>
                      <a:cubicBezTo>
                        <a:pt x="3008" y="2884"/>
                        <a:pt x="2986" y="2703"/>
                        <a:pt x="2986" y="2647"/>
                      </a:cubicBezTo>
                      <a:cubicBezTo>
                        <a:pt x="2974" y="2602"/>
                        <a:pt x="2974" y="2568"/>
                        <a:pt x="2974" y="2557"/>
                      </a:cubicBezTo>
                      <a:cubicBezTo>
                        <a:pt x="2974" y="2534"/>
                        <a:pt x="2941" y="2478"/>
                        <a:pt x="2929" y="2399"/>
                      </a:cubicBezTo>
                      <a:cubicBezTo>
                        <a:pt x="2896" y="2275"/>
                        <a:pt x="2817" y="2039"/>
                        <a:pt x="2862" y="1971"/>
                      </a:cubicBezTo>
                      <a:cubicBezTo>
                        <a:pt x="2873" y="1971"/>
                        <a:pt x="2884" y="1949"/>
                        <a:pt x="2896" y="1938"/>
                      </a:cubicBezTo>
                      <a:lnTo>
                        <a:pt x="3065" y="1814"/>
                      </a:lnTo>
                      <a:cubicBezTo>
                        <a:pt x="3166" y="1746"/>
                        <a:pt x="3256" y="1667"/>
                        <a:pt x="3335" y="1600"/>
                      </a:cubicBezTo>
                      <a:cubicBezTo>
                        <a:pt x="3369" y="1588"/>
                        <a:pt x="3380" y="1555"/>
                        <a:pt x="3402" y="1543"/>
                      </a:cubicBezTo>
                      <a:cubicBezTo>
                        <a:pt x="3515" y="1442"/>
                        <a:pt x="3661" y="1352"/>
                        <a:pt x="3707" y="1217"/>
                      </a:cubicBezTo>
                      <a:lnTo>
                        <a:pt x="3729" y="1138"/>
                      </a:lnTo>
                      <a:lnTo>
                        <a:pt x="3628" y="1104"/>
                      </a:lnTo>
                      <a:cubicBezTo>
                        <a:pt x="3436" y="1036"/>
                        <a:pt x="3222" y="1025"/>
                        <a:pt x="3031" y="1025"/>
                      </a:cubicBezTo>
                      <a:cubicBezTo>
                        <a:pt x="2839" y="1003"/>
                        <a:pt x="2659" y="1003"/>
                        <a:pt x="2501" y="946"/>
                      </a:cubicBezTo>
                      <a:cubicBezTo>
                        <a:pt x="2411" y="924"/>
                        <a:pt x="2321" y="721"/>
                        <a:pt x="2265" y="597"/>
                      </a:cubicBezTo>
                      <a:cubicBezTo>
                        <a:pt x="2254" y="563"/>
                        <a:pt x="2220" y="507"/>
                        <a:pt x="2209" y="473"/>
                      </a:cubicBezTo>
                      <a:cubicBezTo>
                        <a:pt x="1972" y="23"/>
                        <a:pt x="1916" y="11"/>
                        <a:pt x="1871" y="11"/>
                      </a:cubicBezTo>
                      <a:lnTo>
                        <a:pt x="181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27"/>
              <p:cNvGrpSpPr/>
              <p:nvPr/>
            </p:nvGrpSpPr>
            <p:grpSpPr>
              <a:xfrm rot="2185173">
                <a:off x="2289429" y="2862471"/>
                <a:ext cx="304064" cy="290286"/>
                <a:chOff x="5856861" y="3059709"/>
                <a:chExt cx="304060" cy="290283"/>
              </a:xfrm>
            </p:grpSpPr>
            <p:sp>
              <p:nvSpPr>
                <p:cNvPr id="119" name="Google Shape;119;p27"/>
                <p:cNvSpPr/>
                <p:nvPr/>
              </p:nvSpPr>
              <p:spPr>
                <a:xfrm>
                  <a:off x="5905500" y="3103750"/>
                  <a:ext cx="213978" cy="213322"/>
                </a:xfrm>
                <a:custGeom>
                  <a:avLst/>
                  <a:gdLst/>
                  <a:ahLst/>
                  <a:cxnLst/>
                  <a:rect l="l" t="t" r="r" b="b"/>
                  <a:pathLst>
                    <a:path w="3875" h="3627" extrusionOk="0">
                      <a:moveTo>
                        <a:pt x="1324" y="0"/>
                      </a:moveTo>
                      <a:cubicBezTo>
                        <a:pt x="1059" y="0"/>
                        <a:pt x="1056" y="946"/>
                        <a:pt x="969" y="1186"/>
                      </a:cubicBezTo>
                      <a:cubicBezTo>
                        <a:pt x="890" y="1434"/>
                        <a:pt x="0" y="1997"/>
                        <a:pt x="23" y="2155"/>
                      </a:cubicBezTo>
                      <a:cubicBezTo>
                        <a:pt x="62" y="2420"/>
                        <a:pt x="947" y="2437"/>
                        <a:pt x="1175" y="2437"/>
                      </a:cubicBezTo>
                      <a:cubicBezTo>
                        <a:pt x="1209" y="2437"/>
                        <a:pt x="1228" y="2436"/>
                        <a:pt x="1228" y="2436"/>
                      </a:cubicBezTo>
                      <a:cubicBezTo>
                        <a:pt x="1228" y="2436"/>
                        <a:pt x="1284" y="3428"/>
                        <a:pt x="1431" y="3608"/>
                      </a:cubicBezTo>
                      <a:cubicBezTo>
                        <a:pt x="1442" y="3620"/>
                        <a:pt x="1455" y="3626"/>
                        <a:pt x="1471" y="3626"/>
                      </a:cubicBezTo>
                      <a:cubicBezTo>
                        <a:pt x="1685" y="3626"/>
                        <a:pt x="2309" y="2583"/>
                        <a:pt x="2309" y="2583"/>
                      </a:cubicBezTo>
                      <a:cubicBezTo>
                        <a:pt x="2309" y="2583"/>
                        <a:pt x="2852" y="2810"/>
                        <a:pt x="3273" y="2810"/>
                      </a:cubicBezTo>
                      <a:cubicBezTo>
                        <a:pt x="3330" y="2810"/>
                        <a:pt x="3385" y="2806"/>
                        <a:pt x="3436" y="2797"/>
                      </a:cubicBezTo>
                      <a:cubicBezTo>
                        <a:pt x="3875" y="2718"/>
                        <a:pt x="3143" y="1749"/>
                        <a:pt x="3008" y="1524"/>
                      </a:cubicBezTo>
                      <a:cubicBezTo>
                        <a:pt x="2895" y="1299"/>
                        <a:pt x="3447" y="905"/>
                        <a:pt x="3391" y="679"/>
                      </a:cubicBezTo>
                      <a:cubicBezTo>
                        <a:pt x="3376" y="622"/>
                        <a:pt x="3324" y="601"/>
                        <a:pt x="3247" y="601"/>
                      </a:cubicBezTo>
                      <a:cubicBezTo>
                        <a:pt x="3019" y="601"/>
                        <a:pt x="2582" y="792"/>
                        <a:pt x="2321" y="826"/>
                      </a:cubicBezTo>
                      <a:cubicBezTo>
                        <a:pt x="2313" y="826"/>
                        <a:pt x="2306" y="827"/>
                        <a:pt x="2299" y="827"/>
                      </a:cubicBezTo>
                      <a:cubicBezTo>
                        <a:pt x="1958" y="827"/>
                        <a:pt x="1639" y="70"/>
                        <a:pt x="1352" y="3"/>
                      </a:cubicBezTo>
                      <a:cubicBezTo>
                        <a:pt x="1342" y="1"/>
                        <a:pt x="1333" y="0"/>
                        <a:pt x="13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7"/>
                <p:cNvSpPr/>
                <p:nvPr/>
              </p:nvSpPr>
              <p:spPr>
                <a:xfrm rot="-1249224">
                  <a:off x="5887777" y="3095625"/>
                  <a:ext cx="242229" cy="218451"/>
                </a:xfrm>
                <a:custGeom>
                  <a:avLst/>
                  <a:gdLst/>
                  <a:ahLst/>
                  <a:cxnLst/>
                  <a:rect l="l" t="t" r="r" b="b"/>
                  <a:pathLst>
                    <a:path w="3730" h="3064" extrusionOk="0">
                      <a:moveTo>
                        <a:pt x="1848" y="293"/>
                      </a:moveTo>
                      <a:cubicBezTo>
                        <a:pt x="1904" y="394"/>
                        <a:pt x="1983" y="530"/>
                        <a:pt x="1995" y="563"/>
                      </a:cubicBezTo>
                      <a:cubicBezTo>
                        <a:pt x="2017" y="586"/>
                        <a:pt x="2040" y="631"/>
                        <a:pt x="2051" y="676"/>
                      </a:cubicBezTo>
                      <a:cubicBezTo>
                        <a:pt x="2130" y="856"/>
                        <a:pt x="2242" y="1082"/>
                        <a:pt x="2423" y="1138"/>
                      </a:cubicBezTo>
                      <a:cubicBezTo>
                        <a:pt x="2614" y="1205"/>
                        <a:pt x="2817" y="1217"/>
                        <a:pt x="3008" y="1217"/>
                      </a:cubicBezTo>
                      <a:cubicBezTo>
                        <a:pt x="3155" y="1217"/>
                        <a:pt x="3279" y="1217"/>
                        <a:pt x="3402" y="1250"/>
                      </a:cubicBezTo>
                      <a:cubicBezTo>
                        <a:pt x="3369" y="1296"/>
                        <a:pt x="3290" y="1352"/>
                        <a:pt x="3233" y="1386"/>
                      </a:cubicBezTo>
                      <a:cubicBezTo>
                        <a:pt x="3211" y="1408"/>
                        <a:pt x="3200" y="1431"/>
                        <a:pt x="3166" y="1442"/>
                      </a:cubicBezTo>
                      <a:cubicBezTo>
                        <a:pt x="3087" y="1521"/>
                        <a:pt x="2997" y="1577"/>
                        <a:pt x="2918" y="1645"/>
                      </a:cubicBezTo>
                      <a:lnTo>
                        <a:pt x="2749" y="1769"/>
                      </a:lnTo>
                      <a:cubicBezTo>
                        <a:pt x="2715" y="1780"/>
                        <a:pt x="2693" y="1814"/>
                        <a:pt x="2659" y="1859"/>
                      </a:cubicBezTo>
                      <a:cubicBezTo>
                        <a:pt x="2591" y="1971"/>
                        <a:pt x="2648" y="2163"/>
                        <a:pt x="2715" y="2422"/>
                      </a:cubicBezTo>
                      <a:cubicBezTo>
                        <a:pt x="2727" y="2478"/>
                        <a:pt x="2749" y="2512"/>
                        <a:pt x="2760" y="2557"/>
                      </a:cubicBezTo>
                      <a:cubicBezTo>
                        <a:pt x="2772" y="2568"/>
                        <a:pt x="2772" y="2602"/>
                        <a:pt x="2772" y="2625"/>
                      </a:cubicBezTo>
                      <a:cubicBezTo>
                        <a:pt x="2772" y="2670"/>
                        <a:pt x="2783" y="2715"/>
                        <a:pt x="2783" y="2760"/>
                      </a:cubicBezTo>
                      <a:lnTo>
                        <a:pt x="2085" y="2433"/>
                      </a:lnTo>
                      <a:cubicBezTo>
                        <a:pt x="2012" y="2402"/>
                        <a:pt x="1941" y="2389"/>
                        <a:pt x="1871" y="2389"/>
                      </a:cubicBezTo>
                      <a:cubicBezTo>
                        <a:pt x="1690" y="2389"/>
                        <a:pt x="1518" y="2476"/>
                        <a:pt x="1364" y="2557"/>
                      </a:cubicBezTo>
                      <a:cubicBezTo>
                        <a:pt x="1319" y="2591"/>
                        <a:pt x="1274" y="2613"/>
                        <a:pt x="1240" y="2625"/>
                      </a:cubicBezTo>
                      <a:cubicBezTo>
                        <a:pt x="1195" y="2647"/>
                        <a:pt x="1139" y="2670"/>
                        <a:pt x="1082" y="2703"/>
                      </a:cubicBezTo>
                      <a:cubicBezTo>
                        <a:pt x="1015" y="2726"/>
                        <a:pt x="958" y="2760"/>
                        <a:pt x="902" y="2782"/>
                      </a:cubicBezTo>
                      <a:cubicBezTo>
                        <a:pt x="913" y="2715"/>
                        <a:pt x="925" y="2625"/>
                        <a:pt x="958" y="2546"/>
                      </a:cubicBezTo>
                      <a:cubicBezTo>
                        <a:pt x="970" y="2489"/>
                        <a:pt x="981" y="2422"/>
                        <a:pt x="1003" y="2366"/>
                      </a:cubicBezTo>
                      <a:cubicBezTo>
                        <a:pt x="1015" y="2309"/>
                        <a:pt x="1026" y="2264"/>
                        <a:pt x="1037" y="2219"/>
                      </a:cubicBezTo>
                      <a:cubicBezTo>
                        <a:pt x="1060" y="2163"/>
                        <a:pt x="1071" y="2118"/>
                        <a:pt x="1082" y="2061"/>
                      </a:cubicBezTo>
                      <a:cubicBezTo>
                        <a:pt x="1127" y="1836"/>
                        <a:pt x="902" y="1690"/>
                        <a:pt x="733" y="1555"/>
                      </a:cubicBezTo>
                      <a:cubicBezTo>
                        <a:pt x="688" y="1532"/>
                        <a:pt x="643" y="1498"/>
                        <a:pt x="620" y="1476"/>
                      </a:cubicBezTo>
                      <a:lnTo>
                        <a:pt x="350" y="1250"/>
                      </a:lnTo>
                      <a:cubicBezTo>
                        <a:pt x="406" y="1250"/>
                        <a:pt x="463" y="1228"/>
                        <a:pt x="508" y="1217"/>
                      </a:cubicBezTo>
                      <a:cubicBezTo>
                        <a:pt x="553" y="1217"/>
                        <a:pt x="575" y="1205"/>
                        <a:pt x="587" y="1205"/>
                      </a:cubicBezTo>
                      <a:cubicBezTo>
                        <a:pt x="632" y="1194"/>
                        <a:pt x="699" y="1194"/>
                        <a:pt x="778" y="1194"/>
                      </a:cubicBezTo>
                      <a:cubicBezTo>
                        <a:pt x="1060" y="1183"/>
                        <a:pt x="1262" y="1160"/>
                        <a:pt x="1375" y="1082"/>
                      </a:cubicBezTo>
                      <a:cubicBezTo>
                        <a:pt x="1476" y="991"/>
                        <a:pt x="1533" y="868"/>
                        <a:pt x="1589" y="755"/>
                      </a:cubicBezTo>
                      <a:cubicBezTo>
                        <a:pt x="1600" y="710"/>
                        <a:pt x="1634" y="676"/>
                        <a:pt x="1645" y="642"/>
                      </a:cubicBezTo>
                      <a:cubicBezTo>
                        <a:pt x="1679" y="597"/>
                        <a:pt x="1702" y="541"/>
                        <a:pt x="1735" y="485"/>
                      </a:cubicBezTo>
                      <a:cubicBezTo>
                        <a:pt x="1769" y="417"/>
                        <a:pt x="1803" y="349"/>
                        <a:pt x="1848" y="293"/>
                      </a:cubicBezTo>
                      <a:close/>
                      <a:moveTo>
                        <a:pt x="1814" y="0"/>
                      </a:moveTo>
                      <a:lnTo>
                        <a:pt x="1769" y="34"/>
                      </a:lnTo>
                      <a:cubicBezTo>
                        <a:pt x="1657" y="135"/>
                        <a:pt x="1589" y="293"/>
                        <a:pt x="1533" y="417"/>
                      </a:cubicBezTo>
                      <a:cubicBezTo>
                        <a:pt x="1499" y="462"/>
                        <a:pt x="1488" y="518"/>
                        <a:pt x="1465" y="563"/>
                      </a:cubicBezTo>
                      <a:cubicBezTo>
                        <a:pt x="1431" y="586"/>
                        <a:pt x="1420" y="642"/>
                        <a:pt x="1386" y="687"/>
                      </a:cubicBezTo>
                      <a:cubicBezTo>
                        <a:pt x="1353" y="777"/>
                        <a:pt x="1296" y="901"/>
                        <a:pt x="1240" y="935"/>
                      </a:cubicBezTo>
                      <a:cubicBezTo>
                        <a:pt x="1184" y="991"/>
                        <a:pt x="913" y="991"/>
                        <a:pt x="778" y="1003"/>
                      </a:cubicBezTo>
                      <a:cubicBezTo>
                        <a:pt x="699" y="1003"/>
                        <a:pt x="632" y="1025"/>
                        <a:pt x="575" y="1025"/>
                      </a:cubicBezTo>
                      <a:cubicBezTo>
                        <a:pt x="542" y="1025"/>
                        <a:pt x="519" y="1025"/>
                        <a:pt x="463" y="1036"/>
                      </a:cubicBezTo>
                      <a:cubicBezTo>
                        <a:pt x="384" y="1048"/>
                        <a:pt x="170" y="1093"/>
                        <a:pt x="114" y="1093"/>
                      </a:cubicBezTo>
                      <a:cubicBezTo>
                        <a:pt x="114" y="1093"/>
                        <a:pt x="136" y="1093"/>
                        <a:pt x="147" y="1104"/>
                      </a:cubicBezTo>
                      <a:lnTo>
                        <a:pt x="1" y="1250"/>
                      </a:lnTo>
                      <a:lnTo>
                        <a:pt x="451" y="1611"/>
                      </a:lnTo>
                      <a:cubicBezTo>
                        <a:pt x="497" y="1656"/>
                        <a:pt x="530" y="1690"/>
                        <a:pt x="575" y="1712"/>
                      </a:cubicBezTo>
                      <a:cubicBezTo>
                        <a:pt x="722" y="1814"/>
                        <a:pt x="891" y="1926"/>
                        <a:pt x="857" y="2039"/>
                      </a:cubicBezTo>
                      <a:cubicBezTo>
                        <a:pt x="846" y="2073"/>
                        <a:pt x="834" y="2140"/>
                        <a:pt x="812" y="2174"/>
                      </a:cubicBezTo>
                      <a:cubicBezTo>
                        <a:pt x="801" y="2230"/>
                        <a:pt x="789" y="2275"/>
                        <a:pt x="778" y="2332"/>
                      </a:cubicBezTo>
                      <a:lnTo>
                        <a:pt x="733" y="2501"/>
                      </a:lnTo>
                      <a:cubicBezTo>
                        <a:pt x="688" y="2647"/>
                        <a:pt x="643" y="2782"/>
                        <a:pt x="665" y="2940"/>
                      </a:cubicBezTo>
                      <a:lnTo>
                        <a:pt x="677" y="3053"/>
                      </a:lnTo>
                      <a:lnTo>
                        <a:pt x="801" y="3053"/>
                      </a:lnTo>
                      <a:cubicBezTo>
                        <a:pt x="925" y="3019"/>
                        <a:pt x="1060" y="2951"/>
                        <a:pt x="1184" y="2895"/>
                      </a:cubicBezTo>
                      <a:cubicBezTo>
                        <a:pt x="1229" y="2872"/>
                        <a:pt x="1285" y="2850"/>
                        <a:pt x="1319" y="2827"/>
                      </a:cubicBezTo>
                      <a:cubicBezTo>
                        <a:pt x="1364" y="2816"/>
                        <a:pt x="1420" y="2782"/>
                        <a:pt x="1465" y="2760"/>
                      </a:cubicBezTo>
                      <a:cubicBezTo>
                        <a:pt x="1609" y="2684"/>
                        <a:pt x="1733" y="2627"/>
                        <a:pt x="1848" y="2627"/>
                      </a:cubicBezTo>
                      <a:cubicBezTo>
                        <a:pt x="1887" y="2627"/>
                        <a:pt x="1924" y="2633"/>
                        <a:pt x="1961" y="2647"/>
                      </a:cubicBezTo>
                      <a:lnTo>
                        <a:pt x="2884" y="3064"/>
                      </a:lnTo>
                      <a:lnTo>
                        <a:pt x="2986" y="2895"/>
                      </a:lnTo>
                      <a:cubicBezTo>
                        <a:pt x="3008" y="2906"/>
                        <a:pt x="3031" y="2929"/>
                        <a:pt x="3031" y="2929"/>
                      </a:cubicBezTo>
                      <a:cubicBezTo>
                        <a:pt x="3008" y="2884"/>
                        <a:pt x="2986" y="2703"/>
                        <a:pt x="2986" y="2647"/>
                      </a:cubicBezTo>
                      <a:cubicBezTo>
                        <a:pt x="2974" y="2602"/>
                        <a:pt x="2974" y="2568"/>
                        <a:pt x="2974" y="2557"/>
                      </a:cubicBezTo>
                      <a:cubicBezTo>
                        <a:pt x="2974" y="2534"/>
                        <a:pt x="2941" y="2478"/>
                        <a:pt x="2929" y="2399"/>
                      </a:cubicBezTo>
                      <a:cubicBezTo>
                        <a:pt x="2896" y="2275"/>
                        <a:pt x="2817" y="2039"/>
                        <a:pt x="2862" y="1971"/>
                      </a:cubicBezTo>
                      <a:cubicBezTo>
                        <a:pt x="2873" y="1971"/>
                        <a:pt x="2884" y="1949"/>
                        <a:pt x="2896" y="1938"/>
                      </a:cubicBezTo>
                      <a:lnTo>
                        <a:pt x="3065" y="1814"/>
                      </a:lnTo>
                      <a:cubicBezTo>
                        <a:pt x="3166" y="1746"/>
                        <a:pt x="3256" y="1667"/>
                        <a:pt x="3335" y="1600"/>
                      </a:cubicBezTo>
                      <a:cubicBezTo>
                        <a:pt x="3369" y="1588"/>
                        <a:pt x="3380" y="1555"/>
                        <a:pt x="3402" y="1543"/>
                      </a:cubicBezTo>
                      <a:cubicBezTo>
                        <a:pt x="3515" y="1442"/>
                        <a:pt x="3661" y="1352"/>
                        <a:pt x="3707" y="1217"/>
                      </a:cubicBezTo>
                      <a:lnTo>
                        <a:pt x="3729" y="1138"/>
                      </a:lnTo>
                      <a:lnTo>
                        <a:pt x="3628" y="1104"/>
                      </a:lnTo>
                      <a:cubicBezTo>
                        <a:pt x="3436" y="1036"/>
                        <a:pt x="3222" y="1025"/>
                        <a:pt x="3031" y="1025"/>
                      </a:cubicBezTo>
                      <a:cubicBezTo>
                        <a:pt x="2839" y="1003"/>
                        <a:pt x="2659" y="1003"/>
                        <a:pt x="2501" y="946"/>
                      </a:cubicBezTo>
                      <a:cubicBezTo>
                        <a:pt x="2411" y="924"/>
                        <a:pt x="2321" y="721"/>
                        <a:pt x="2265" y="597"/>
                      </a:cubicBezTo>
                      <a:cubicBezTo>
                        <a:pt x="2254" y="563"/>
                        <a:pt x="2220" y="507"/>
                        <a:pt x="2209" y="473"/>
                      </a:cubicBezTo>
                      <a:cubicBezTo>
                        <a:pt x="1972" y="23"/>
                        <a:pt x="1916" y="11"/>
                        <a:pt x="1871" y="11"/>
                      </a:cubicBezTo>
                      <a:lnTo>
                        <a:pt x="181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1" name="Google Shape;121;p27"/>
          <p:cNvSpPr/>
          <p:nvPr/>
        </p:nvSpPr>
        <p:spPr>
          <a:xfrm>
            <a:off x="2922047" y="1062523"/>
            <a:ext cx="573197" cy="419316"/>
          </a:xfrm>
          <a:custGeom>
            <a:avLst/>
            <a:gdLst/>
            <a:ahLst/>
            <a:cxnLst/>
            <a:rect l="l" t="t" r="r" b="b"/>
            <a:pathLst>
              <a:path w="13894" h="10164" extrusionOk="0">
                <a:moveTo>
                  <a:pt x="11341" y="1216"/>
                </a:moveTo>
                <a:cubicBezTo>
                  <a:pt x="13119" y="1404"/>
                  <a:pt x="11299" y="3120"/>
                  <a:pt x="11069" y="3371"/>
                </a:cubicBezTo>
                <a:cubicBezTo>
                  <a:pt x="10818" y="3643"/>
                  <a:pt x="10525" y="3915"/>
                  <a:pt x="10232" y="4208"/>
                </a:cubicBezTo>
                <a:lnTo>
                  <a:pt x="10148" y="4271"/>
                </a:lnTo>
                <a:cubicBezTo>
                  <a:pt x="10005" y="4037"/>
                  <a:pt x="9707" y="3881"/>
                  <a:pt x="9374" y="3881"/>
                </a:cubicBezTo>
                <a:cubicBezTo>
                  <a:pt x="9319" y="3881"/>
                  <a:pt x="9263" y="3885"/>
                  <a:pt x="9207" y="3894"/>
                </a:cubicBezTo>
                <a:cubicBezTo>
                  <a:pt x="9179" y="3875"/>
                  <a:pt x="9146" y="3865"/>
                  <a:pt x="9113" y="3865"/>
                </a:cubicBezTo>
                <a:cubicBezTo>
                  <a:pt x="9073" y="3865"/>
                  <a:pt x="9032" y="3881"/>
                  <a:pt x="8998" y="3915"/>
                </a:cubicBezTo>
                <a:cubicBezTo>
                  <a:pt x="7951" y="4878"/>
                  <a:pt x="6863" y="5736"/>
                  <a:pt x="5629" y="6468"/>
                </a:cubicBezTo>
                <a:cubicBezTo>
                  <a:pt x="5587" y="6510"/>
                  <a:pt x="5545" y="6552"/>
                  <a:pt x="5545" y="6614"/>
                </a:cubicBezTo>
                <a:cubicBezTo>
                  <a:pt x="5399" y="6656"/>
                  <a:pt x="5231" y="6719"/>
                  <a:pt x="5085" y="6719"/>
                </a:cubicBezTo>
                <a:cubicBezTo>
                  <a:pt x="4750" y="6677"/>
                  <a:pt x="4352" y="6342"/>
                  <a:pt x="4583" y="6028"/>
                </a:cubicBezTo>
                <a:cubicBezTo>
                  <a:pt x="4645" y="6028"/>
                  <a:pt x="4666" y="6008"/>
                  <a:pt x="4708" y="5987"/>
                </a:cubicBezTo>
                <a:cubicBezTo>
                  <a:pt x="5733" y="4982"/>
                  <a:pt x="6801" y="4041"/>
                  <a:pt x="7951" y="3183"/>
                </a:cubicBezTo>
                <a:cubicBezTo>
                  <a:pt x="8830" y="2534"/>
                  <a:pt x="10127" y="1404"/>
                  <a:pt x="11299" y="1216"/>
                </a:cubicBezTo>
                <a:close/>
                <a:moveTo>
                  <a:pt x="11168" y="387"/>
                </a:moveTo>
                <a:cubicBezTo>
                  <a:pt x="11283" y="387"/>
                  <a:pt x="11397" y="397"/>
                  <a:pt x="11508" y="421"/>
                </a:cubicBezTo>
                <a:cubicBezTo>
                  <a:pt x="11523" y="420"/>
                  <a:pt x="11538" y="420"/>
                  <a:pt x="11553" y="420"/>
                </a:cubicBezTo>
                <a:cubicBezTo>
                  <a:pt x="11939" y="420"/>
                  <a:pt x="12193" y="680"/>
                  <a:pt x="12298" y="1128"/>
                </a:cubicBezTo>
                <a:lnTo>
                  <a:pt x="12298" y="1128"/>
                </a:lnTo>
                <a:cubicBezTo>
                  <a:pt x="12195" y="1046"/>
                  <a:pt x="12059" y="977"/>
                  <a:pt x="11885" y="923"/>
                </a:cubicBezTo>
                <a:cubicBezTo>
                  <a:pt x="11864" y="839"/>
                  <a:pt x="11801" y="798"/>
                  <a:pt x="11697" y="798"/>
                </a:cubicBezTo>
                <a:cubicBezTo>
                  <a:pt x="11662" y="796"/>
                  <a:pt x="11628" y="795"/>
                  <a:pt x="11594" y="795"/>
                </a:cubicBezTo>
                <a:cubicBezTo>
                  <a:pt x="10352" y="795"/>
                  <a:pt x="9117" y="1884"/>
                  <a:pt x="8140" y="2576"/>
                </a:cubicBezTo>
                <a:cubicBezTo>
                  <a:pt x="6842" y="3497"/>
                  <a:pt x="5629" y="4543"/>
                  <a:pt x="4499" y="5631"/>
                </a:cubicBezTo>
                <a:cubicBezTo>
                  <a:pt x="4457" y="5631"/>
                  <a:pt x="4394" y="5631"/>
                  <a:pt x="4373" y="5694"/>
                </a:cubicBezTo>
                <a:cubicBezTo>
                  <a:pt x="4018" y="6049"/>
                  <a:pt x="4122" y="6677"/>
                  <a:pt x="4562" y="6949"/>
                </a:cubicBezTo>
                <a:cubicBezTo>
                  <a:pt x="4734" y="7051"/>
                  <a:pt x="4915" y="7093"/>
                  <a:pt x="5100" y="7093"/>
                </a:cubicBezTo>
                <a:cubicBezTo>
                  <a:pt x="5521" y="7093"/>
                  <a:pt x="5955" y="6874"/>
                  <a:pt x="6319" y="6656"/>
                </a:cubicBezTo>
                <a:cubicBezTo>
                  <a:pt x="6382" y="6593"/>
                  <a:pt x="6403" y="6531"/>
                  <a:pt x="6382" y="6447"/>
                </a:cubicBezTo>
                <a:cubicBezTo>
                  <a:pt x="7386" y="5798"/>
                  <a:pt x="8349" y="5066"/>
                  <a:pt x="9207" y="4229"/>
                </a:cubicBezTo>
                <a:lnTo>
                  <a:pt x="9290" y="4229"/>
                </a:lnTo>
                <a:cubicBezTo>
                  <a:pt x="9324" y="4220"/>
                  <a:pt x="9358" y="4216"/>
                  <a:pt x="9391" y="4216"/>
                </a:cubicBezTo>
                <a:cubicBezTo>
                  <a:pt x="9590" y="4216"/>
                  <a:pt x="9787" y="4364"/>
                  <a:pt x="9876" y="4543"/>
                </a:cubicBezTo>
                <a:cubicBezTo>
                  <a:pt x="9374" y="5003"/>
                  <a:pt x="8851" y="5484"/>
                  <a:pt x="8328" y="5924"/>
                </a:cubicBezTo>
                <a:cubicBezTo>
                  <a:pt x="7951" y="6238"/>
                  <a:pt x="7386" y="6761"/>
                  <a:pt x="6759" y="7284"/>
                </a:cubicBezTo>
                <a:cubicBezTo>
                  <a:pt x="6742" y="7278"/>
                  <a:pt x="6725" y="7276"/>
                  <a:pt x="6708" y="7276"/>
                </a:cubicBezTo>
                <a:cubicBezTo>
                  <a:pt x="6662" y="7276"/>
                  <a:pt x="6616" y="7295"/>
                  <a:pt x="6570" y="7326"/>
                </a:cubicBezTo>
                <a:cubicBezTo>
                  <a:pt x="6240" y="7626"/>
                  <a:pt x="5823" y="7765"/>
                  <a:pt x="5389" y="7765"/>
                </a:cubicBezTo>
                <a:cubicBezTo>
                  <a:pt x="5219" y="7765"/>
                  <a:pt x="5047" y="7744"/>
                  <a:pt x="4876" y="7702"/>
                </a:cubicBezTo>
                <a:cubicBezTo>
                  <a:pt x="4185" y="7514"/>
                  <a:pt x="3244" y="6865"/>
                  <a:pt x="3808" y="6070"/>
                </a:cubicBezTo>
                <a:cubicBezTo>
                  <a:pt x="3850" y="6028"/>
                  <a:pt x="3850" y="5966"/>
                  <a:pt x="3829" y="5924"/>
                </a:cubicBezTo>
                <a:cubicBezTo>
                  <a:pt x="3913" y="5840"/>
                  <a:pt x="3976" y="5798"/>
                  <a:pt x="4039" y="5715"/>
                </a:cubicBezTo>
                <a:cubicBezTo>
                  <a:pt x="4708" y="5087"/>
                  <a:pt x="5399" y="4438"/>
                  <a:pt x="6068" y="3811"/>
                </a:cubicBezTo>
                <a:cubicBezTo>
                  <a:pt x="6173" y="3706"/>
                  <a:pt x="6131" y="3601"/>
                  <a:pt x="6047" y="3518"/>
                </a:cubicBezTo>
                <a:cubicBezTo>
                  <a:pt x="6947" y="2555"/>
                  <a:pt x="7951" y="1739"/>
                  <a:pt x="9144" y="1111"/>
                </a:cubicBezTo>
                <a:cubicBezTo>
                  <a:pt x="9719" y="788"/>
                  <a:pt x="10465" y="387"/>
                  <a:pt x="11168" y="387"/>
                </a:cubicBezTo>
                <a:close/>
                <a:moveTo>
                  <a:pt x="3244" y="6468"/>
                </a:moveTo>
                <a:lnTo>
                  <a:pt x="3244" y="6468"/>
                </a:lnTo>
                <a:cubicBezTo>
                  <a:pt x="3223" y="7137"/>
                  <a:pt x="3788" y="7702"/>
                  <a:pt x="4394" y="7932"/>
                </a:cubicBezTo>
                <a:cubicBezTo>
                  <a:pt x="4725" y="8079"/>
                  <a:pt x="5087" y="8146"/>
                  <a:pt x="5439" y="8146"/>
                </a:cubicBezTo>
                <a:cubicBezTo>
                  <a:pt x="5489" y="8146"/>
                  <a:pt x="5538" y="8144"/>
                  <a:pt x="5587" y="8142"/>
                </a:cubicBezTo>
                <a:lnTo>
                  <a:pt x="5587" y="8142"/>
                </a:lnTo>
                <a:cubicBezTo>
                  <a:pt x="4951" y="8534"/>
                  <a:pt x="4314" y="8804"/>
                  <a:pt x="3746" y="8804"/>
                </a:cubicBezTo>
                <a:cubicBezTo>
                  <a:pt x="3436" y="8804"/>
                  <a:pt x="3146" y="8724"/>
                  <a:pt x="2888" y="8539"/>
                </a:cubicBezTo>
                <a:cubicBezTo>
                  <a:pt x="2846" y="8518"/>
                  <a:pt x="2804" y="8508"/>
                  <a:pt x="2768" y="8508"/>
                </a:cubicBezTo>
                <a:cubicBezTo>
                  <a:pt x="2731" y="8508"/>
                  <a:pt x="2700" y="8518"/>
                  <a:pt x="2679" y="8539"/>
                </a:cubicBezTo>
                <a:cubicBezTo>
                  <a:pt x="2009" y="7974"/>
                  <a:pt x="2595" y="7137"/>
                  <a:pt x="3244" y="6468"/>
                </a:cubicBezTo>
                <a:close/>
                <a:moveTo>
                  <a:pt x="12398" y="1225"/>
                </a:moveTo>
                <a:lnTo>
                  <a:pt x="12398" y="1225"/>
                </a:lnTo>
                <a:cubicBezTo>
                  <a:pt x="12818" y="1560"/>
                  <a:pt x="12891" y="1918"/>
                  <a:pt x="12617" y="2367"/>
                </a:cubicBezTo>
                <a:cubicBezTo>
                  <a:pt x="12429" y="3078"/>
                  <a:pt x="12199" y="3371"/>
                  <a:pt x="11697" y="3936"/>
                </a:cubicBezTo>
                <a:cubicBezTo>
                  <a:pt x="11676" y="3957"/>
                  <a:pt x="11676" y="3957"/>
                  <a:pt x="11676" y="3999"/>
                </a:cubicBezTo>
                <a:cubicBezTo>
                  <a:pt x="10650" y="4878"/>
                  <a:pt x="9625" y="5736"/>
                  <a:pt x="8621" y="6635"/>
                </a:cubicBezTo>
                <a:cubicBezTo>
                  <a:pt x="7470" y="7619"/>
                  <a:pt x="6319" y="8769"/>
                  <a:pt x="4876" y="9376"/>
                </a:cubicBezTo>
                <a:cubicBezTo>
                  <a:pt x="4478" y="9544"/>
                  <a:pt x="4143" y="9648"/>
                  <a:pt x="3725" y="9690"/>
                </a:cubicBezTo>
                <a:cubicBezTo>
                  <a:pt x="3542" y="9708"/>
                  <a:pt x="3387" y="9720"/>
                  <a:pt x="3249" y="9720"/>
                </a:cubicBezTo>
                <a:cubicBezTo>
                  <a:pt x="2754" y="9720"/>
                  <a:pt x="2488" y="9574"/>
                  <a:pt x="2030" y="9083"/>
                </a:cubicBezTo>
                <a:cubicBezTo>
                  <a:pt x="1360" y="8414"/>
                  <a:pt x="1298" y="7807"/>
                  <a:pt x="1737" y="6928"/>
                </a:cubicBezTo>
                <a:cubicBezTo>
                  <a:pt x="1925" y="6572"/>
                  <a:pt x="2155" y="6259"/>
                  <a:pt x="2407" y="5987"/>
                </a:cubicBezTo>
                <a:cubicBezTo>
                  <a:pt x="3306" y="4961"/>
                  <a:pt x="4373" y="4062"/>
                  <a:pt x="5420" y="3183"/>
                </a:cubicBezTo>
                <a:cubicBezTo>
                  <a:pt x="5545" y="3267"/>
                  <a:pt x="5629" y="3392"/>
                  <a:pt x="5650" y="3539"/>
                </a:cubicBezTo>
                <a:cubicBezTo>
                  <a:pt x="5650" y="3601"/>
                  <a:pt x="5692" y="3622"/>
                  <a:pt x="5713" y="3643"/>
                </a:cubicBezTo>
                <a:cubicBezTo>
                  <a:pt x="4478" y="4731"/>
                  <a:pt x="0" y="8016"/>
                  <a:pt x="3181" y="9251"/>
                </a:cubicBezTo>
                <a:cubicBezTo>
                  <a:pt x="3202" y="9256"/>
                  <a:pt x="3221" y="9259"/>
                  <a:pt x="3240" y="9259"/>
                </a:cubicBezTo>
                <a:cubicBezTo>
                  <a:pt x="3296" y="9259"/>
                  <a:pt x="3343" y="9235"/>
                  <a:pt x="3390" y="9188"/>
                </a:cubicBezTo>
                <a:cubicBezTo>
                  <a:pt x="3525" y="9222"/>
                  <a:pt x="3662" y="9237"/>
                  <a:pt x="3798" y="9237"/>
                </a:cubicBezTo>
                <a:cubicBezTo>
                  <a:pt x="4420" y="9237"/>
                  <a:pt x="5045" y="8913"/>
                  <a:pt x="5629" y="8518"/>
                </a:cubicBezTo>
                <a:cubicBezTo>
                  <a:pt x="7073" y="7577"/>
                  <a:pt x="8433" y="6468"/>
                  <a:pt x="9688" y="5296"/>
                </a:cubicBezTo>
                <a:cubicBezTo>
                  <a:pt x="9793" y="5191"/>
                  <a:pt x="9981" y="5024"/>
                  <a:pt x="10211" y="4815"/>
                </a:cubicBezTo>
                <a:cubicBezTo>
                  <a:pt x="10253" y="4794"/>
                  <a:pt x="10295" y="4773"/>
                  <a:pt x="10316" y="4710"/>
                </a:cubicBezTo>
                <a:cubicBezTo>
                  <a:pt x="11383" y="3751"/>
                  <a:pt x="13092" y="2026"/>
                  <a:pt x="12398" y="1225"/>
                </a:cubicBezTo>
                <a:close/>
                <a:moveTo>
                  <a:pt x="11196" y="1"/>
                </a:moveTo>
                <a:cubicBezTo>
                  <a:pt x="9257" y="1"/>
                  <a:pt x="7154" y="1852"/>
                  <a:pt x="5943" y="3120"/>
                </a:cubicBezTo>
                <a:cubicBezTo>
                  <a:pt x="5838" y="2953"/>
                  <a:pt x="5692" y="2806"/>
                  <a:pt x="5482" y="2743"/>
                </a:cubicBezTo>
                <a:cubicBezTo>
                  <a:pt x="5457" y="2728"/>
                  <a:pt x="5432" y="2722"/>
                  <a:pt x="5408" y="2722"/>
                </a:cubicBezTo>
                <a:cubicBezTo>
                  <a:pt x="5331" y="2722"/>
                  <a:pt x="5263" y="2789"/>
                  <a:pt x="5231" y="2869"/>
                </a:cubicBezTo>
                <a:cubicBezTo>
                  <a:pt x="5210" y="2869"/>
                  <a:pt x="5189" y="2890"/>
                  <a:pt x="5168" y="2911"/>
                </a:cubicBezTo>
                <a:cubicBezTo>
                  <a:pt x="3829" y="4041"/>
                  <a:pt x="1842" y="5401"/>
                  <a:pt x="1235" y="7158"/>
                </a:cubicBezTo>
                <a:cubicBezTo>
                  <a:pt x="879" y="8246"/>
                  <a:pt x="1151" y="9502"/>
                  <a:pt x="2302" y="9962"/>
                </a:cubicBezTo>
                <a:cubicBezTo>
                  <a:pt x="2654" y="10102"/>
                  <a:pt x="3013" y="10163"/>
                  <a:pt x="3372" y="10163"/>
                </a:cubicBezTo>
                <a:cubicBezTo>
                  <a:pt x="4676" y="10163"/>
                  <a:pt x="5979" y="9357"/>
                  <a:pt x="6947" y="8602"/>
                </a:cubicBezTo>
                <a:cubicBezTo>
                  <a:pt x="8767" y="7179"/>
                  <a:pt x="10441" y="5589"/>
                  <a:pt x="12199" y="4062"/>
                </a:cubicBezTo>
                <a:cubicBezTo>
                  <a:pt x="12241" y="4020"/>
                  <a:pt x="12283" y="3957"/>
                  <a:pt x="12241" y="3894"/>
                </a:cubicBezTo>
                <a:cubicBezTo>
                  <a:pt x="13140" y="2660"/>
                  <a:pt x="13894" y="567"/>
                  <a:pt x="11801" y="65"/>
                </a:cubicBezTo>
                <a:cubicBezTo>
                  <a:pt x="11602" y="21"/>
                  <a:pt x="11400" y="1"/>
                  <a:pt x="11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53" name="Picture 5" descr="Free vector chubby pig farm animal cartoon sticker">
            <a:extLst>
              <a:ext uri="{FF2B5EF4-FFF2-40B4-BE49-F238E27FC236}">
                <a16:creationId xmlns:a16="http://schemas.microsoft.com/office/drawing/2014/main" xmlns="" id="{67ECAA27-CD44-096D-5B8E-81A8D6DEE8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8305" y="3225688"/>
            <a:ext cx="1417947" cy="16136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pic>
        <p:nvPicPr>
          <p:cNvPr id="41" name="Picture 40" descr="A picture containing electric blue, blue, design&#10;&#10;Description automatically generated">
            <a:extLst>
              <a:ext uri="{FF2B5EF4-FFF2-40B4-BE49-F238E27FC236}">
                <a16:creationId xmlns:a16="http://schemas.microsoft.com/office/drawing/2014/main" xmlns="" id="{A433CB9D-67EE-239F-FC3F-4AE8F3550E59}"/>
              </a:ext>
            </a:extLst>
          </p:cNvPr>
          <p:cNvPicPr>
            <a:picLocks noChangeAspect="1"/>
          </p:cNvPicPr>
          <p:nvPr/>
        </p:nvPicPr>
        <p:blipFill>
          <a:blip r:embed="rId3"/>
          <a:stretch>
            <a:fillRect/>
          </a:stretch>
        </p:blipFill>
        <p:spPr>
          <a:xfrm>
            <a:off x="5105399" y="2927350"/>
            <a:ext cx="3324225" cy="2216150"/>
          </a:xfrm>
          <a:prstGeom prst="rect">
            <a:avLst/>
          </a:prstGeom>
        </p:spPr>
      </p:pic>
      <p:sp>
        <p:nvSpPr>
          <p:cNvPr id="817" name="Google Shape;817;p43"/>
          <p:cNvSpPr txBox="1">
            <a:spLocks noGrp="1"/>
          </p:cNvSpPr>
          <p:nvPr>
            <p:ph type="title"/>
          </p:nvPr>
        </p:nvSpPr>
        <p:spPr>
          <a:xfrm>
            <a:off x="457200" y="65664"/>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2" name="TextBox 1">
            <a:extLst>
              <a:ext uri="{FF2B5EF4-FFF2-40B4-BE49-F238E27FC236}">
                <a16:creationId xmlns:a16="http://schemas.microsoft.com/office/drawing/2014/main" xmlns="" id="{F8CDE6C9-CDA5-E997-D709-85C192FD7A61}"/>
              </a:ext>
            </a:extLst>
          </p:cNvPr>
          <p:cNvSpPr txBox="1"/>
          <p:nvPr/>
        </p:nvSpPr>
        <p:spPr>
          <a:xfrm>
            <a:off x="1249680" y="716280"/>
            <a:ext cx="7101840" cy="746760"/>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xmlns="" id="{8B4E0C48-1E1D-EE42-AC26-1355BFFB0500}"/>
              </a:ext>
            </a:extLst>
          </p:cNvPr>
          <p:cNvSpPr txBox="1"/>
          <p:nvPr/>
        </p:nvSpPr>
        <p:spPr>
          <a:xfrm>
            <a:off x="457200" y="755869"/>
            <a:ext cx="5951220" cy="3930371"/>
          </a:xfrm>
          <a:prstGeom prst="rect">
            <a:avLst/>
          </a:prstGeom>
          <a:noFill/>
        </p:spPr>
        <p:txBody>
          <a:bodyPr wrap="square" rtlCol="0">
            <a:spAutoFit/>
          </a:bodyPr>
          <a:lstStyle/>
          <a:p>
            <a:pPr>
              <a:lnSpc>
                <a:spcPct val="150000"/>
              </a:lnSpc>
            </a:pPr>
            <a:r>
              <a:rPr lang="en-US" dirty="0"/>
              <a:t>Post-weaning diarrhea (PWD) is a significant issue in pig farming worldwide, causing increased mortality, weight loss, retarded growth, and higher treatment costs. E-coli is the primary cause of PWD, and the current control strategy involves the use of antimicrobials. However, the emergence of antimicrobial resistance in E. coli necessitates alternative control strategies such as dietary fiber and reduced crude protein levels. Additionally, the use of zinc oxide (</a:t>
            </a:r>
            <a:r>
              <a:rPr lang="en-US" dirty="0" err="1"/>
              <a:t>ZnO</a:t>
            </a:r>
            <a:r>
              <a:rPr lang="en-US" dirty="0"/>
              <a:t>) has shown positive effects in controlling the disease. This study aims to compare the effects of different treatments on periods of ADWG0021, ADWG2150, ADWG0050: average daily weight gain (g/day) in the period between 0- and 21-days post-weaning, between day 21 and day 50 post-weaning and in the period between 0 and 50 days post-weaning, respectively.</a:t>
            </a:r>
          </a:p>
        </p:txBody>
      </p:sp>
    </p:spTree>
    <p:extLst>
      <p:ext uri="{BB962C8B-B14F-4D97-AF65-F5344CB8AC3E}">
        <p14:creationId xmlns:p14="http://schemas.microsoft.com/office/powerpoint/2010/main" val="1960738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pic>
        <p:nvPicPr>
          <p:cNvPr id="402" name="Google Shape;402;p34" title="Gráfico">
            <a:hlinkClick r:id="rId3"/>
          </p:cNvPr>
          <p:cNvPicPr preferRelativeResize="0"/>
          <p:nvPr/>
        </p:nvPicPr>
        <p:blipFill>
          <a:blip r:embed="rId4">
            <a:alphaModFix/>
          </a:blip>
          <a:stretch>
            <a:fillRect/>
          </a:stretch>
        </p:blipFill>
        <p:spPr>
          <a:xfrm>
            <a:off x="3241164" y="2467571"/>
            <a:ext cx="3034950" cy="1876631"/>
          </a:xfrm>
          <a:prstGeom prst="rect">
            <a:avLst/>
          </a:prstGeom>
          <a:noFill/>
          <a:ln>
            <a:noFill/>
          </a:ln>
        </p:spPr>
      </p:pic>
      <p:sp>
        <p:nvSpPr>
          <p:cNvPr id="403" name="Google Shape;403;p34"/>
          <p:cNvSpPr/>
          <p:nvPr/>
        </p:nvSpPr>
        <p:spPr>
          <a:xfrm>
            <a:off x="2538465" y="4079126"/>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2"/>
          </a:solidFill>
          <a:ln w="19050" cap="flat" cmpd="sng">
            <a:solidFill>
              <a:schemeClr val="dk1"/>
            </a:solidFill>
            <a:prstDash val="solid"/>
            <a:round/>
            <a:headEnd type="none" w="med" len="med"/>
            <a:tailEnd type="none" w="med" len="med"/>
          </a:ln>
        </p:spPr>
      </p:sp>
      <p:sp>
        <p:nvSpPr>
          <p:cNvPr id="404" name="Google Shape;404;p34"/>
          <p:cNvSpPr/>
          <p:nvPr/>
        </p:nvSpPr>
        <p:spPr>
          <a:xfrm>
            <a:off x="2536415" y="2989176"/>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sp>
      <p:sp>
        <p:nvSpPr>
          <p:cNvPr id="405" name="Google Shape;405;p34"/>
          <p:cNvSpPr/>
          <p:nvPr/>
        </p:nvSpPr>
        <p:spPr>
          <a:xfrm>
            <a:off x="2511027" y="1796890"/>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lt2"/>
          </a:solidFill>
          <a:ln w="19050" cap="flat" cmpd="sng">
            <a:solidFill>
              <a:schemeClr val="dk1"/>
            </a:solidFill>
            <a:prstDash val="solid"/>
            <a:round/>
            <a:headEnd type="none" w="med" len="med"/>
            <a:tailEnd type="none" w="med" len="med"/>
          </a:ln>
        </p:spPr>
      </p:sp>
      <p:sp>
        <p:nvSpPr>
          <p:cNvPr id="406" name="Google Shape;406;p34"/>
          <p:cNvSpPr/>
          <p:nvPr/>
        </p:nvSpPr>
        <p:spPr>
          <a:xfrm>
            <a:off x="6014920" y="3739725"/>
            <a:ext cx="926100" cy="92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4"/>
          <p:cNvSpPr/>
          <p:nvPr/>
        </p:nvSpPr>
        <p:spPr>
          <a:xfrm>
            <a:off x="3911902" y="2549586"/>
            <a:ext cx="1686397" cy="1683422"/>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noFill/>
          <a:ln w="19050" cap="flat" cmpd="sng">
            <a:solidFill>
              <a:schemeClr val="dk1"/>
            </a:solidFill>
            <a:prstDash val="solid"/>
            <a:round/>
            <a:headEnd type="none" w="med" len="med"/>
            <a:tailEnd type="none" w="med" len="med"/>
          </a:ln>
        </p:spPr>
      </p:sp>
      <p:sp>
        <p:nvSpPr>
          <p:cNvPr id="408" name="Google Shape;408;p34"/>
          <p:cNvSpPr/>
          <p:nvPr/>
        </p:nvSpPr>
        <p:spPr>
          <a:xfrm>
            <a:off x="6083040" y="3799651"/>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rgbClr val="B28EFC"/>
          </a:solidFill>
          <a:ln w="19050" cap="flat" cmpd="sng">
            <a:solidFill>
              <a:schemeClr val="dk1"/>
            </a:solidFill>
            <a:prstDash val="solid"/>
            <a:round/>
            <a:headEnd type="none" w="med" len="med"/>
            <a:tailEnd type="none" w="med" len="med"/>
          </a:ln>
        </p:spPr>
      </p:sp>
      <p:sp>
        <p:nvSpPr>
          <p:cNvPr id="409" name="Google Shape;409;p34"/>
          <p:cNvSpPr/>
          <p:nvPr/>
        </p:nvSpPr>
        <p:spPr>
          <a:xfrm>
            <a:off x="6091890" y="2059126"/>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sp>
      <p:sp>
        <p:nvSpPr>
          <p:cNvPr id="410" name="Google Shape;410;p34"/>
          <p:cNvSpPr/>
          <p:nvPr/>
        </p:nvSpPr>
        <p:spPr>
          <a:xfrm>
            <a:off x="3889983" y="2508448"/>
            <a:ext cx="1749300" cy="1749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4"/>
          <p:cNvSpPr txBox="1">
            <a:spLocks noGrp="1"/>
          </p:cNvSpPr>
          <p:nvPr>
            <p:ph type="title"/>
          </p:nvPr>
        </p:nvSpPr>
        <p:spPr>
          <a:xfrm>
            <a:off x="457175" y="194325"/>
            <a:ext cx="8229600" cy="572700"/>
          </a:xfrm>
          <a:prstGeom prst="rect">
            <a:avLst/>
          </a:prstGeom>
        </p:spPr>
        <p:txBody>
          <a:bodyPr spcFirstLastPara="1" wrap="square" lIns="91425" tIns="91425" rIns="91425" bIns="91425" anchor="t" anchorCtr="0">
            <a:noAutofit/>
          </a:bodyPr>
          <a:lstStyle/>
          <a:p>
            <a:pPr marL="228600" marR="0">
              <a:lnSpc>
                <a:spcPct val="150000"/>
              </a:lnSpc>
              <a:spcBef>
                <a:spcPts val="0"/>
              </a:spcBef>
              <a:spcAft>
                <a:spcPts val="800"/>
              </a:spcAft>
            </a:pPr>
            <a:r>
              <a:rPr lang="en-US" sz="2000" b="1" kern="100" spc="15" dirty="0">
                <a:effectLst/>
                <a:latin typeface="Times New Roman" panose="02020603050405020304" pitchFamily="18" charset="0"/>
                <a:ea typeface="Times New Roman" panose="02020603050405020304" pitchFamily="18" charset="0"/>
                <a:cs typeface="Arial" panose="020B0604020202020204" pitchFamily="34" charset="0"/>
              </a:rPr>
              <a:t>Dataset</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13" name="Google Shape;413;p34"/>
          <p:cNvSpPr txBox="1"/>
          <p:nvPr/>
        </p:nvSpPr>
        <p:spPr>
          <a:xfrm>
            <a:off x="1167589" y="2010625"/>
            <a:ext cx="1749165" cy="51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chemeClr val="dk1"/>
                </a:solidFill>
                <a:latin typeface="Roboto"/>
                <a:ea typeface="Roboto"/>
                <a:cs typeface="Roboto"/>
                <a:sym typeface="Roboto"/>
              </a:rPr>
              <a:t>T</a:t>
            </a:r>
            <a:r>
              <a:rPr lang="en" b="1" dirty="0">
                <a:solidFill>
                  <a:schemeClr val="dk1"/>
                </a:solidFill>
                <a:latin typeface="Roboto"/>
                <a:ea typeface="Roboto"/>
                <a:cs typeface="Roboto"/>
                <a:sym typeface="Roboto"/>
              </a:rPr>
              <a:t>otal piglets</a:t>
            </a:r>
            <a:endParaRPr b="1" dirty="0">
              <a:solidFill>
                <a:schemeClr val="dk1"/>
              </a:solidFill>
              <a:latin typeface="Roboto"/>
              <a:ea typeface="Roboto"/>
              <a:cs typeface="Roboto"/>
              <a:sym typeface="Roboto"/>
            </a:endParaRPr>
          </a:p>
        </p:txBody>
      </p:sp>
      <p:sp>
        <p:nvSpPr>
          <p:cNvPr id="416" name="Google Shape;416;p34"/>
          <p:cNvSpPr txBox="1"/>
          <p:nvPr/>
        </p:nvSpPr>
        <p:spPr>
          <a:xfrm>
            <a:off x="640209" y="4332758"/>
            <a:ext cx="2006333" cy="51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dk1"/>
                </a:solidFill>
                <a:latin typeface="Roboto"/>
                <a:ea typeface="Roboto"/>
                <a:cs typeface="Roboto"/>
                <a:sym typeface="Roboto"/>
              </a:rPr>
              <a:t>Piglet per treatment</a:t>
            </a:r>
            <a:endParaRPr b="1" dirty="0">
              <a:solidFill>
                <a:schemeClr val="dk1"/>
              </a:solidFill>
              <a:latin typeface="Roboto"/>
              <a:ea typeface="Roboto"/>
              <a:cs typeface="Roboto"/>
              <a:sym typeface="Roboto"/>
            </a:endParaRPr>
          </a:p>
        </p:txBody>
      </p:sp>
      <p:sp>
        <p:nvSpPr>
          <p:cNvPr id="419" name="Google Shape;419;p34"/>
          <p:cNvSpPr txBox="1"/>
          <p:nvPr/>
        </p:nvSpPr>
        <p:spPr>
          <a:xfrm>
            <a:off x="817568" y="3147286"/>
            <a:ext cx="1749165" cy="51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dk1"/>
                </a:solidFill>
                <a:latin typeface="Roboto"/>
                <a:ea typeface="Roboto"/>
                <a:cs typeface="Roboto"/>
                <a:sym typeface="Roboto"/>
              </a:rPr>
              <a:t>Treatment Groups</a:t>
            </a:r>
            <a:endParaRPr b="1" dirty="0">
              <a:solidFill>
                <a:schemeClr val="dk1"/>
              </a:solidFill>
              <a:latin typeface="Roboto"/>
              <a:ea typeface="Roboto"/>
              <a:cs typeface="Roboto"/>
              <a:sym typeface="Roboto"/>
            </a:endParaRPr>
          </a:p>
        </p:txBody>
      </p:sp>
      <p:sp>
        <p:nvSpPr>
          <p:cNvPr id="422" name="Google Shape;422;p34"/>
          <p:cNvSpPr txBox="1"/>
          <p:nvPr/>
        </p:nvSpPr>
        <p:spPr>
          <a:xfrm>
            <a:off x="5902033" y="2235087"/>
            <a:ext cx="1749165" cy="517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dirty="0">
                <a:solidFill>
                  <a:schemeClr val="dk1"/>
                </a:solidFill>
                <a:latin typeface="Roboto"/>
                <a:ea typeface="Roboto"/>
                <a:cs typeface="Roboto"/>
                <a:sym typeface="Roboto"/>
              </a:rPr>
              <a:t>Pen</a:t>
            </a:r>
            <a:endParaRPr b="1" dirty="0">
              <a:solidFill>
                <a:schemeClr val="dk1"/>
              </a:solidFill>
              <a:latin typeface="Roboto"/>
              <a:ea typeface="Roboto"/>
              <a:cs typeface="Roboto"/>
              <a:sym typeface="Roboto"/>
            </a:endParaRPr>
          </a:p>
        </p:txBody>
      </p:sp>
      <p:sp>
        <p:nvSpPr>
          <p:cNvPr id="425" name="Google Shape;425;p34"/>
          <p:cNvSpPr txBox="1"/>
          <p:nvPr/>
        </p:nvSpPr>
        <p:spPr>
          <a:xfrm>
            <a:off x="6860267" y="4054508"/>
            <a:ext cx="1749165" cy="517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dirty="0">
                <a:solidFill>
                  <a:schemeClr val="dk1"/>
                </a:solidFill>
                <a:latin typeface="Roboto"/>
                <a:ea typeface="Roboto"/>
                <a:cs typeface="Roboto"/>
                <a:sym typeface="Roboto"/>
              </a:rPr>
              <a:t>Piglet in each pen</a:t>
            </a:r>
            <a:endParaRPr b="1" dirty="0">
              <a:solidFill>
                <a:schemeClr val="dk1"/>
              </a:solidFill>
              <a:latin typeface="Roboto"/>
              <a:ea typeface="Roboto"/>
              <a:cs typeface="Roboto"/>
              <a:sym typeface="Roboto"/>
            </a:endParaRPr>
          </a:p>
        </p:txBody>
      </p:sp>
      <p:sp>
        <p:nvSpPr>
          <p:cNvPr id="427" name="Google Shape;427;p34"/>
          <p:cNvSpPr/>
          <p:nvPr/>
        </p:nvSpPr>
        <p:spPr>
          <a:xfrm>
            <a:off x="6024445" y="2001675"/>
            <a:ext cx="926100" cy="92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8" name="Google Shape;428;p34"/>
          <p:cNvCxnSpPr>
            <a:stCxn id="427" idx="2"/>
            <a:endCxn id="410" idx="7"/>
          </p:cNvCxnSpPr>
          <p:nvPr/>
        </p:nvCxnSpPr>
        <p:spPr>
          <a:xfrm flipH="1">
            <a:off x="5383045" y="2464725"/>
            <a:ext cx="641400" cy="300000"/>
          </a:xfrm>
          <a:prstGeom prst="curvedConnector2">
            <a:avLst/>
          </a:prstGeom>
          <a:noFill/>
          <a:ln w="19050" cap="flat" cmpd="sng">
            <a:solidFill>
              <a:schemeClr val="dk1"/>
            </a:solidFill>
            <a:prstDash val="solid"/>
            <a:round/>
            <a:headEnd type="none" w="med" len="med"/>
            <a:tailEnd type="none" w="med" len="med"/>
          </a:ln>
        </p:spPr>
      </p:cxnSp>
      <p:sp>
        <p:nvSpPr>
          <p:cNvPr id="429" name="Google Shape;429;p34"/>
          <p:cNvSpPr txBox="1"/>
          <p:nvPr/>
        </p:nvSpPr>
        <p:spPr>
          <a:xfrm>
            <a:off x="6039156" y="2311358"/>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8</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cxnSp>
        <p:nvCxnSpPr>
          <p:cNvPr id="430" name="Google Shape;430;p34"/>
          <p:cNvCxnSpPr>
            <a:stCxn id="406" idx="2"/>
            <a:endCxn id="410" idx="5"/>
          </p:cNvCxnSpPr>
          <p:nvPr/>
        </p:nvCxnSpPr>
        <p:spPr>
          <a:xfrm rot="10800000">
            <a:off x="5383120" y="4001475"/>
            <a:ext cx="631800" cy="201300"/>
          </a:xfrm>
          <a:prstGeom prst="curvedConnector2">
            <a:avLst/>
          </a:prstGeom>
          <a:noFill/>
          <a:ln w="19050" cap="flat" cmpd="sng">
            <a:solidFill>
              <a:schemeClr val="dk1"/>
            </a:solidFill>
            <a:prstDash val="solid"/>
            <a:round/>
            <a:headEnd type="none" w="med" len="med"/>
            <a:tailEnd type="none" w="med" len="med"/>
          </a:ln>
        </p:spPr>
      </p:cxnSp>
      <p:sp>
        <p:nvSpPr>
          <p:cNvPr id="431" name="Google Shape;431;p34"/>
          <p:cNvSpPr txBox="1"/>
          <p:nvPr/>
        </p:nvSpPr>
        <p:spPr>
          <a:xfrm>
            <a:off x="6029631" y="4049408"/>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16</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432" name="Google Shape;432;p34"/>
          <p:cNvSpPr/>
          <p:nvPr/>
        </p:nvSpPr>
        <p:spPr>
          <a:xfrm>
            <a:off x="2315869" y="1119375"/>
            <a:ext cx="926100" cy="92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3" name="Google Shape;433;p34"/>
          <p:cNvCxnSpPr>
            <a:stCxn id="434" idx="3"/>
            <a:endCxn id="410" idx="1"/>
          </p:cNvCxnSpPr>
          <p:nvPr/>
        </p:nvCxnSpPr>
        <p:spPr>
          <a:xfrm>
            <a:off x="3389481" y="2217021"/>
            <a:ext cx="756600" cy="547500"/>
          </a:xfrm>
          <a:prstGeom prst="curvedConnector2">
            <a:avLst/>
          </a:prstGeom>
          <a:noFill/>
          <a:ln w="19050" cap="flat" cmpd="sng">
            <a:solidFill>
              <a:schemeClr val="dk1"/>
            </a:solidFill>
            <a:prstDash val="solid"/>
            <a:round/>
            <a:headEnd type="none" w="med" len="med"/>
            <a:tailEnd type="none" w="med" len="med"/>
          </a:ln>
        </p:spPr>
      </p:cxnSp>
      <p:sp>
        <p:nvSpPr>
          <p:cNvPr id="434" name="Google Shape;434;p34"/>
          <p:cNvSpPr txBox="1"/>
          <p:nvPr/>
        </p:nvSpPr>
        <p:spPr>
          <a:xfrm>
            <a:off x="2493981" y="2085171"/>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680</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435" name="Google Shape;435;p34"/>
          <p:cNvSpPr/>
          <p:nvPr/>
        </p:nvSpPr>
        <p:spPr>
          <a:xfrm>
            <a:off x="2479270" y="2927300"/>
            <a:ext cx="926100" cy="92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p:cNvSpPr/>
          <p:nvPr/>
        </p:nvSpPr>
        <p:spPr>
          <a:xfrm>
            <a:off x="2488795" y="4023075"/>
            <a:ext cx="926100" cy="92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4"/>
          <p:cNvSpPr txBox="1"/>
          <p:nvPr/>
        </p:nvSpPr>
        <p:spPr>
          <a:xfrm>
            <a:off x="2540498" y="3258500"/>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5</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438" name="Google Shape;438;p34"/>
          <p:cNvSpPr txBox="1"/>
          <p:nvPr/>
        </p:nvSpPr>
        <p:spPr>
          <a:xfrm>
            <a:off x="2503506" y="4332758"/>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128</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cxnSp>
        <p:nvCxnSpPr>
          <p:cNvPr id="439" name="Google Shape;439;p34"/>
          <p:cNvCxnSpPr>
            <a:stCxn id="437" idx="3"/>
            <a:endCxn id="410" idx="2"/>
          </p:cNvCxnSpPr>
          <p:nvPr/>
        </p:nvCxnSpPr>
        <p:spPr>
          <a:xfrm flipV="1">
            <a:off x="3435998" y="3383098"/>
            <a:ext cx="453985" cy="7252"/>
          </a:xfrm>
          <a:prstGeom prst="curvedConnector3">
            <a:avLst>
              <a:gd name="adj1" fmla="val 50000"/>
            </a:avLst>
          </a:prstGeom>
          <a:noFill/>
          <a:ln w="19050" cap="flat" cmpd="sng">
            <a:solidFill>
              <a:schemeClr val="dk1"/>
            </a:solidFill>
            <a:prstDash val="solid"/>
            <a:round/>
            <a:headEnd type="none" w="med" len="med"/>
            <a:tailEnd type="none" w="med" len="med"/>
          </a:ln>
        </p:spPr>
      </p:cxnSp>
      <p:cxnSp>
        <p:nvCxnSpPr>
          <p:cNvPr id="440" name="Google Shape;440;p34"/>
          <p:cNvCxnSpPr>
            <a:stCxn id="438" idx="3"/>
            <a:endCxn id="410" idx="4"/>
          </p:cNvCxnSpPr>
          <p:nvPr/>
        </p:nvCxnSpPr>
        <p:spPr>
          <a:xfrm rot="10800000" flipH="1">
            <a:off x="3399006" y="4257608"/>
            <a:ext cx="1365600" cy="207000"/>
          </a:xfrm>
          <a:prstGeom prst="curvedConnector2">
            <a:avLst/>
          </a:prstGeom>
          <a:noFill/>
          <a:ln w="19050" cap="flat" cmpd="sng">
            <a:solidFill>
              <a:schemeClr val="dk1"/>
            </a:solidFill>
            <a:prstDash val="solid"/>
            <a:round/>
            <a:headEnd type="none" w="med" len="med"/>
            <a:tailEnd type="none" w="med" len="med"/>
          </a:ln>
        </p:spPr>
      </p:cxnSp>
      <p:sp>
        <p:nvSpPr>
          <p:cNvPr id="37" name="TextBox 36">
            <a:extLst>
              <a:ext uri="{FF2B5EF4-FFF2-40B4-BE49-F238E27FC236}">
                <a16:creationId xmlns:a16="http://schemas.microsoft.com/office/drawing/2014/main" xmlns="" id="{868E71EF-010E-562E-E56A-7FCECFF2C1C6}"/>
              </a:ext>
            </a:extLst>
          </p:cNvPr>
          <p:cNvSpPr txBox="1"/>
          <p:nvPr/>
        </p:nvSpPr>
        <p:spPr>
          <a:xfrm>
            <a:off x="817568" y="899160"/>
            <a:ext cx="7869207" cy="338554"/>
          </a:xfrm>
          <a:prstGeom prst="rect">
            <a:avLst/>
          </a:prstGeom>
          <a:noFill/>
        </p:spPr>
        <p:txBody>
          <a:bodyPr wrap="square" rtlCol="0">
            <a:spAutoFit/>
          </a:bodyPr>
          <a:lstStyle/>
          <a:p>
            <a:pPr algn="ctr"/>
            <a:r>
              <a:rPr lang="en-US" sz="1600" dirty="0"/>
              <a:t>We only have the total weights of the piglets living together in a pen.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p:nvPr/>
        </p:nvSpPr>
        <p:spPr>
          <a:xfrm>
            <a:off x="8106498" y="2106343"/>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2"/>
          </a:solidFill>
          <a:ln>
            <a:noFill/>
          </a:ln>
        </p:spPr>
      </p:sp>
      <p:sp>
        <p:nvSpPr>
          <p:cNvPr id="197" name="Google Shape;197;p30"/>
          <p:cNvSpPr/>
          <p:nvPr/>
        </p:nvSpPr>
        <p:spPr>
          <a:xfrm>
            <a:off x="8106498" y="3355943"/>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3"/>
          </a:solidFill>
          <a:ln>
            <a:noFill/>
          </a:ln>
        </p:spPr>
      </p:sp>
      <p:sp>
        <p:nvSpPr>
          <p:cNvPr id="198" name="Google Shape;198;p30"/>
          <p:cNvSpPr/>
          <p:nvPr/>
        </p:nvSpPr>
        <p:spPr>
          <a:xfrm>
            <a:off x="8018698" y="90669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a:noFill/>
          </a:ln>
        </p:spPr>
      </p:sp>
      <p:sp>
        <p:nvSpPr>
          <p:cNvPr id="199" name="Google Shape;199;p30"/>
          <p:cNvSpPr/>
          <p:nvPr/>
        </p:nvSpPr>
        <p:spPr>
          <a:xfrm>
            <a:off x="633553" y="1962838"/>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lt2"/>
          </a:solidFill>
          <a:ln>
            <a:noFill/>
          </a:ln>
        </p:spPr>
      </p:sp>
      <p:sp>
        <p:nvSpPr>
          <p:cNvPr id="200" name="Google Shape;200;p30"/>
          <p:cNvSpPr/>
          <p:nvPr/>
        </p:nvSpPr>
        <p:spPr>
          <a:xfrm>
            <a:off x="633553" y="3212438"/>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a:noFill/>
          </a:ln>
        </p:spPr>
      </p:sp>
      <p:sp>
        <p:nvSpPr>
          <p:cNvPr id="201" name="Google Shape;201;p30"/>
          <p:cNvSpPr/>
          <p:nvPr/>
        </p:nvSpPr>
        <p:spPr>
          <a:xfrm>
            <a:off x="633553" y="737438"/>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a:noFill/>
          </a:ln>
        </p:spPr>
      </p:sp>
      <p:sp>
        <p:nvSpPr>
          <p:cNvPr id="202" name="Google Shape;202;p30"/>
          <p:cNvSpPr/>
          <p:nvPr/>
        </p:nvSpPr>
        <p:spPr>
          <a:xfrm>
            <a:off x="8111748" y="3356874"/>
            <a:ext cx="802500" cy="802500"/>
          </a:xfrm>
          <a:prstGeom prst="arc">
            <a:avLst>
              <a:gd name="adj1" fmla="val 16200000"/>
              <a:gd name="adj2" fmla="val 2379388"/>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p:cNvSpPr/>
          <p:nvPr/>
        </p:nvSpPr>
        <p:spPr>
          <a:xfrm>
            <a:off x="8018798" y="912703"/>
            <a:ext cx="807600" cy="807600"/>
          </a:xfrm>
          <a:prstGeom prst="arc">
            <a:avLst>
              <a:gd name="adj1" fmla="val 16200000"/>
              <a:gd name="adj2" fmla="val 1325599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0"/>
          <p:cNvSpPr/>
          <p:nvPr/>
        </p:nvSpPr>
        <p:spPr>
          <a:xfrm>
            <a:off x="8109173" y="2117324"/>
            <a:ext cx="807600" cy="807600"/>
          </a:xfrm>
          <a:prstGeom prst="arc">
            <a:avLst>
              <a:gd name="adj1" fmla="val 16200000"/>
              <a:gd name="adj2" fmla="val 6947153"/>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p:cNvSpPr txBox="1">
            <a:spLocks noGrp="1"/>
          </p:cNvSpPr>
          <p:nvPr>
            <p:ph type="title"/>
          </p:nvPr>
        </p:nvSpPr>
        <p:spPr>
          <a:xfrm>
            <a:off x="830580" y="88947"/>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208" name="Google Shape;208;p30"/>
          <p:cNvSpPr txBox="1"/>
          <p:nvPr/>
        </p:nvSpPr>
        <p:spPr>
          <a:xfrm>
            <a:off x="1526427" y="976144"/>
            <a:ext cx="2393794"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Fira Sans Extra Condensed SemiBold"/>
                <a:ea typeface="Fira Sans Extra Condensed SemiBold"/>
                <a:cs typeface="Fira Sans Extra Condensed SemiBold"/>
                <a:sym typeface="Fira Sans Extra Condensed SemiBold"/>
              </a:rPr>
              <a:t>Descriptive statistics</a:t>
            </a:r>
            <a:endParaRPr sz="2000" b="1"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11" name="Google Shape;211;p30"/>
          <p:cNvSpPr txBox="1"/>
          <p:nvPr/>
        </p:nvSpPr>
        <p:spPr>
          <a:xfrm>
            <a:off x="1526427" y="2229450"/>
            <a:ext cx="1733673"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Fira Sans Extra Condensed SemiBold"/>
                <a:ea typeface="Fira Sans Extra Condensed SemiBold"/>
                <a:cs typeface="Fira Sans Extra Condensed SemiBold"/>
                <a:sym typeface="Fira Sans Extra Condensed SemiBold"/>
              </a:rPr>
              <a:t>Graphics</a:t>
            </a:r>
            <a:endParaRPr sz="2000" b="1"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24" name="Google Shape;224;p30"/>
          <p:cNvSpPr txBox="1"/>
          <p:nvPr/>
        </p:nvSpPr>
        <p:spPr>
          <a:xfrm>
            <a:off x="8018698" y="1173009"/>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4</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25" name="Google Shape;225;p30"/>
          <p:cNvSpPr txBox="1"/>
          <p:nvPr/>
        </p:nvSpPr>
        <p:spPr>
          <a:xfrm>
            <a:off x="8062528" y="2389286"/>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5</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26" name="Google Shape;226;p30"/>
          <p:cNvSpPr txBox="1"/>
          <p:nvPr/>
        </p:nvSpPr>
        <p:spPr>
          <a:xfrm>
            <a:off x="8062528" y="3626261"/>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6</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27" name="Google Shape;227;p30"/>
          <p:cNvSpPr/>
          <p:nvPr/>
        </p:nvSpPr>
        <p:spPr>
          <a:xfrm>
            <a:off x="633552" y="3210744"/>
            <a:ext cx="807600" cy="807600"/>
          </a:xfrm>
          <a:prstGeom prst="arc">
            <a:avLst>
              <a:gd name="adj1" fmla="val 16200000"/>
              <a:gd name="adj2" fmla="val 8366389"/>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0"/>
          <p:cNvSpPr/>
          <p:nvPr/>
        </p:nvSpPr>
        <p:spPr>
          <a:xfrm>
            <a:off x="633552" y="736794"/>
            <a:ext cx="807600" cy="807600"/>
          </a:xfrm>
          <a:prstGeom prst="arc">
            <a:avLst>
              <a:gd name="adj1" fmla="val 16200000"/>
              <a:gd name="adj2" fmla="val 3897946"/>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0"/>
          <p:cNvSpPr/>
          <p:nvPr/>
        </p:nvSpPr>
        <p:spPr>
          <a:xfrm>
            <a:off x="633652" y="1973869"/>
            <a:ext cx="807600" cy="807600"/>
          </a:xfrm>
          <a:prstGeom prst="arc">
            <a:avLst>
              <a:gd name="adj1" fmla="val 16200000"/>
              <a:gd name="adj2" fmla="val 20951383"/>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p:cNvSpPr txBox="1"/>
          <p:nvPr/>
        </p:nvSpPr>
        <p:spPr>
          <a:xfrm>
            <a:off x="550739" y="1016434"/>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1</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31" name="Google Shape;231;p30"/>
          <p:cNvSpPr txBox="1"/>
          <p:nvPr/>
        </p:nvSpPr>
        <p:spPr>
          <a:xfrm>
            <a:off x="586957" y="2245781"/>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2</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32" name="Google Shape;232;p30"/>
          <p:cNvSpPr txBox="1"/>
          <p:nvPr/>
        </p:nvSpPr>
        <p:spPr>
          <a:xfrm>
            <a:off x="586957" y="3482756"/>
            <a:ext cx="89550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3</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2" name="Google Shape;208;p30">
            <a:extLst>
              <a:ext uri="{FF2B5EF4-FFF2-40B4-BE49-F238E27FC236}">
                <a16:creationId xmlns:a16="http://schemas.microsoft.com/office/drawing/2014/main" xmlns="" id="{43A46C3E-A54D-4BC2-C2C1-1A849437BDF7}"/>
              </a:ext>
            </a:extLst>
          </p:cNvPr>
          <p:cNvSpPr txBox="1"/>
          <p:nvPr/>
        </p:nvSpPr>
        <p:spPr>
          <a:xfrm>
            <a:off x="1526427" y="3482756"/>
            <a:ext cx="2393794"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chemeClr val="dk1"/>
                </a:solidFill>
                <a:latin typeface="Fira Sans Extra Condensed SemiBold"/>
                <a:ea typeface="Fira Sans Extra Condensed SemiBold"/>
                <a:cs typeface="Fira Sans Extra Condensed SemiBold"/>
                <a:sym typeface="Fira Sans Extra Condensed SemiBold"/>
              </a:rPr>
              <a:t>O</a:t>
            </a:r>
            <a:r>
              <a:rPr lang="en" sz="2000" b="1" dirty="0">
                <a:solidFill>
                  <a:schemeClr val="dk1"/>
                </a:solidFill>
                <a:latin typeface="Fira Sans Extra Condensed SemiBold"/>
                <a:ea typeface="Fira Sans Extra Condensed SemiBold"/>
                <a:cs typeface="Fira Sans Extra Condensed SemiBold"/>
                <a:sym typeface="Fira Sans Extra Condensed SemiBold"/>
              </a:rPr>
              <a:t>utlier detection</a:t>
            </a:r>
            <a:endParaRPr sz="2000" b="1"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3" name="Google Shape;211;p30">
            <a:extLst>
              <a:ext uri="{FF2B5EF4-FFF2-40B4-BE49-F238E27FC236}">
                <a16:creationId xmlns:a16="http://schemas.microsoft.com/office/drawing/2014/main" xmlns="" id="{F50E2389-AE0B-302C-7C1E-1D9063CF55CA}"/>
              </a:ext>
            </a:extLst>
          </p:cNvPr>
          <p:cNvSpPr txBox="1"/>
          <p:nvPr/>
        </p:nvSpPr>
        <p:spPr>
          <a:xfrm>
            <a:off x="5747324" y="1249920"/>
            <a:ext cx="2191186"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Fira Sans Extra Condensed SemiBold"/>
                <a:ea typeface="Fira Sans Extra Condensed SemiBold"/>
                <a:cs typeface="Fira Sans Extra Condensed SemiBold"/>
                <a:sym typeface="Fira Sans Extra Condensed SemiBold"/>
              </a:rPr>
              <a:t>Testing normality, homoscadicity</a:t>
            </a:r>
            <a:endParaRPr sz="2000" b="1"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4" name="Google Shape;208;p30">
            <a:extLst>
              <a:ext uri="{FF2B5EF4-FFF2-40B4-BE49-F238E27FC236}">
                <a16:creationId xmlns:a16="http://schemas.microsoft.com/office/drawing/2014/main" xmlns="" id="{53F94C44-1FD9-6949-FA3D-75D4C81F3B88}"/>
              </a:ext>
            </a:extLst>
          </p:cNvPr>
          <p:cNvSpPr txBox="1"/>
          <p:nvPr/>
        </p:nvSpPr>
        <p:spPr>
          <a:xfrm>
            <a:off x="5773403" y="2343947"/>
            <a:ext cx="2393794"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Fira Sans Extra Condensed SemiBold"/>
                <a:ea typeface="Fira Sans Extra Condensed SemiBold"/>
                <a:cs typeface="Fira Sans Extra Condensed SemiBold"/>
                <a:sym typeface="Fira Sans Extra Condensed SemiBold"/>
              </a:rPr>
              <a:t>Statistical inference</a:t>
            </a:r>
            <a:endParaRPr sz="2000" b="1"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5" name="Google Shape;208;p30">
            <a:extLst>
              <a:ext uri="{FF2B5EF4-FFF2-40B4-BE49-F238E27FC236}">
                <a16:creationId xmlns:a16="http://schemas.microsoft.com/office/drawing/2014/main" xmlns="" id="{583BCFB0-31A3-0FA1-91E5-9264FECC1B8D}"/>
              </a:ext>
            </a:extLst>
          </p:cNvPr>
          <p:cNvSpPr txBox="1"/>
          <p:nvPr/>
        </p:nvSpPr>
        <p:spPr>
          <a:xfrm>
            <a:off x="5854004" y="3477556"/>
            <a:ext cx="2393794"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Fira Sans Extra Condensed SemiBold"/>
                <a:ea typeface="Fira Sans Extra Condensed SemiBold"/>
                <a:cs typeface="Fira Sans Extra Condensed SemiBold"/>
                <a:sym typeface="Fira Sans Extra Condensed SemiBold"/>
              </a:rPr>
              <a:t>Hypothesis testing</a:t>
            </a:r>
            <a:endParaRPr sz="2000" b="1"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6" name="Google Shape;208;p30">
            <a:extLst>
              <a:ext uri="{FF2B5EF4-FFF2-40B4-BE49-F238E27FC236}">
                <a16:creationId xmlns:a16="http://schemas.microsoft.com/office/drawing/2014/main" xmlns="" id="{95EAD766-DBBA-72DB-51A3-28640E6574C3}"/>
              </a:ext>
            </a:extLst>
          </p:cNvPr>
          <p:cNvSpPr txBox="1"/>
          <p:nvPr/>
        </p:nvSpPr>
        <p:spPr>
          <a:xfrm>
            <a:off x="3920221" y="4330752"/>
            <a:ext cx="2393794"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chemeClr val="dk1"/>
                </a:solidFill>
                <a:latin typeface="Fira Sans Extra Condensed SemiBold"/>
                <a:ea typeface="Fira Sans Extra Condensed SemiBold"/>
                <a:cs typeface="Fira Sans Extra Condensed SemiBold"/>
                <a:sym typeface="Fira Sans Extra Condensed SemiBold"/>
              </a:rPr>
              <a:t>L</a:t>
            </a:r>
            <a:r>
              <a:rPr lang="en" sz="2000" b="1" dirty="0">
                <a:solidFill>
                  <a:schemeClr val="dk1"/>
                </a:solidFill>
                <a:latin typeface="Fira Sans Extra Condensed SemiBold"/>
                <a:ea typeface="Fira Sans Extra Condensed SemiBold"/>
                <a:cs typeface="Fira Sans Extra Condensed SemiBold"/>
                <a:sym typeface="Fira Sans Extra Condensed SemiBold"/>
              </a:rPr>
              <a:t>inear model</a:t>
            </a:r>
            <a:endParaRPr sz="2000" b="1"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8" name="Google Shape;201;p30">
            <a:extLst>
              <a:ext uri="{FF2B5EF4-FFF2-40B4-BE49-F238E27FC236}">
                <a16:creationId xmlns:a16="http://schemas.microsoft.com/office/drawing/2014/main" xmlns="" id="{67739575-C2E5-E383-9730-A40834249418}"/>
              </a:ext>
            </a:extLst>
          </p:cNvPr>
          <p:cNvSpPr/>
          <p:nvPr/>
        </p:nvSpPr>
        <p:spPr>
          <a:xfrm>
            <a:off x="3112471" y="4167356"/>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a:noFill/>
          </a:ln>
        </p:spPr>
      </p:sp>
      <p:sp>
        <p:nvSpPr>
          <p:cNvPr id="9" name="Google Shape;227;p30">
            <a:extLst>
              <a:ext uri="{FF2B5EF4-FFF2-40B4-BE49-F238E27FC236}">
                <a16:creationId xmlns:a16="http://schemas.microsoft.com/office/drawing/2014/main" xmlns="" id="{A32CCBF8-5AB0-004D-3734-C7A647843EA6}"/>
              </a:ext>
            </a:extLst>
          </p:cNvPr>
          <p:cNvSpPr/>
          <p:nvPr/>
        </p:nvSpPr>
        <p:spPr>
          <a:xfrm>
            <a:off x="3112421" y="4167356"/>
            <a:ext cx="807600" cy="807600"/>
          </a:xfrm>
          <a:prstGeom prst="arc">
            <a:avLst>
              <a:gd name="adj1" fmla="val 16200000"/>
              <a:gd name="adj2" fmla="val 8366389"/>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xmlns="" id="{7BF65BA4-904B-5306-BCFE-C0DAF7980C55}"/>
              </a:ext>
            </a:extLst>
          </p:cNvPr>
          <p:cNvSpPr txBox="1"/>
          <p:nvPr/>
        </p:nvSpPr>
        <p:spPr>
          <a:xfrm>
            <a:off x="3315851" y="4330752"/>
            <a:ext cx="327334" cy="400110"/>
          </a:xfrm>
          <a:prstGeom prst="rect">
            <a:avLst/>
          </a:prstGeom>
          <a:noFill/>
        </p:spPr>
        <p:txBody>
          <a:bodyPr wrap="none" rtlCol="0">
            <a:spAutoFit/>
          </a:bodyPr>
          <a:lstStyle/>
          <a:p>
            <a:r>
              <a:rPr lang="en-US" sz="2000" b="1" dirty="0"/>
              <a:t>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Descriptive statistics </a:t>
            </a:r>
            <a:endParaRPr lang="en-US" dirty="0">
              <a:solidFill>
                <a:srgbClr val="FF0000"/>
              </a:solidFill>
            </a:endParaRPr>
          </a:p>
        </p:txBody>
      </p:sp>
      <p:sp>
        <p:nvSpPr>
          <p:cNvPr id="3" name="Text Placeholder 2"/>
          <p:cNvSpPr>
            <a:spLocks noGrp="1"/>
          </p:cNvSpPr>
          <p:nvPr>
            <p:ph type="body" idx="1"/>
          </p:nvPr>
        </p:nvSpPr>
        <p:spPr/>
        <p:txBody>
          <a:bodyPr/>
          <a:lstStyle/>
          <a:p>
            <a:pPr lvl="0"/>
            <a:r>
              <a:rPr lang="en-US" dirty="0"/>
              <a:t>We summarized our data and we found two categorical variables (Sex, Treatment). We calculated the mean, median, minimum, maximum, first and third quartile for each variable</a:t>
            </a:r>
            <a:r>
              <a:rPr lang="en-US" dirty="0" smtClean="0"/>
              <a:t>.</a:t>
            </a:r>
          </a:p>
          <a:p>
            <a:pPr lvl="0"/>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531" y="1892283"/>
            <a:ext cx="6687483" cy="2314898"/>
          </a:xfrm>
          <a:prstGeom prst="rect">
            <a:avLst/>
          </a:prstGeom>
        </p:spPr>
      </p:pic>
    </p:spTree>
    <p:extLst>
      <p:ext uri="{BB962C8B-B14F-4D97-AF65-F5344CB8AC3E}">
        <p14:creationId xmlns:p14="http://schemas.microsoft.com/office/powerpoint/2010/main" val="4193198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1600" dirty="0">
                <a:latin typeface="Calibri" panose="020F0502020204030204" pitchFamily="34" charset="0"/>
                <a:cs typeface="Calibri" panose="020F0502020204030204" pitchFamily="34" charset="0"/>
              </a:rPr>
              <a:t>Then we calculated the frequency table for the categorical variables</a:t>
            </a:r>
            <a:r>
              <a:rPr lang="en-US" sz="1600" dirty="0" smtClean="0">
                <a:latin typeface="Calibri" panose="020F0502020204030204" pitchFamily="34" charset="0"/>
                <a:cs typeface="Calibri" panose="020F0502020204030204" pitchFamily="34" charset="0"/>
              </a:rPr>
              <a:t>.</a:t>
            </a: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There is a positive relationship between (ADWG0021 and ADWG2150) and (ADWG0021and ADWG0050</a:t>
            </a:r>
            <a:r>
              <a:rPr lang="en-US" sz="1600" dirty="0" smtClean="0">
                <a:latin typeface="Calibri" panose="020F0502020204030204" pitchFamily="34" charset="0"/>
                <a:cs typeface="Calibri" panose="020F0502020204030204" pitchFamily="34" charset="0"/>
              </a:rPr>
              <a:t>).</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endParaRPr lang="en-US" sz="1600" dirty="0">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586653" y="992764"/>
            <a:ext cx="2505075" cy="126682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499" y="2914050"/>
            <a:ext cx="4768161" cy="1626899"/>
          </a:xfrm>
          <a:prstGeom prst="rect">
            <a:avLst/>
          </a:prstGeom>
        </p:spPr>
      </p:pic>
    </p:spTree>
    <p:extLst>
      <p:ext uri="{BB962C8B-B14F-4D97-AF65-F5344CB8AC3E}">
        <p14:creationId xmlns:p14="http://schemas.microsoft.com/office/powerpoint/2010/main" val="3029029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p:nvPr/>
        </p:nvSpPr>
        <p:spPr>
          <a:xfrm rot="5400000">
            <a:off x="5324578" y="1173090"/>
            <a:ext cx="2806387" cy="3603494"/>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1"/>
          <p:cNvSpPr/>
          <p:nvPr/>
        </p:nvSpPr>
        <p:spPr>
          <a:xfrm>
            <a:off x="371441" y="147139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lt2"/>
          </a:solidFill>
          <a:ln w="19050" cap="flat" cmpd="sng">
            <a:solidFill>
              <a:schemeClr val="dk1"/>
            </a:solidFill>
            <a:prstDash val="solid"/>
            <a:round/>
            <a:headEnd type="none" w="med" len="med"/>
            <a:tailEnd type="none" w="med" len="med"/>
          </a:ln>
        </p:spPr>
      </p:sp>
      <p:sp>
        <p:nvSpPr>
          <p:cNvPr id="276" name="Google Shape;276;p31"/>
          <p:cNvSpPr/>
          <p:nvPr/>
        </p:nvSpPr>
        <p:spPr>
          <a:xfrm>
            <a:off x="371441" y="3616671"/>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sp>
      <p:sp>
        <p:nvSpPr>
          <p:cNvPr id="277" name="Google Shape;277;p31"/>
          <p:cNvSpPr/>
          <p:nvPr/>
        </p:nvSpPr>
        <p:spPr>
          <a:xfrm>
            <a:off x="398595" y="248064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sp>
      <p:sp>
        <p:nvSpPr>
          <p:cNvPr id="279" name="Google Shape;279;p31"/>
          <p:cNvSpPr txBox="1">
            <a:spLocks noGrp="1"/>
          </p:cNvSpPr>
          <p:nvPr>
            <p:ph type="title"/>
          </p:nvPr>
        </p:nvSpPr>
        <p:spPr>
          <a:xfrm>
            <a:off x="-1036320" y="98151"/>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	Bar chart of a categorical variable for the gender </a:t>
            </a:r>
          </a:p>
        </p:txBody>
      </p:sp>
      <p:sp>
        <p:nvSpPr>
          <p:cNvPr id="281" name="Google Shape;281;p31"/>
          <p:cNvSpPr txBox="1"/>
          <p:nvPr/>
        </p:nvSpPr>
        <p:spPr>
          <a:xfrm>
            <a:off x="1296065" y="2625670"/>
            <a:ext cx="3303018"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X</a:t>
            </a:r>
            <a:r>
              <a:rPr lang="en" dirty="0">
                <a:solidFill>
                  <a:schemeClr val="dk1"/>
                </a:solidFill>
                <a:latin typeface="Roboto"/>
                <a:ea typeface="Roboto"/>
                <a:cs typeface="Roboto"/>
                <a:sym typeface="Roboto"/>
              </a:rPr>
              <a:t>-axis is Gender.</a:t>
            </a:r>
          </a:p>
          <a:p>
            <a:pPr marL="0" lvl="0" indent="0" algn="l" rtl="0">
              <a:spcBef>
                <a:spcPts val="0"/>
              </a:spcBef>
              <a:spcAft>
                <a:spcPts val="0"/>
              </a:spcAft>
              <a:buNone/>
            </a:pPr>
            <a:r>
              <a:rPr lang="en" dirty="0">
                <a:solidFill>
                  <a:schemeClr val="dk1"/>
                </a:solidFill>
                <a:latin typeface="Roboto"/>
                <a:ea typeface="Roboto"/>
                <a:cs typeface="Roboto"/>
                <a:sym typeface="Roboto"/>
              </a:rPr>
              <a:t>Y-axis is the frequency of each gender. </a:t>
            </a:r>
            <a:endParaRPr dirty="0">
              <a:solidFill>
                <a:schemeClr val="dk1"/>
              </a:solidFill>
              <a:latin typeface="Roboto"/>
              <a:ea typeface="Roboto"/>
              <a:cs typeface="Roboto"/>
              <a:sym typeface="Roboto"/>
            </a:endParaRPr>
          </a:p>
        </p:txBody>
      </p:sp>
      <p:grpSp>
        <p:nvGrpSpPr>
          <p:cNvPr id="283" name="Google Shape;283;p31"/>
          <p:cNvGrpSpPr/>
          <p:nvPr/>
        </p:nvGrpSpPr>
        <p:grpSpPr>
          <a:xfrm>
            <a:off x="1267499" y="3510027"/>
            <a:ext cx="2757598" cy="915000"/>
            <a:chOff x="5882075" y="2295525"/>
            <a:chExt cx="2395203" cy="915000"/>
          </a:xfrm>
        </p:grpSpPr>
        <p:sp>
          <p:nvSpPr>
            <p:cNvPr id="284" name="Google Shape;284;p31"/>
            <p:cNvSpPr txBox="1"/>
            <p:nvPr/>
          </p:nvSpPr>
          <p:spPr>
            <a:xfrm>
              <a:off x="5882075" y="2637825"/>
              <a:ext cx="2395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Roboto"/>
                  <a:ea typeface="Roboto"/>
                  <a:cs typeface="Roboto"/>
                  <a:sym typeface="Roboto"/>
                </a:rPr>
                <a:t>Showed that Females and Males</a:t>
              </a:r>
            </a:p>
            <a:p>
              <a:pPr marL="0" lvl="0" indent="0" algn="l" rtl="0">
                <a:spcBef>
                  <a:spcPts val="0"/>
                </a:spcBef>
                <a:spcAft>
                  <a:spcPts val="0"/>
                </a:spcAft>
                <a:buClr>
                  <a:schemeClr val="dk1"/>
                </a:buClr>
                <a:buSzPts val="1100"/>
                <a:buFont typeface="Arial"/>
                <a:buNone/>
              </a:pPr>
              <a:r>
                <a:rPr lang="en-US" dirty="0">
                  <a:solidFill>
                    <a:schemeClr val="dk1"/>
                  </a:solidFill>
                  <a:latin typeface="Roboto"/>
                  <a:ea typeface="Roboto"/>
                  <a:cs typeface="Roboto"/>
                  <a:sym typeface="Roboto"/>
                </a:rPr>
                <a:t>Equals 20.</a:t>
              </a:r>
              <a:endParaRPr dirty="0">
                <a:solidFill>
                  <a:schemeClr val="dk1"/>
                </a:solidFill>
                <a:latin typeface="Roboto"/>
                <a:ea typeface="Roboto"/>
                <a:cs typeface="Roboto"/>
                <a:sym typeface="Roboto"/>
              </a:endParaRPr>
            </a:p>
          </p:txBody>
        </p:sp>
        <p:sp>
          <p:nvSpPr>
            <p:cNvPr id="285" name="Google Shape;285;p31"/>
            <p:cNvSpPr txBox="1"/>
            <p:nvPr/>
          </p:nvSpPr>
          <p:spPr>
            <a:xfrm>
              <a:off x="5882078" y="229552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Results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86" name="Google Shape;286;p31"/>
          <p:cNvGrpSpPr/>
          <p:nvPr/>
        </p:nvGrpSpPr>
        <p:grpSpPr>
          <a:xfrm>
            <a:off x="1234560" y="1551733"/>
            <a:ext cx="2757595" cy="762280"/>
            <a:chOff x="5882075" y="3536345"/>
            <a:chExt cx="2395200" cy="762280"/>
          </a:xfrm>
        </p:grpSpPr>
        <p:sp>
          <p:nvSpPr>
            <p:cNvPr id="287" name="Google Shape;287;p31"/>
            <p:cNvSpPr txBox="1"/>
            <p:nvPr/>
          </p:nvSpPr>
          <p:spPr>
            <a:xfrm>
              <a:off x="5882075" y="3725925"/>
              <a:ext cx="2395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dirty="0">
                  <a:solidFill>
                    <a:schemeClr val="dk1"/>
                  </a:solidFill>
                  <a:latin typeface="Roboto"/>
                  <a:ea typeface="Roboto"/>
                  <a:cs typeface="Roboto"/>
                  <a:sym typeface="Roboto"/>
                </a:rPr>
                <a:t>Number 2 =Males</a:t>
              </a:r>
            </a:p>
            <a:p>
              <a:pPr marL="0" lvl="0" indent="0" algn="l" rtl="0">
                <a:spcBef>
                  <a:spcPts val="0"/>
                </a:spcBef>
                <a:spcAft>
                  <a:spcPts val="1200"/>
                </a:spcAft>
                <a:buNone/>
              </a:pPr>
              <a:r>
                <a:rPr lang="en" dirty="0">
                  <a:solidFill>
                    <a:schemeClr val="dk1"/>
                  </a:solidFill>
                  <a:latin typeface="Roboto"/>
                  <a:ea typeface="Roboto"/>
                  <a:cs typeface="Roboto"/>
                  <a:sym typeface="Roboto"/>
                </a:rPr>
                <a:t>Number 1= Femals</a:t>
              </a:r>
              <a:endParaRPr dirty="0">
                <a:solidFill>
                  <a:schemeClr val="dk1"/>
                </a:solidFill>
                <a:latin typeface="Roboto"/>
                <a:ea typeface="Roboto"/>
                <a:cs typeface="Roboto"/>
                <a:sym typeface="Roboto"/>
              </a:endParaRPr>
            </a:p>
          </p:txBody>
        </p:sp>
        <p:sp>
          <p:nvSpPr>
            <p:cNvPr id="288" name="Google Shape;288;p31"/>
            <p:cNvSpPr txBox="1"/>
            <p:nvPr/>
          </p:nvSpPr>
          <p:spPr>
            <a:xfrm>
              <a:off x="5882075" y="353634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120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Geneder</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1" name="Google Shape;301;p31"/>
          <p:cNvGrpSpPr/>
          <p:nvPr/>
        </p:nvGrpSpPr>
        <p:grpSpPr>
          <a:xfrm>
            <a:off x="554753" y="2705077"/>
            <a:ext cx="438913" cy="431250"/>
            <a:chOff x="1542125" y="1512275"/>
            <a:chExt cx="411700" cy="404550"/>
          </a:xfrm>
        </p:grpSpPr>
        <p:sp>
          <p:nvSpPr>
            <p:cNvPr id="302" name="Google Shape;302;p31"/>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1"/>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31"/>
          <p:cNvGrpSpPr/>
          <p:nvPr/>
        </p:nvGrpSpPr>
        <p:grpSpPr>
          <a:xfrm>
            <a:off x="582993" y="1657264"/>
            <a:ext cx="438904" cy="378314"/>
            <a:chOff x="2248825" y="1392050"/>
            <a:chExt cx="380300" cy="327800"/>
          </a:xfrm>
        </p:grpSpPr>
        <p:sp>
          <p:nvSpPr>
            <p:cNvPr id="305" name="Google Shape;305;p31"/>
            <p:cNvSpPr/>
            <p:nvPr/>
          </p:nvSpPr>
          <p:spPr>
            <a:xfrm>
              <a:off x="2248825" y="1392050"/>
              <a:ext cx="380300" cy="327800"/>
            </a:xfrm>
            <a:custGeom>
              <a:avLst/>
              <a:gdLst/>
              <a:ahLst/>
              <a:cxnLst/>
              <a:rect l="l" t="t" r="r" b="b"/>
              <a:pathLst>
                <a:path w="15212" h="13112" extrusionOk="0">
                  <a:moveTo>
                    <a:pt x="13375" y="6004"/>
                  </a:moveTo>
                  <a:cubicBezTo>
                    <a:pt x="13491" y="6004"/>
                    <a:pt x="13605" y="6014"/>
                    <a:pt x="13705" y="6047"/>
                  </a:cubicBezTo>
                  <a:cubicBezTo>
                    <a:pt x="14270" y="6257"/>
                    <a:pt x="14396" y="6822"/>
                    <a:pt x="14480" y="7449"/>
                  </a:cubicBezTo>
                  <a:cubicBezTo>
                    <a:pt x="14647" y="8809"/>
                    <a:pt x="14521" y="10211"/>
                    <a:pt x="14459" y="11571"/>
                  </a:cubicBezTo>
                  <a:cubicBezTo>
                    <a:pt x="13585" y="11606"/>
                    <a:pt x="12711" y="11831"/>
                    <a:pt x="11850" y="11831"/>
                  </a:cubicBezTo>
                  <a:cubicBezTo>
                    <a:pt x="11680" y="11831"/>
                    <a:pt x="11510" y="11822"/>
                    <a:pt x="11341" y="11801"/>
                  </a:cubicBezTo>
                  <a:cubicBezTo>
                    <a:pt x="11320" y="11697"/>
                    <a:pt x="11236" y="11592"/>
                    <a:pt x="11132" y="11571"/>
                  </a:cubicBezTo>
                  <a:cubicBezTo>
                    <a:pt x="11216" y="10839"/>
                    <a:pt x="11341" y="10211"/>
                    <a:pt x="11320" y="9395"/>
                  </a:cubicBezTo>
                  <a:cubicBezTo>
                    <a:pt x="11257" y="8537"/>
                    <a:pt x="11236" y="7679"/>
                    <a:pt x="11153" y="6801"/>
                  </a:cubicBezTo>
                  <a:cubicBezTo>
                    <a:pt x="11174" y="6717"/>
                    <a:pt x="11153" y="6654"/>
                    <a:pt x="11132" y="6591"/>
                  </a:cubicBezTo>
                  <a:cubicBezTo>
                    <a:pt x="11111" y="6403"/>
                    <a:pt x="11111" y="6194"/>
                    <a:pt x="11090" y="6026"/>
                  </a:cubicBezTo>
                  <a:lnTo>
                    <a:pt x="12868" y="6026"/>
                  </a:lnTo>
                  <a:cubicBezTo>
                    <a:pt x="13019" y="6026"/>
                    <a:pt x="13200" y="6004"/>
                    <a:pt x="13375" y="6004"/>
                  </a:cubicBezTo>
                  <a:close/>
                  <a:moveTo>
                    <a:pt x="4892" y="696"/>
                  </a:moveTo>
                  <a:cubicBezTo>
                    <a:pt x="4947" y="696"/>
                    <a:pt x="5005" y="708"/>
                    <a:pt x="5064" y="733"/>
                  </a:cubicBezTo>
                  <a:cubicBezTo>
                    <a:pt x="5503" y="942"/>
                    <a:pt x="5378" y="1905"/>
                    <a:pt x="5378" y="2302"/>
                  </a:cubicBezTo>
                  <a:cubicBezTo>
                    <a:pt x="5315" y="3558"/>
                    <a:pt x="5734" y="4834"/>
                    <a:pt x="6633" y="5734"/>
                  </a:cubicBezTo>
                  <a:cubicBezTo>
                    <a:pt x="6633" y="5775"/>
                    <a:pt x="6675" y="5859"/>
                    <a:pt x="6738" y="5922"/>
                  </a:cubicBezTo>
                  <a:cubicBezTo>
                    <a:pt x="7805" y="6863"/>
                    <a:pt x="9081" y="7031"/>
                    <a:pt x="10441" y="7073"/>
                  </a:cubicBezTo>
                  <a:cubicBezTo>
                    <a:pt x="10504" y="7847"/>
                    <a:pt x="10525" y="8642"/>
                    <a:pt x="10588" y="9416"/>
                  </a:cubicBezTo>
                  <a:cubicBezTo>
                    <a:pt x="10608" y="9702"/>
                    <a:pt x="10589" y="9948"/>
                    <a:pt x="10549" y="10212"/>
                  </a:cubicBezTo>
                  <a:lnTo>
                    <a:pt x="10549" y="10212"/>
                  </a:lnTo>
                  <a:cubicBezTo>
                    <a:pt x="8510" y="10347"/>
                    <a:pt x="7339" y="12116"/>
                    <a:pt x="5399" y="12492"/>
                  </a:cubicBezTo>
                  <a:cubicBezTo>
                    <a:pt x="5196" y="12531"/>
                    <a:pt x="4989" y="12547"/>
                    <a:pt x="4781" y="12547"/>
                  </a:cubicBezTo>
                  <a:cubicBezTo>
                    <a:pt x="4433" y="12547"/>
                    <a:pt x="4079" y="12502"/>
                    <a:pt x="3725" y="12450"/>
                  </a:cubicBezTo>
                  <a:cubicBezTo>
                    <a:pt x="3285" y="12408"/>
                    <a:pt x="1381" y="12178"/>
                    <a:pt x="2218" y="11446"/>
                  </a:cubicBezTo>
                  <a:lnTo>
                    <a:pt x="2239" y="11404"/>
                  </a:lnTo>
                  <a:cubicBezTo>
                    <a:pt x="2536" y="11285"/>
                    <a:pt x="2384" y="10813"/>
                    <a:pt x="2032" y="10813"/>
                  </a:cubicBezTo>
                  <a:cubicBezTo>
                    <a:pt x="2011" y="10813"/>
                    <a:pt x="1990" y="10814"/>
                    <a:pt x="1967" y="10818"/>
                  </a:cubicBezTo>
                  <a:cubicBezTo>
                    <a:pt x="1938" y="10823"/>
                    <a:pt x="1909" y="10825"/>
                    <a:pt x="1880" y="10825"/>
                  </a:cubicBezTo>
                  <a:cubicBezTo>
                    <a:pt x="1271" y="10825"/>
                    <a:pt x="799" y="9816"/>
                    <a:pt x="1319" y="9416"/>
                  </a:cubicBezTo>
                  <a:lnTo>
                    <a:pt x="1486" y="9416"/>
                  </a:lnTo>
                  <a:cubicBezTo>
                    <a:pt x="1898" y="9396"/>
                    <a:pt x="1904" y="8767"/>
                    <a:pt x="1506" y="8767"/>
                  </a:cubicBezTo>
                  <a:cubicBezTo>
                    <a:pt x="1499" y="8767"/>
                    <a:pt x="1493" y="8767"/>
                    <a:pt x="1486" y="8767"/>
                  </a:cubicBezTo>
                  <a:cubicBezTo>
                    <a:pt x="1471" y="8768"/>
                    <a:pt x="1455" y="8769"/>
                    <a:pt x="1440" y="8769"/>
                  </a:cubicBezTo>
                  <a:cubicBezTo>
                    <a:pt x="1065" y="8769"/>
                    <a:pt x="772" y="8522"/>
                    <a:pt x="712" y="8140"/>
                  </a:cubicBezTo>
                  <a:cubicBezTo>
                    <a:pt x="676" y="7764"/>
                    <a:pt x="915" y="7603"/>
                    <a:pt x="1220" y="7603"/>
                  </a:cubicBezTo>
                  <a:cubicBezTo>
                    <a:pt x="1273" y="7603"/>
                    <a:pt x="1327" y="7608"/>
                    <a:pt x="1381" y="7617"/>
                  </a:cubicBezTo>
                  <a:cubicBezTo>
                    <a:pt x="1397" y="7619"/>
                    <a:pt x="1411" y="7620"/>
                    <a:pt x="1425" y="7620"/>
                  </a:cubicBezTo>
                  <a:cubicBezTo>
                    <a:pt x="1549" y="7620"/>
                    <a:pt x="1635" y="7541"/>
                    <a:pt x="1653" y="7428"/>
                  </a:cubicBezTo>
                  <a:cubicBezTo>
                    <a:pt x="1800" y="7324"/>
                    <a:pt x="1842" y="7115"/>
                    <a:pt x="1695" y="6968"/>
                  </a:cubicBezTo>
                  <a:cubicBezTo>
                    <a:pt x="1486" y="6717"/>
                    <a:pt x="1214" y="6508"/>
                    <a:pt x="1089" y="6257"/>
                  </a:cubicBezTo>
                  <a:cubicBezTo>
                    <a:pt x="858" y="5838"/>
                    <a:pt x="1381" y="5524"/>
                    <a:pt x="1737" y="5420"/>
                  </a:cubicBezTo>
                  <a:cubicBezTo>
                    <a:pt x="1988" y="5347"/>
                    <a:pt x="2243" y="5333"/>
                    <a:pt x="2498" y="5333"/>
                  </a:cubicBezTo>
                  <a:cubicBezTo>
                    <a:pt x="2663" y="5333"/>
                    <a:pt x="2828" y="5339"/>
                    <a:pt x="2991" y="5339"/>
                  </a:cubicBezTo>
                  <a:cubicBezTo>
                    <a:pt x="3375" y="5339"/>
                    <a:pt x="3750" y="5306"/>
                    <a:pt x="4102" y="5085"/>
                  </a:cubicBezTo>
                  <a:lnTo>
                    <a:pt x="4122" y="5064"/>
                  </a:lnTo>
                  <a:cubicBezTo>
                    <a:pt x="4227" y="5001"/>
                    <a:pt x="4311" y="4876"/>
                    <a:pt x="4227" y="4708"/>
                  </a:cubicBezTo>
                  <a:cubicBezTo>
                    <a:pt x="3850" y="3788"/>
                    <a:pt x="3641" y="2700"/>
                    <a:pt x="3997" y="1758"/>
                  </a:cubicBezTo>
                  <a:cubicBezTo>
                    <a:pt x="4109" y="1460"/>
                    <a:pt x="4437" y="696"/>
                    <a:pt x="4892" y="696"/>
                  </a:cubicBezTo>
                  <a:close/>
                  <a:moveTo>
                    <a:pt x="4918" y="0"/>
                  </a:moveTo>
                  <a:cubicBezTo>
                    <a:pt x="4143" y="0"/>
                    <a:pt x="3662" y="879"/>
                    <a:pt x="3411" y="1465"/>
                  </a:cubicBezTo>
                  <a:cubicBezTo>
                    <a:pt x="3055" y="2469"/>
                    <a:pt x="3181" y="3620"/>
                    <a:pt x="3516" y="4604"/>
                  </a:cubicBezTo>
                  <a:cubicBezTo>
                    <a:pt x="3323" y="4671"/>
                    <a:pt x="3114" y="4687"/>
                    <a:pt x="2899" y="4687"/>
                  </a:cubicBezTo>
                  <a:cubicBezTo>
                    <a:pt x="2683" y="4687"/>
                    <a:pt x="2462" y="4671"/>
                    <a:pt x="2245" y="4671"/>
                  </a:cubicBezTo>
                  <a:cubicBezTo>
                    <a:pt x="2137" y="4671"/>
                    <a:pt x="2030" y="4675"/>
                    <a:pt x="1925" y="4687"/>
                  </a:cubicBezTo>
                  <a:cubicBezTo>
                    <a:pt x="1402" y="4729"/>
                    <a:pt x="858" y="5001"/>
                    <a:pt x="544" y="5420"/>
                  </a:cubicBezTo>
                  <a:cubicBezTo>
                    <a:pt x="105" y="5985"/>
                    <a:pt x="440" y="6508"/>
                    <a:pt x="837" y="6968"/>
                  </a:cubicBezTo>
                  <a:cubicBezTo>
                    <a:pt x="335" y="7094"/>
                    <a:pt x="0" y="7533"/>
                    <a:pt x="42" y="8119"/>
                  </a:cubicBezTo>
                  <a:cubicBezTo>
                    <a:pt x="63" y="8558"/>
                    <a:pt x="314" y="8935"/>
                    <a:pt x="649" y="9165"/>
                  </a:cubicBezTo>
                  <a:cubicBezTo>
                    <a:pt x="419" y="9521"/>
                    <a:pt x="419" y="10023"/>
                    <a:pt x="544" y="10441"/>
                  </a:cubicBezTo>
                  <a:cubicBezTo>
                    <a:pt x="691" y="10881"/>
                    <a:pt x="984" y="11174"/>
                    <a:pt x="1361" y="11299"/>
                  </a:cubicBezTo>
                  <a:cubicBezTo>
                    <a:pt x="628" y="12408"/>
                    <a:pt x="2616" y="12931"/>
                    <a:pt x="3578" y="13036"/>
                  </a:cubicBezTo>
                  <a:cubicBezTo>
                    <a:pt x="3957" y="13079"/>
                    <a:pt x="4325" y="13111"/>
                    <a:pt x="4686" y="13111"/>
                  </a:cubicBezTo>
                  <a:cubicBezTo>
                    <a:pt x="5204" y="13111"/>
                    <a:pt x="5710" y="13045"/>
                    <a:pt x="6215" y="12848"/>
                  </a:cubicBezTo>
                  <a:cubicBezTo>
                    <a:pt x="7742" y="12241"/>
                    <a:pt x="8809" y="10923"/>
                    <a:pt x="10504" y="10818"/>
                  </a:cubicBezTo>
                  <a:lnTo>
                    <a:pt x="10504" y="10818"/>
                  </a:lnTo>
                  <a:cubicBezTo>
                    <a:pt x="10462" y="11195"/>
                    <a:pt x="10400" y="11592"/>
                    <a:pt x="10379" y="12011"/>
                  </a:cubicBezTo>
                  <a:cubicBezTo>
                    <a:pt x="10359" y="12222"/>
                    <a:pt x="10551" y="12327"/>
                    <a:pt x="10728" y="12327"/>
                  </a:cubicBezTo>
                  <a:cubicBezTo>
                    <a:pt x="10744" y="12327"/>
                    <a:pt x="10760" y="12326"/>
                    <a:pt x="10776" y="12325"/>
                  </a:cubicBezTo>
                  <a:cubicBezTo>
                    <a:pt x="11113" y="12410"/>
                    <a:pt x="11448" y="12442"/>
                    <a:pt x="11782" y="12442"/>
                  </a:cubicBezTo>
                  <a:cubicBezTo>
                    <a:pt x="12758" y="12442"/>
                    <a:pt x="13728" y="12167"/>
                    <a:pt x="14710" y="12136"/>
                  </a:cubicBezTo>
                  <a:cubicBezTo>
                    <a:pt x="14898" y="12136"/>
                    <a:pt x="15024" y="11990"/>
                    <a:pt x="15024" y="11822"/>
                  </a:cubicBezTo>
                  <a:cubicBezTo>
                    <a:pt x="15128" y="10672"/>
                    <a:pt x="15212" y="9500"/>
                    <a:pt x="15170" y="8307"/>
                  </a:cubicBezTo>
                  <a:cubicBezTo>
                    <a:pt x="15128" y="7596"/>
                    <a:pt x="15170" y="6508"/>
                    <a:pt x="14752" y="5901"/>
                  </a:cubicBezTo>
                  <a:cubicBezTo>
                    <a:pt x="14362" y="5344"/>
                    <a:pt x="13517" y="5214"/>
                    <a:pt x="12653" y="5214"/>
                  </a:cubicBezTo>
                  <a:cubicBezTo>
                    <a:pt x="11893" y="5214"/>
                    <a:pt x="11119" y="5315"/>
                    <a:pt x="10630" y="5315"/>
                  </a:cubicBezTo>
                  <a:cubicBezTo>
                    <a:pt x="10316" y="5315"/>
                    <a:pt x="10253" y="5692"/>
                    <a:pt x="10400" y="5859"/>
                  </a:cubicBezTo>
                  <a:lnTo>
                    <a:pt x="10400" y="5922"/>
                  </a:lnTo>
                  <a:cubicBezTo>
                    <a:pt x="10420" y="6068"/>
                    <a:pt x="10420" y="6215"/>
                    <a:pt x="10420" y="6361"/>
                  </a:cubicBezTo>
                  <a:cubicBezTo>
                    <a:pt x="9353" y="6340"/>
                    <a:pt x="8328" y="6236"/>
                    <a:pt x="7449" y="5608"/>
                  </a:cubicBezTo>
                  <a:cubicBezTo>
                    <a:pt x="7428" y="5545"/>
                    <a:pt x="7387" y="5503"/>
                    <a:pt x="7345" y="5462"/>
                  </a:cubicBezTo>
                  <a:cubicBezTo>
                    <a:pt x="6717" y="5001"/>
                    <a:pt x="6194" y="4039"/>
                    <a:pt x="6068" y="3265"/>
                  </a:cubicBezTo>
                  <a:cubicBezTo>
                    <a:pt x="5964" y="2700"/>
                    <a:pt x="6089" y="2114"/>
                    <a:pt x="6068" y="1549"/>
                  </a:cubicBezTo>
                  <a:cubicBezTo>
                    <a:pt x="6026" y="837"/>
                    <a:pt x="5754" y="21"/>
                    <a:pt x="4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1"/>
            <p:cNvSpPr/>
            <p:nvPr/>
          </p:nvSpPr>
          <p:spPr>
            <a:xfrm>
              <a:off x="2553275" y="1631175"/>
              <a:ext cx="41850" cy="41275"/>
            </a:xfrm>
            <a:custGeom>
              <a:avLst/>
              <a:gdLst/>
              <a:ahLst/>
              <a:cxnLst/>
              <a:rect l="l" t="t" r="r" b="b"/>
              <a:pathLst>
                <a:path w="1674" h="1651" extrusionOk="0">
                  <a:moveTo>
                    <a:pt x="963" y="667"/>
                  </a:moveTo>
                  <a:cubicBezTo>
                    <a:pt x="963" y="688"/>
                    <a:pt x="983" y="688"/>
                    <a:pt x="983" y="730"/>
                  </a:cubicBezTo>
                  <a:cubicBezTo>
                    <a:pt x="983" y="751"/>
                    <a:pt x="1025" y="793"/>
                    <a:pt x="1025" y="835"/>
                  </a:cubicBezTo>
                  <a:lnTo>
                    <a:pt x="1025" y="876"/>
                  </a:lnTo>
                  <a:lnTo>
                    <a:pt x="1025" y="1002"/>
                  </a:lnTo>
                  <a:cubicBezTo>
                    <a:pt x="1025" y="995"/>
                    <a:pt x="1023" y="993"/>
                    <a:pt x="1020" y="993"/>
                  </a:cubicBezTo>
                  <a:cubicBezTo>
                    <a:pt x="1014" y="993"/>
                    <a:pt x="1004" y="1002"/>
                    <a:pt x="1004" y="1002"/>
                  </a:cubicBezTo>
                  <a:lnTo>
                    <a:pt x="921" y="1002"/>
                  </a:lnTo>
                  <a:cubicBezTo>
                    <a:pt x="900" y="1002"/>
                    <a:pt x="858" y="1002"/>
                    <a:pt x="837" y="981"/>
                  </a:cubicBezTo>
                  <a:lnTo>
                    <a:pt x="816" y="981"/>
                  </a:lnTo>
                  <a:lnTo>
                    <a:pt x="774" y="960"/>
                  </a:lnTo>
                  <a:cubicBezTo>
                    <a:pt x="774" y="960"/>
                    <a:pt x="774" y="939"/>
                    <a:pt x="753" y="939"/>
                  </a:cubicBezTo>
                  <a:lnTo>
                    <a:pt x="753" y="897"/>
                  </a:lnTo>
                  <a:lnTo>
                    <a:pt x="753" y="876"/>
                  </a:lnTo>
                  <a:lnTo>
                    <a:pt x="753" y="855"/>
                  </a:lnTo>
                  <a:lnTo>
                    <a:pt x="774" y="793"/>
                  </a:lnTo>
                  <a:cubicBezTo>
                    <a:pt x="837" y="751"/>
                    <a:pt x="858" y="730"/>
                    <a:pt x="942" y="688"/>
                  </a:cubicBezTo>
                  <a:lnTo>
                    <a:pt x="963" y="667"/>
                  </a:lnTo>
                  <a:close/>
                  <a:moveTo>
                    <a:pt x="949" y="1"/>
                  </a:moveTo>
                  <a:cubicBezTo>
                    <a:pt x="795" y="1"/>
                    <a:pt x="644" y="52"/>
                    <a:pt x="502" y="123"/>
                  </a:cubicBezTo>
                  <a:cubicBezTo>
                    <a:pt x="398" y="165"/>
                    <a:pt x="377" y="228"/>
                    <a:pt x="335" y="311"/>
                  </a:cubicBezTo>
                  <a:cubicBezTo>
                    <a:pt x="126" y="521"/>
                    <a:pt x="0" y="835"/>
                    <a:pt x="126" y="1127"/>
                  </a:cubicBezTo>
                  <a:cubicBezTo>
                    <a:pt x="265" y="1476"/>
                    <a:pt x="593" y="1651"/>
                    <a:pt x="941" y="1651"/>
                  </a:cubicBezTo>
                  <a:cubicBezTo>
                    <a:pt x="1011" y="1651"/>
                    <a:pt x="1081" y="1644"/>
                    <a:pt x="1151" y="1630"/>
                  </a:cubicBezTo>
                  <a:cubicBezTo>
                    <a:pt x="1255" y="1609"/>
                    <a:pt x="1381" y="1546"/>
                    <a:pt x="1465" y="1504"/>
                  </a:cubicBezTo>
                  <a:cubicBezTo>
                    <a:pt x="1632" y="1399"/>
                    <a:pt x="1632" y="1274"/>
                    <a:pt x="1653" y="1107"/>
                  </a:cubicBezTo>
                  <a:cubicBezTo>
                    <a:pt x="1674" y="897"/>
                    <a:pt x="1653" y="688"/>
                    <a:pt x="1569" y="500"/>
                  </a:cubicBezTo>
                  <a:cubicBezTo>
                    <a:pt x="1527" y="270"/>
                    <a:pt x="1381" y="123"/>
                    <a:pt x="1172" y="39"/>
                  </a:cubicBezTo>
                  <a:cubicBezTo>
                    <a:pt x="1097" y="12"/>
                    <a:pt x="1023" y="1"/>
                    <a:pt x="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31"/>
          <p:cNvSpPr/>
          <p:nvPr/>
        </p:nvSpPr>
        <p:spPr>
          <a:xfrm>
            <a:off x="554765" y="3835765"/>
            <a:ext cx="438907" cy="362893"/>
          </a:xfrm>
          <a:custGeom>
            <a:avLst/>
            <a:gdLst/>
            <a:ahLst/>
            <a:cxnLst/>
            <a:rect l="l" t="t" r="r" b="b"/>
            <a:pathLst>
              <a:path w="14689" h="12145" extrusionOk="0">
                <a:moveTo>
                  <a:pt x="10480" y="559"/>
                </a:moveTo>
                <a:cubicBezTo>
                  <a:pt x="10577" y="559"/>
                  <a:pt x="10676" y="564"/>
                  <a:pt x="10776" y="574"/>
                </a:cubicBezTo>
                <a:cubicBezTo>
                  <a:pt x="12471" y="762"/>
                  <a:pt x="13098" y="2520"/>
                  <a:pt x="13057" y="4005"/>
                </a:cubicBezTo>
                <a:cubicBezTo>
                  <a:pt x="12994" y="7625"/>
                  <a:pt x="9604" y="9529"/>
                  <a:pt x="6989" y="11412"/>
                </a:cubicBezTo>
                <a:cubicBezTo>
                  <a:pt x="4917" y="9989"/>
                  <a:pt x="1904" y="8294"/>
                  <a:pt x="1172" y="5784"/>
                </a:cubicBezTo>
                <a:cubicBezTo>
                  <a:pt x="733" y="4319"/>
                  <a:pt x="628" y="2729"/>
                  <a:pt x="1800" y="1557"/>
                </a:cubicBezTo>
                <a:cubicBezTo>
                  <a:pt x="2296" y="1051"/>
                  <a:pt x="3117" y="771"/>
                  <a:pt x="3931" y="771"/>
                </a:cubicBezTo>
                <a:cubicBezTo>
                  <a:pt x="4934" y="771"/>
                  <a:pt x="5929" y="1196"/>
                  <a:pt x="6298" y="2143"/>
                </a:cubicBezTo>
                <a:cubicBezTo>
                  <a:pt x="6365" y="2294"/>
                  <a:pt x="6500" y="2365"/>
                  <a:pt x="6616" y="2365"/>
                </a:cubicBezTo>
                <a:cubicBezTo>
                  <a:pt x="6644" y="2365"/>
                  <a:pt x="6671" y="2360"/>
                  <a:pt x="6696" y="2352"/>
                </a:cubicBezTo>
                <a:cubicBezTo>
                  <a:pt x="6751" y="2490"/>
                  <a:pt x="6878" y="2600"/>
                  <a:pt x="7007" y="2600"/>
                </a:cubicBezTo>
                <a:cubicBezTo>
                  <a:pt x="7073" y="2600"/>
                  <a:pt x="7141" y="2570"/>
                  <a:pt x="7198" y="2499"/>
                </a:cubicBezTo>
                <a:cubicBezTo>
                  <a:pt x="7978" y="1465"/>
                  <a:pt x="9140" y="559"/>
                  <a:pt x="10480" y="559"/>
                </a:cubicBezTo>
                <a:close/>
                <a:moveTo>
                  <a:pt x="10635" y="1"/>
                </a:moveTo>
                <a:cubicBezTo>
                  <a:pt x="9301" y="1"/>
                  <a:pt x="7834" y="733"/>
                  <a:pt x="6884" y="1871"/>
                </a:cubicBezTo>
                <a:cubicBezTo>
                  <a:pt x="6331" y="688"/>
                  <a:pt x="4838" y="97"/>
                  <a:pt x="3548" y="97"/>
                </a:cubicBezTo>
                <a:cubicBezTo>
                  <a:pt x="3424" y="97"/>
                  <a:pt x="3301" y="102"/>
                  <a:pt x="3181" y="113"/>
                </a:cubicBezTo>
                <a:cubicBezTo>
                  <a:pt x="1465" y="302"/>
                  <a:pt x="251" y="2080"/>
                  <a:pt x="189" y="3691"/>
                </a:cubicBezTo>
                <a:cubicBezTo>
                  <a:pt x="0" y="7750"/>
                  <a:pt x="3850" y="10010"/>
                  <a:pt x="6779" y="12061"/>
                </a:cubicBezTo>
                <a:cubicBezTo>
                  <a:pt x="6821" y="12123"/>
                  <a:pt x="6905" y="12144"/>
                  <a:pt x="6989" y="12144"/>
                </a:cubicBezTo>
                <a:lnTo>
                  <a:pt x="7010" y="12144"/>
                </a:lnTo>
                <a:cubicBezTo>
                  <a:pt x="7051" y="12144"/>
                  <a:pt x="7114" y="12123"/>
                  <a:pt x="7135" y="12061"/>
                </a:cubicBezTo>
                <a:cubicBezTo>
                  <a:pt x="10357" y="9759"/>
                  <a:pt x="14689" y="7165"/>
                  <a:pt x="13601" y="2540"/>
                </a:cubicBezTo>
                <a:cubicBezTo>
                  <a:pt x="13181" y="738"/>
                  <a:pt x="11975" y="1"/>
                  <a:pt x="10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3" name="Picture 2" descr="A picture containing text, screenshot, rectangle, colorfulness&#10;&#10;Description automatically generated">
            <a:extLst>
              <a:ext uri="{FF2B5EF4-FFF2-40B4-BE49-F238E27FC236}">
                <a16:creationId xmlns:a16="http://schemas.microsoft.com/office/drawing/2014/main" xmlns="" id="{610BA130-408A-CACD-9201-B36916B5B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5880" y="1762561"/>
            <a:ext cx="3260475" cy="257459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xmlns="" id="{DDDE9995-B2D3-4DF1-1C3C-399C5727F09B}"/>
              </a:ext>
            </a:extLst>
          </p:cNvPr>
          <p:cNvSpPr>
            <a:spLocks noChangeArrowheads="1"/>
          </p:cNvSpPr>
          <p:nvPr/>
        </p:nvSpPr>
        <p:spPr bwMode="auto">
          <a:xfrm>
            <a:off x="4991100" y="3603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4">
            <a:extLst>
              <a:ext uri="{FF2B5EF4-FFF2-40B4-BE49-F238E27FC236}">
                <a16:creationId xmlns:a16="http://schemas.microsoft.com/office/drawing/2014/main" xmlns="" id="{D4E0131D-B04A-43A2-EDC9-6F70C5B0A0B1}"/>
              </a:ext>
            </a:extLst>
          </p:cNvPr>
          <p:cNvSpPr>
            <a:spLocks noChangeArrowheads="1"/>
          </p:cNvSpPr>
          <p:nvPr/>
        </p:nvSpPr>
        <p:spPr bwMode="auto">
          <a:xfrm>
            <a:off x="5905500" y="134304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xmlns="" id="{44FBC0BE-D4B6-3098-ADF5-258834210D4F}"/>
              </a:ext>
            </a:extLst>
          </p:cNvPr>
          <p:cNvSpPr>
            <a:spLocks noChangeArrowheads="1"/>
          </p:cNvSpPr>
          <p:nvPr/>
        </p:nvSpPr>
        <p:spPr bwMode="auto">
          <a:xfrm>
            <a:off x="5905500" y="4102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2D7A8CE-DD1F-8578-BC75-0C9C86A5FB44}"/>
              </a:ext>
            </a:extLst>
          </p:cNvPr>
          <p:cNvSpPr txBox="1"/>
          <p:nvPr/>
        </p:nvSpPr>
        <p:spPr>
          <a:xfrm>
            <a:off x="205740" y="762000"/>
            <a:ext cx="7124700" cy="307777"/>
          </a:xfrm>
          <a:prstGeom prst="rect">
            <a:avLst/>
          </a:prstGeom>
          <a:noFill/>
        </p:spPr>
        <p:txBody>
          <a:bodyPr wrap="square" rtlCol="0">
            <a:spAutoFit/>
          </a:bodyPr>
          <a:lstStyle/>
          <a:p>
            <a:r>
              <a:rPr lang="en-US" dirty="0"/>
              <a:t>Bar chart The distribution of the gender.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p:nvPr/>
        </p:nvSpPr>
        <p:spPr>
          <a:xfrm rot="5400000">
            <a:off x="5384294" y="1308838"/>
            <a:ext cx="2806387" cy="3603494"/>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1"/>
          <p:cNvSpPr/>
          <p:nvPr/>
        </p:nvSpPr>
        <p:spPr>
          <a:xfrm>
            <a:off x="371441" y="147139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lt2"/>
          </a:solidFill>
          <a:ln w="19050" cap="flat" cmpd="sng">
            <a:solidFill>
              <a:schemeClr val="dk1"/>
            </a:solidFill>
            <a:prstDash val="solid"/>
            <a:round/>
            <a:headEnd type="none" w="med" len="med"/>
            <a:tailEnd type="none" w="med" len="med"/>
          </a:ln>
        </p:spPr>
      </p:sp>
      <p:sp>
        <p:nvSpPr>
          <p:cNvPr id="276" name="Google Shape;276;p31"/>
          <p:cNvSpPr/>
          <p:nvPr/>
        </p:nvSpPr>
        <p:spPr>
          <a:xfrm>
            <a:off x="371441" y="3616671"/>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sp>
      <p:sp>
        <p:nvSpPr>
          <p:cNvPr id="277" name="Google Shape;277;p31"/>
          <p:cNvSpPr/>
          <p:nvPr/>
        </p:nvSpPr>
        <p:spPr>
          <a:xfrm>
            <a:off x="398595" y="248064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sp>
      <p:sp>
        <p:nvSpPr>
          <p:cNvPr id="279" name="Google Shape;279;p31"/>
          <p:cNvSpPr txBox="1">
            <a:spLocks noGrp="1"/>
          </p:cNvSpPr>
          <p:nvPr>
            <p:ph type="title"/>
          </p:nvPr>
        </p:nvSpPr>
        <p:spPr>
          <a:xfrm>
            <a:off x="-861060" y="128715"/>
            <a:ext cx="102565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Bar chart graph with mean ADWG0021 in Males and Females.</a:t>
            </a:r>
          </a:p>
        </p:txBody>
      </p:sp>
      <p:sp>
        <p:nvSpPr>
          <p:cNvPr id="281" name="Google Shape;281;p31"/>
          <p:cNvSpPr txBox="1"/>
          <p:nvPr/>
        </p:nvSpPr>
        <p:spPr>
          <a:xfrm>
            <a:off x="1296065" y="2625670"/>
            <a:ext cx="3303018"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X</a:t>
            </a:r>
            <a:r>
              <a:rPr lang="en" dirty="0">
                <a:solidFill>
                  <a:schemeClr val="dk1"/>
                </a:solidFill>
                <a:latin typeface="Roboto"/>
                <a:ea typeface="Roboto"/>
                <a:cs typeface="Roboto"/>
                <a:sym typeface="Roboto"/>
              </a:rPr>
              <a:t>-axis is Gender.</a:t>
            </a:r>
          </a:p>
          <a:p>
            <a:pPr marL="0" lvl="0" indent="0" algn="l" rtl="0">
              <a:spcBef>
                <a:spcPts val="0"/>
              </a:spcBef>
              <a:spcAft>
                <a:spcPts val="0"/>
              </a:spcAft>
              <a:buNone/>
            </a:pPr>
            <a:r>
              <a:rPr lang="en" dirty="0">
                <a:solidFill>
                  <a:schemeClr val="dk1"/>
                </a:solidFill>
                <a:latin typeface="Roboto"/>
                <a:ea typeface="Roboto"/>
                <a:cs typeface="Roboto"/>
                <a:sym typeface="Roboto"/>
              </a:rPr>
              <a:t>Y-axis is the mean of ADWG0021 in each gender. </a:t>
            </a:r>
            <a:endParaRPr dirty="0">
              <a:solidFill>
                <a:schemeClr val="dk1"/>
              </a:solidFill>
              <a:latin typeface="Roboto"/>
              <a:ea typeface="Roboto"/>
              <a:cs typeface="Roboto"/>
              <a:sym typeface="Roboto"/>
            </a:endParaRPr>
          </a:p>
        </p:txBody>
      </p:sp>
      <p:grpSp>
        <p:nvGrpSpPr>
          <p:cNvPr id="283" name="Google Shape;283;p31"/>
          <p:cNvGrpSpPr/>
          <p:nvPr/>
        </p:nvGrpSpPr>
        <p:grpSpPr>
          <a:xfrm>
            <a:off x="1267499" y="3510027"/>
            <a:ext cx="2757598" cy="915000"/>
            <a:chOff x="5882075" y="2295525"/>
            <a:chExt cx="2395203" cy="915000"/>
          </a:xfrm>
        </p:grpSpPr>
        <p:sp>
          <p:nvSpPr>
            <p:cNvPr id="284" name="Google Shape;284;p31"/>
            <p:cNvSpPr txBox="1"/>
            <p:nvPr/>
          </p:nvSpPr>
          <p:spPr>
            <a:xfrm>
              <a:off x="5882075" y="2637825"/>
              <a:ext cx="2395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Roboto"/>
                  <a:ea typeface="Roboto"/>
                  <a:cs typeface="Roboto"/>
                  <a:sym typeface="Roboto"/>
                </a:rPr>
                <a:t>The mean of ADWG0021 is similar in males and females.</a:t>
              </a:r>
            </a:p>
          </p:txBody>
        </p:sp>
        <p:sp>
          <p:nvSpPr>
            <p:cNvPr id="285" name="Google Shape;285;p31"/>
            <p:cNvSpPr txBox="1"/>
            <p:nvPr/>
          </p:nvSpPr>
          <p:spPr>
            <a:xfrm>
              <a:off x="5882078" y="229552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Results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86" name="Google Shape;286;p31"/>
          <p:cNvGrpSpPr/>
          <p:nvPr/>
        </p:nvGrpSpPr>
        <p:grpSpPr>
          <a:xfrm>
            <a:off x="1234560" y="1551733"/>
            <a:ext cx="2757595" cy="762280"/>
            <a:chOff x="5882075" y="3536345"/>
            <a:chExt cx="2395200" cy="762280"/>
          </a:xfrm>
        </p:grpSpPr>
        <p:sp>
          <p:nvSpPr>
            <p:cNvPr id="287" name="Google Shape;287;p31"/>
            <p:cNvSpPr txBox="1"/>
            <p:nvPr/>
          </p:nvSpPr>
          <p:spPr>
            <a:xfrm>
              <a:off x="5882075" y="3725925"/>
              <a:ext cx="2395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dirty="0">
                  <a:solidFill>
                    <a:schemeClr val="dk1"/>
                  </a:solidFill>
                  <a:latin typeface="Roboto"/>
                  <a:ea typeface="Roboto"/>
                  <a:cs typeface="Roboto"/>
                  <a:sym typeface="Roboto"/>
                </a:rPr>
                <a:t>Number 2 =Males</a:t>
              </a:r>
            </a:p>
            <a:p>
              <a:pPr marL="0" lvl="0" indent="0" algn="l" rtl="0">
                <a:spcBef>
                  <a:spcPts val="0"/>
                </a:spcBef>
                <a:spcAft>
                  <a:spcPts val="1200"/>
                </a:spcAft>
                <a:buNone/>
              </a:pPr>
              <a:r>
                <a:rPr lang="en" dirty="0">
                  <a:solidFill>
                    <a:schemeClr val="dk1"/>
                  </a:solidFill>
                  <a:latin typeface="Roboto"/>
                  <a:ea typeface="Roboto"/>
                  <a:cs typeface="Roboto"/>
                  <a:sym typeface="Roboto"/>
                </a:rPr>
                <a:t>Number 1= Femals</a:t>
              </a:r>
              <a:endParaRPr dirty="0">
                <a:solidFill>
                  <a:schemeClr val="dk1"/>
                </a:solidFill>
                <a:latin typeface="Roboto"/>
                <a:ea typeface="Roboto"/>
                <a:cs typeface="Roboto"/>
                <a:sym typeface="Roboto"/>
              </a:endParaRPr>
            </a:p>
          </p:txBody>
        </p:sp>
        <p:sp>
          <p:nvSpPr>
            <p:cNvPr id="288" name="Google Shape;288;p31"/>
            <p:cNvSpPr txBox="1"/>
            <p:nvPr/>
          </p:nvSpPr>
          <p:spPr>
            <a:xfrm>
              <a:off x="5882075" y="353634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120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Geneder</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1" name="Google Shape;301;p31"/>
          <p:cNvGrpSpPr/>
          <p:nvPr/>
        </p:nvGrpSpPr>
        <p:grpSpPr>
          <a:xfrm>
            <a:off x="554753" y="2705077"/>
            <a:ext cx="438913" cy="431250"/>
            <a:chOff x="1542125" y="1512275"/>
            <a:chExt cx="411700" cy="404550"/>
          </a:xfrm>
        </p:grpSpPr>
        <p:sp>
          <p:nvSpPr>
            <p:cNvPr id="302" name="Google Shape;302;p31"/>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1"/>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31"/>
          <p:cNvGrpSpPr/>
          <p:nvPr/>
        </p:nvGrpSpPr>
        <p:grpSpPr>
          <a:xfrm>
            <a:off x="582993" y="1657264"/>
            <a:ext cx="438904" cy="378314"/>
            <a:chOff x="2248825" y="1392050"/>
            <a:chExt cx="380300" cy="327800"/>
          </a:xfrm>
        </p:grpSpPr>
        <p:sp>
          <p:nvSpPr>
            <p:cNvPr id="305" name="Google Shape;305;p31"/>
            <p:cNvSpPr/>
            <p:nvPr/>
          </p:nvSpPr>
          <p:spPr>
            <a:xfrm>
              <a:off x="2248825" y="1392050"/>
              <a:ext cx="380300" cy="327800"/>
            </a:xfrm>
            <a:custGeom>
              <a:avLst/>
              <a:gdLst/>
              <a:ahLst/>
              <a:cxnLst/>
              <a:rect l="l" t="t" r="r" b="b"/>
              <a:pathLst>
                <a:path w="15212" h="13112" extrusionOk="0">
                  <a:moveTo>
                    <a:pt x="13375" y="6004"/>
                  </a:moveTo>
                  <a:cubicBezTo>
                    <a:pt x="13491" y="6004"/>
                    <a:pt x="13605" y="6014"/>
                    <a:pt x="13705" y="6047"/>
                  </a:cubicBezTo>
                  <a:cubicBezTo>
                    <a:pt x="14270" y="6257"/>
                    <a:pt x="14396" y="6822"/>
                    <a:pt x="14480" y="7449"/>
                  </a:cubicBezTo>
                  <a:cubicBezTo>
                    <a:pt x="14647" y="8809"/>
                    <a:pt x="14521" y="10211"/>
                    <a:pt x="14459" y="11571"/>
                  </a:cubicBezTo>
                  <a:cubicBezTo>
                    <a:pt x="13585" y="11606"/>
                    <a:pt x="12711" y="11831"/>
                    <a:pt x="11850" y="11831"/>
                  </a:cubicBezTo>
                  <a:cubicBezTo>
                    <a:pt x="11680" y="11831"/>
                    <a:pt x="11510" y="11822"/>
                    <a:pt x="11341" y="11801"/>
                  </a:cubicBezTo>
                  <a:cubicBezTo>
                    <a:pt x="11320" y="11697"/>
                    <a:pt x="11236" y="11592"/>
                    <a:pt x="11132" y="11571"/>
                  </a:cubicBezTo>
                  <a:cubicBezTo>
                    <a:pt x="11216" y="10839"/>
                    <a:pt x="11341" y="10211"/>
                    <a:pt x="11320" y="9395"/>
                  </a:cubicBezTo>
                  <a:cubicBezTo>
                    <a:pt x="11257" y="8537"/>
                    <a:pt x="11236" y="7679"/>
                    <a:pt x="11153" y="6801"/>
                  </a:cubicBezTo>
                  <a:cubicBezTo>
                    <a:pt x="11174" y="6717"/>
                    <a:pt x="11153" y="6654"/>
                    <a:pt x="11132" y="6591"/>
                  </a:cubicBezTo>
                  <a:cubicBezTo>
                    <a:pt x="11111" y="6403"/>
                    <a:pt x="11111" y="6194"/>
                    <a:pt x="11090" y="6026"/>
                  </a:cubicBezTo>
                  <a:lnTo>
                    <a:pt x="12868" y="6026"/>
                  </a:lnTo>
                  <a:cubicBezTo>
                    <a:pt x="13019" y="6026"/>
                    <a:pt x="13200" y="6004"/>
                    <a:pt x="13375" y="6004"/>
                  </a:cubicBezTo>
                  <a:close/>
                  <a:moveTo>
                    <a:pt x="4892" y="696"/>
                  </a:moveTo>
                  <a:cubicBezTo>
                    <a:pt x="4947" y="696"/>
                    <a:pt x="5005" y="708"/>
                    <a:pt x="5064" y="733"/>
                  </a:cubicBezTo>
                  <a:cubicBezTo>
                    <a:pt x="5503" y="942"/>
                    <a:pt x="5378" y="1905"/>
                    <a:pt x="5378" y="2302"/>
                  </a:cubicBezTo>
                  <a:cubicBezTo>
                    <a:pt x="5315" y="3558"/>
                    <a:pt x="5734" y="4834"/>
                    <a:pt x="6633" y="5734"/>
                  </a:cubicBezTo>
                  <a:cubicBezTo>
                    <a:pt x="6633" y="5775"/>
                    <a:pt x="6675" y="5859"/>
                    <a:pt x="6738" y="5922"/>
                  </a:cubicBezTo>
                  <a:cubicBezTo>
                    <a:pt x="7805" y="6863"/>
                    <a:pt x="9081" y="7031"/>
                    <a:pt x="10441" y="7073"/>
                  </a:cubicBezTo>
                  <a:cubicBezTo>
                    <a:pt x="10504" y="7847"/>
                    <a:pt x="10525" y="8642"/>
                    <a:pt x="10588" y="9416"/>
                  </a:cubicBezTo>
                  <a:cubicBezTo>
                    <a:pt x="10608" y="9702"/>
                    <a:pt x="10589" y="9948"/>
                    <a:pt x="10549" y="10212"/>
                  </a:cubicBezTo>
                  <a:lnTo>
                    <a:pt x="10549" y="10212"/>
                  </a:lnTo>
                  <a:cubicBezTo>
                    <a:pt x="8510" y="10347"/>
                    <a:pt x="7339" y="12116"/>
                    <a:pt x="5399" y="12492"/>
                  </a:cubicBezTo>
                  <a:cubicBezTo>
                    <a:pt x="5196" y="12531"/>
                    <a:pt x="4989" y="12547"/>
                    <a:pt x="4781" y="12547"/>
                  </a:cubicBezTo>
                  <a:cubicBezTo>
                    <a:pt x="4433" y="12547"/>
                    <a:pt x="4079" y="12502"/>
                    <a:pt x="3725" y="12450"/>
                  </a:cubicBezTo>
                  <a:cubicBezTo>
                    <a:pt x="3285" y="12408"/>
                    <a:pt x="1381" y="12178"/>
                    <a:pt x="2218" y="11446"/>
                  </a:cubicBezTo>
                  <a:lnTo>
                    <a:pt x="2239" y="11404"/>
                  </a:lnTo>
                  <a:cubicBezTo>
                    <a:pt x="2536" y="11285"/>
                    <a:pt x="2384" y="10813"/>
                    <a:pt x="2032" y="10813"/>
                  </a:cubicBezTo>
                  <a:cubicBezTo>
                    <a:pt x="2011" y="10813"/>
                    <a:pt x="1990" y="10814"/>
                    <a:pt x="1967" y="10818"/>
                  </a:cubicBezTo>
                  <a:cubicBezTo>
                    <a:pt x="1938" y="10823"/>
                    <a:pt x="1909" y="10825"/>
                    <a:pt x="1880" y="10825"/>
                  </a:cubicBezTo>
                  <a:cubicBezTo>
                    <a:pt x="1271" y="10825"/>
                    <a:pt x="799" y="9816"/>
                    <a:pt x="1319" y="9416"/>
                  </a:cubicBezTo>
                  <a:lnTo>
                    <a:pt x="1486" y="9416"/>
                  </a:lnTo>
                  <a:cubicBezTo>
                    <a:pt x="1898" y="9396"/>
                    <a:pt x="1904" y="8767"/>
                    <a:pt x="1506" y="8767"/>
                  </a:cubicBezTo>
                  <a:cubicBezTo>
                    <a:pt x="1499" y="8767"/>
                    <a:pt x="1493" y="8767"/>
                    <a:pt x="1486" y="8767"/>
                  </a:cubicBezTo>
                  <a:cubicBezTo>
                    <a:pt x="1471" y="8768"/>
                    <a:pt x="1455" y="8769"/>
                    <a:pt x="1440" y="8769"/>
                  </a:cubicBezTo>
                  <a:cubicBezTo>
                    <a:pt x="1065" y="8769"/>
                    <a:pt x="772" y="8522"/>
                    <a:pt x="712" y="8140"/>
                  </a:cubicBezTo>
                  <a:cubicBezTo>
                    <a:pt x="676" y="7764"/>
                    <a:pt x="915" y="7603"/>
                    <a:pt x="1220" y="7603"/>
                  </a:cubicBezTo>
                  <a:cubicBezTo>
                    <a:pt x="1273" y="7603"/>
                    <a:pt x="1327" y="7608"/>
                    <a:pt x="1381" y="7617"/>
                  </a:cubicBezTo>
                  <a:cubicBezTo>
                    <a:pt x="1397" y="7619"/>
                    <a:pt x="1411" y="7620"/>
                    <a:pt x="1425" y="7620"/>
                  </a:cubicBezTo>
                  <a:cubicBezTo>
                    <a:pt x="1549" y="7620"/>
                    <a:pt x="1635" y="7541"/>
                    <a:pt x="1653" y="7428"/>
                  </a:cubicBezTo>
                  <a:cubicBezTo>
                    <a:pt x="1800" y="7324"/>
                    <a:pt x="1842" y="7115"/>
                    <a:pt x="1695" y="6968"/>
                  </a:cubicBezTo>
                  <a:cubicBezTo>
                    <a:pt x="1486" y="6717"/>
                    <a:pt x="1214" y="6508"/>
                    <a:pt x="1089" y="6257"/>
                  </a:cubicBezTo>
                  <a:cubicBezTo>
                    <a:pt x="858" y="5838"/>
                    <a:pt x="1381" y="5524"/>
                    <a:pt x="1737" y="5420"/>
                  </a:cubicBezTo>
                  <a:cubicBezTo>
                    <a:pt x="1988" y="5347"/>
                    <a:pt x="2243" y="5333"/>
                    <a:pt x="2498" y="5333"/>
                  </a:cubicBezTo>
                  <a:cubicBezTo>
                    <a:pt x="2663" y="5333"/>
                    <a:pt x="2828" y="5339"/>
                    <a:pt x="2991" y="5339"/>
                  </a:cubicBezTo>
                  <a:cubicBezTo>
                    <a:pt x="3375" y="5339"/>
                    <a:pt x="3750" y="5306"/>
                    <a:pt x="4102" y="5085"/>
                  </a:cubicBezTo>
                  <a:lnTo>
                    <a:pt x="4122" y="5064"/>
                  </a:lnTo>
                  <a:cubicBezTo>
                    <a:pt x="4227" y="5001"/>
                    <a:pt x="4311" y="4876"/>
                    <a:pt x="4227" y="4708"/>
                  </a:cubicBezTo>
                  <a:cubicBezTo>
                    <a:pt x="3850" y="3788"/>
                    <a:pt x="3641" y="2700"/>
                    <a:pt x="3997" y="1758"/>
                  </a:cubicBezTo>
                  <a:cubicBezTo>
                    <a:pt x="4109" y="1460"/>
                    <a:pt x="4437" y="696"/>
                    <a:pt x="4892" y="696"/>
                  </a:cubicBezTo>
                  <a:close/>
                  <a:moveTo>
                    <a:pt x="4918" y="0"/>
                  </a:moveTo>
                  <a:cubicBezTo>
                    <a:pt x="4143" y="0"/>
                    <a:pt x="3662" y="879"/>
                    <a:pt x="3411" y="1465"/>
                  </a:cubicBezTo>
                  <a:cubicBezTo>
                    <a:pt x="3055" y="2469"/>
                    <a:pt x="3181" y="3620"/>
                    <a:pt x="3516" y="4604"/>
                  </a:cubicBezTo>
                  <a:cubicBezTo>
                    <a:pt x="3323" y="4671"/>
                    <a:pt x="3114" y="4687"/>
                    <a:pt x="2899" y="4687"/>
                  </a:cubicBezTo>
                  <a:cubicBezTo>
                    <a:pt x="2683" y="4687"/>
                    <a:pt x="2462" y="4671"/>
                    <a:pt x="2245" y="4671"/>
                  </a:cubicBezTo>
                  <a:cubicBezTo>
                    <a:pt x="2137" y="4671"/>
                    <a:pt x="2030" y="4675"/>
                    <a:pt x="1925" y="4687"/>
                  </a:cubicBezTo>
                  <a:cubicBezTo>
                    <a:pt x="1402" y="4729"/>
                    <a:pt x="858" y="5001"/>
                    <a:pt x="544" y="5420"/>
                  </a:cubicBezTo>
                  <a:cubicBezTo>
                    <a:pt x="105" y="5985"/>
                    <a:pt x="440" y="6508"/>
                    <a:pt x="837" y="6968"/>
                  </a:cubicBezTo>
                  <a:cubicBezTo>
                    <a:pt x="335" y="7094"/>
                    <a:pt x="0" y="7533"/>
                    <a:pt x="42" y="8119"/>
                  </a:cubicBezTo>
                  <a:cubicBezTo>
                    <a:pt x="63" y="8558"/>
                    <a:pt x="314" y="8935"/>
                    <a:pt x="649" y="9165"/>
                  </a:cubicBezTo>
                  <a:cubicBezTo>
                    <a:pt x="419" y="9521"/>
                    <a:pt x="419" y="10023"/>
                    <a:pt x="544" y="10441"/>
                  </a:cubicBezTo>
                  <a:cubicBezTo>
                    <a:pt x="691" y="10881"/>
                    <a:pt x="984" y="11174"/>
                    <a:pt x="1361" y="11299"/>
                  </a:cubicBezTo>
                  <a:cubicBezTo>
                    <a:pt x="628" y="12408"/>
                    <a:pt x="2616" y="12931"/>
                    <a:pt x="3578" y="13036"/>
                  </a:cubicBezTo>
                  <a:cubicBezTo>
                    <a:pt x="3957" y="13079"/>
                    <a:pt x="4325" y="13111"/>
                    <a:pt x="4686" y="13111"/>
                  </a:cubicBezTo>
                  <a:cubicBezTo>
                    <a:pt x="5204" y="13111"/>
                    <a:pt x="5710" y="13045"/>
                    <a:pt x="6215" y="12848"/>
                  </a:cubicBezTo>
                  <a:cubicBezTo>
                    <a:pt x="7742" y="12241"/>
                    <a:pt x="8809" y="10923"/>
                    <a:pt x="10504" y="10818"/>
                  </a:cubicBezTo>
                  <a:lnTo>
                    <a:pt x="10504" y="10818"/>
                  </a:lnTo>
                  <a:cubicBezTo>
                    <a:pt x="10462" y="11195"/>
                    <a:pt x="10400" y="11592"/>
                    <a:pt x="10379" y="12011"/>
                  </a:cubicBezTo>
                  <a:cubicBezTo>
                    <a:pt x="10359" y="12222"/>
                    <a:pt x="10551" y="12327"/>
                    <a:pt x="10728" y="12327"/>
                  </a:cubicBezTo>
                  <a:cubicBezTo>
                    <a:pt x="10744" y="12327"/>
                    <a:pt x="10760" y="12326"/>
                    <a:pt x="10776" y="12325"/>
                  </a:cubicBezTo>
                  <a:cubicBezTo>
                    <a:pt x="11113" y="12410"/>
                    <a:pt x="11448" y="12442"/>
                    <a:pt x="11782" y="12442"/>
                  </a:cubicBezTo>
                  <a:cubicBezTo>
                    <a:pt x="12758" y="12442"/>
                    <a:pt x="13728" y="12167"/>
                    <a:pt x="14710" y="12136"/>
                  </a:cubicBezTo>
                  <a:cubicBezTo>
                    <a:pt x="14898" y="12136"/>
                    <a:pt x="15024" y="11990"/>
                    <a:pt x="15024" y="11822"/>
                  </a:cubicBezTo>
                  <a:cubicBezTo>
                    <a:pt x="15128" y="10672"/>
                    <a:pt x="15212" y="9500"/>
                    <a:pt x="15170" y="8307"/>
                  </a:cubicBezTo>
                  <a:cubicBezTo>
                    <a:pt x="15128" y="7596"/>
                    <a:pt x="15170" y="6508"/>
                    <a:pt x="14752" y="5901"/>
                  </a:cubicBezTo>
                  <a:cubicBezTo>
                    <a:pt x="14362" y="5344"/>
                    <a:pt x="13517" y="5214"/>
                    <a:pt x="12653" y="5214"/>
                  </a:cubicBezTo>
                  <a:cubicBezTo>
                    <a:pt x="11893" y="5214"/>
                    <a:pt x="11119" y="5315"/>
                    <a:pt x="10630" y="5315"/>
                  </a:cubicBezTo>
                  <a:cubicBezTo>
                    <a:pt x="10316" y="5315"/>
                    <a:pt x="10253" y="5692"/>
                    <a:pt x="10400" y="5859"/>
                  </a:cubicBezTo>
                  <a:lnTo>
                    <a:pt x="10400" y="5922"/>
                  </a:lnTo>
                  <a:cubicBezTo>
                    <a:pt x="10420" y="6068"/>
                    <a:pt x="10420" y="6215"/>
                    <a:pt x="10420" y="6361"/>
                  </a:cubicBezTo>
                  <a:cubicBezTo>
                    <a:pt x="9353" y="6340"/>
                    <a:pt x="8328" y="6236"/>
                    <a:pt x="7449" y="5608"/>
                  </a:cubicBezTo>
                  <a:cubicBezTo>
                    <a:pt x="7428" y="5545"/>
                    <a:pt x="7387" y="5503"/>
                    <a:pt x="7345" y="5462"/>
                  </a:cubicBezTo>
                  <a:cubicBezTo>
                    <a:pt x="6717" y="5001"/>
                    <a:pt x="6194" y="4039"/>
                    <a:pt x="6068" y="3265"/>
                  </a:cubicBezTo>
                  <a:cubicBezTo>
                    <a:pt x="5964" y="2700"/>
                    <a:pt x="6089" y="2114"/>
                    <a:pt x="6068" y="1549"/>
                  </a:cubicBezTo>
                  <a:cubicBezTo>
                    <a:pt x="6026" y="837"/>
                    <a:pt x="5754" y="21"/>
                    <a:pt x="4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1"/>
            <p:cNvSpPr/>
            <p:nvPr/>
          </p:nvSpPr>
          <p:spPr>
            <a:xfrm>
              <a:off x="2553275" y="1631175"/>
              <a:ext cx="41850" cy="41275"/>
            </a:xfrm>
            <a:custGeom>
              <a:avLst/>
              <a:gdLst/>
              <a:ahLst/>
              <a:cxnLst/>
              <a:rect l="l" t="t" r="r" b="b"/>
              <a:pathLst>
                <a:path w="1674" h="1651" extrusionOk="0">
                  <a:moveTo>
                    <a:pt x="963" y="667"/>
                  </a:moveTo>
                  <a:cubicBezTo>
                    <a:pt x="963" y="688"/>
                    <a:pt x="983" y="688"/>
                    <a:pt x="983" y="730"/>
                  </a:cubicBezTo>
                  <a:cubicBezTo>
                    <a:pt x="983" y="751"/>
                    <a:pt x="1025" y="793"/>
                    <a:pt x="1025" y="835"/>
                  </a:cubicBezTo>
                  <a:lnTo>
                    <a:pt x="1025" y="876"/>
                  </a:lnTo>
                  <a:lnTo>
                    <a:pt x="1025" y="1002"/>
                  </a:lnTo>
                  <a:cubicBezTo>
                    <a:pt x="1025" y="995"/>
                    <a:pt x="1023" y="993"/>
                    <a:pt x="1020" y="993"/>
                  </a:cubicBezTo>
                  <a:cubicBezTo>
                    <a:pt x="1014" y="993"/>
                    <a:pt x="1004" y="1002"/>
                    <a:pt x="1004" y="1002"/>
                  </a:cubicBezTo>
                  <a:lnTo>
                    <a:pt x="921" y="1002"/>
                  </a:lnTo>
                  <a:cubicBezTo>
                    <a:pt x="900" y="1002"/>
                    <a:pt x="858" y="1002"/>
                    <a:pt x="837" y="981"/>
                  </a:cubicBezTo>
                  <a:lnTo>
                    <a:pt x="816" y="981"/>
                  </a:lnTo>
                  <a:lnTo>
                    <a:pt x="774" y="960"/>
                  </a:lnTo>
                  <a:cubicBezTo>
                    <a:pt x="774" y="960"/>
                    <a:pt x="774" y="939"/>
                    <a:pt x="753" y="939"/>
                  </a:cubicBezTo>
                  <a:lnTo>
                    <a:pt x="753" y="897"/>
                  </a:lnTo>
                  <a:lnTo>
                    <a:pt x="753" y="876"/>
                  </a:lnTo>
                  <a:lnTo>
                    <a:pt x="753" y="855"/>
                  </a:lnTo>
                  <a:lnTo>
                    <a:pt x="774" y="793"/>
                  </a:lnTo>
                  <a:cubicBezTo>
                    <a:pt x="837" y="751"/>
                    <a:pt x="858" y="730"/>
                    <a:pt x="942" y="688"/>
                  </a:cubicBezTo>
                  <a:lnTo>
                    <a:pt x="963" y="667"/>
                  </a:lnTo>
                  <a:close/>
                  <a:moveTo>
                    <a:pt x="949" y="1"/>
                  </a:moveTo>
                  <a:cubicBezTo>
                    <a:pt x="795" y="1"/>
                    <a:pt x="644" y="52"/>
                    <a:pt x="502" y="123"/>
                  </a:cubicBezTo>
                  <a:cubicBezTo>
                    <a:pt x="398" y="165"/>
                    <a:pt x="377" y="228"/>
                    <a:pt x="335" y="311"/>
                  </a:cubicBezTo>
                  <a:cubicBezTo>
                    <a:pt x="126" y="521"/>
                    <a:pt x="0" y="835"/>
                    <a:pt x="126" y="1127"/>
                  </a:cubicBezTo>
                  <a:cubicBezTo>
                    <a:pt x="265" y="1476"/>
                    <a:pt x="593" y="1651"/>
                    <a:pt x="941" y="1651"/>
                  </a:cubicBezTo>
                  <a:cubicBezTo>
                    <a:pt x="1011" y="1651"/>
                    <a:pt x="1081" y="1644"/>
                    <a:pt x="1151" y="1630"/>
                  </a:cubicBezTo>
                  <a:cubicBezTo>
                    <a:pt x="1255" y="1609"/>
                    <a:pt x="1381" y="1546"/>
                    <a:pt x="1465" y="1504"/>
                  </a:cubicBezTo>
                  <a:cubicBezTo>
                    <a:pt x="1632" y="1399"/>
                    <a:pt x="1632" y="1274"/>
                    <a:pt x="1653" y="1107"/>
                  </a:cubicBezTo>
                  <a:cubicBezTo>
                    <a:pt x="1674" y="897"/>
                    <a:pt x="1653" y="688"/>
                    <a:pt x="1569" y="500"/>
                  </a:cubicBezTo>
                  <a:cubicBezTo>
                    <a:pt x="1527" y="270"/>
                    <a:pt x="1381" y="123"/>
                    <a:pt x="1172" y="39"/>
                  </a:cubicBezTo>
                  <a:cubicBezTo>
                    <a:pt x="1097" y="12"/>
                    <a:pt x="1023" y="1"/>
                    <a:pt x="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31"/>
          <p:cNvSpPr/>
          <p:nvPr/>
        </p:nvSpPr>
        <p:spPr>
          <a:xfrm>
            <a:off x="554765" y="3835765"/>
            <a:ext cx="438907" cy="362893"/>
          </a:xfrm>
          <a:custGeom>
            <a:avLst/>
            <a:gdLst/>
            <a:ahLst/>
            <a:cxnLst/>
            <a:rect l="l" t="t" r="r" b="b"/>
            <a:pathLst>
              <a:path w="14689" h="12145" extrusionOk="0">
                <a:moveTo>
                  <a:pt x="10480" y="559"/>
                </a:moveTo>
                <a:cubicBezTo>
                  <a:pt x="10577" y="559"/>
                  <a:pt x="10676" y="564"/>
                  <a:pt x="10776" y="574"/>
                </a:cubicBezTo>
                <a:cubicBezTo>
                  <a:pt x="12471" y="762"/>
                  <a:pt x="13098" y="2520"/>
                  <a:pt x="13057" y="4005"/>
                </a:cubicBezTo>
                <a:cubicBezTo>
                  <a:pt x="12994" y="7625"/>
                  <a:pt x="9604" y="9529"/>
                  <a:pt x="6989" y="11412"/>
                </a:cubicBezTo>
                <a:cubicBezTo>
                  <a:pt x="4917" y="9989"/>
                  <a:pt x="1904" y="8294"/>
                  <a:pt x="1172" y="5784"/>
                </a:cubicBezTo>
                <a:cubicBezTo>
                  <a:pt x="733" y="4319"/>
                  <a:pt x="628" y="2729"/>
                  <a:pt x="1800" y="1557"/>
                </a:cubicBezTo>
                <a:cubicBezTo>
                  <a:pt x="2296" y="1051"/>
                  <a:pt x="3117" y="771"/>
                  <a:pt x="3931" y="771"/>
                </a:cubicBezTo>
                <a:cubicBezTo>
                  <a:pt x="4934" y="771"/>
                  <a:pt x="5929" y="1196"/>
                  <a:pt x="6298" y="2143"/>
                </a:cubicBezTo>
                <a:cubicBezTo>
                  <a:pt x="6365" y="2294"/>
                  <a:pt x="6500" y="2365"/>
                  <a:pt x="6616" y="2365"/>
                </a:cubicBezTo>
                <a:cubicBezTo>
                  <a:pt x="6644" y="2365"/>
                  <a:pt x="6671" y="2360"/>
                  <a:pt x="6696" y="2352"/>
                </a:cubicBezTo>
                <a:cubicBezTo>
                  <a:pt x="6751" y="2490"/>
                  <a:pt x="6878" y="2600"/>
                  <a:pt x="7007" y="2600"/>
                </a:cubicBezTo>
                <a:cubicBezTo>
                  <a:pt x="7073" y="2600"/>
                  <a:pt x="7141" y="2570"/>
                  <a:pt x="7198" y="2499"/>
                </a:cubicBezTo>
                <a:cubicBezTo>
                  <a:pt x="7978" y="1465"/>
                  <a:pt x="9140" y="559"/>
                  <a:pt x="10480" y="559"/>
                </a:cubicBezTo>
                <a:close/>
                <a:moveTo>
                  <a:pt x="10635" y="1"/>
                </a:moveTo>
                <a:cubicBezTo>
                  <a:pt x="9301" y="1"/>
                  <a:pt x="7834" y="733"/>
                  <a:pt x="6884" y="1871"/>
                </a:cubicBezTo>
                <a:cubicBezTo>
                  <a:pt x="6331" y="688"/>
                  <a:pt x="4838" y="97"/>
                  <a:pt x="3548" y="97"/>
                </a:cubicBezTo>
                <a:cubicBezTo>
                  <a:pt x="3424" y="97"/>
                  <a:pt x="3301" y="102"/>
                  <a:pt x="3181" y="113"/>
                </a:cubicBezTo>
                <a:cubicBezTo>
                  <a:pt x="1465" y="302"/>
                  <a:pt x="251" y="2080"/>
                  <a:pt x="189" y="3691"/>
                </a:cubicBezTo>
                <a:cubicBezTo>
                  <a:pt x="0" y="7750"/>
                  <a:pt x="3850" y="10010"/>
                  <a:pt x="6779" y="12061"/>
                </a:cubicBezTo>
                <a:cubicBezTo>
                  <a:pt x="6821" y="12123"/>
                  <a:pt x="6905" y="12144"/>
                  <a:pt x="6989" y="12144"/>
                </a:cubicBezTo>
                <a:lnTo>
                  <a:pt x="7010" y="12144"/>
                </a:lnTo>
                <a:cubicBezTo>
                  <a:pt x="7051" y="12144"/>
                  <a:pt x="7114" y="12123"/>
                  <a:pt x="7135" y="12061"/>
                </a:cubicBezTo>
                <a:cubicBezTo>
                  <a:pt x="10357" y="9759"/>
                  <a:pt x="14689" y="7165"/>
                  <a:pt x="13601" y="2540"/>
                </a:cubicBezTo>
                <a:cubicBezTo>
                  <a:pt x="13181" y="738"/>
                  <a:pt x="11975" y="1"/>
                  <a:pt x="10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3">
            <a:extLst>
              <a:ext uri="{FF2B5EF4-FFF2-40B4-BE49-F238E27FC236}">
                <a16:creationId xmlns:a16="http://schemas.microsoft.com/office/drawing/2014/main" xmlns="" id="{DDDE9995-B2D3-4DF1-1C3C-399C5727F09B}"/>
              </a:ext>
            </a:extLst>
          </p:cNvPr>
          <p:cNvSpPr>
            <a:spLocks noChangeArrowheads="1"/>
          </p:cNvSpPr>
          <p:nvPr/>
        </p:nvSpPr>
        <p:spPr bwMode="auto">
          <a:xfrm>
            <a:off x="4991100" y="3603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4">
            <a:extLst>
              <a:ext uri="{FF2B5EF4-FFF2-40B4-BE49-F238E27FC236}">
                <a16:creationId xmlns:a16="http://schemas.microsoft.com/office/drawing/2014/main" xmlns="" id="{D4E0131D-B04A-43A2-EDC9-6F70C5B0A0B1}"/>
              </a:ext>
            </a:extLst>
          </p:cNvPr>
          <p:cNvSpPr>
            <a:spLocks noChangeArrowheads="1"/>
          </p:cNvSpPr>
          <p:nvPr/>
        </p:nvSpPr>
        <p:spPr bwMode="auto">
          <a:xfrm>
            <a:off x="5905500" y="134900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xmlns="" id="{44FBC0BE-D4B6-3098-ADF5-258834210D4F}"/>
              </a:ext>
            </a:extLst>
          </p:cNvPr>
          <p:cNvSpPr>
            <a:spLocks noChangeArrowheads="1"/>
          </p:cNvSpPr>
          <p:nvPr/>
        </p:nvSpPr>
        <p:spPr bwMode="auto">
          <a:xfrm>
            <a:off x="5905500" y="4102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2D7A8CE-DD1F-8578-BC75-0C9C86A5FB44}"/>
              </a:ext>
            </a:extLst>
          </p:cNvPr>
          <p:cNvSpPr txBox="1"/>
          <p:nvPr/>
        </p:nvSpPr>
        <p:spPr>
          <a:xfrm>
            <a:off x="205740" y="762000"/>
            <a:ext cx="7124700" cy="307777"/>
          </a:xfrm>
          <a:prstGeom prst="rect">
            <a:avLst/>
          </a:prstGeom>
          <a:noFill/>
        </p:spPr>
        <p:txBody>
          <a:bodyPr wrap="square" rtlCol="0">
            <a:spAutoFit/>
          </a:bodyPr>
          <a:lstStyle/>
          <a:p>
            <a:r>
              <a:rPr lang="en-US" dirty="0"/>
              <a:t>Bar chart The distribution of ADWG0021 in each gender.</a:t>
            </a:r>
          </a:p>
        </p:txBody>
      </p:sp>
      <p:pic>
        <p:nvPicPr>
          <p:cNvPr id="6" name="Picture 5" descr="RStudio">
            <a:extLst>
              <a:ext uri="{FF2B5EF4-FFF2-40B4-BE49-F238E27FC236}">
                <a16:creationId xmlns:a16="http://schemas.microsoft.com/office/drawing/2014/main" xmlns="" id="{7F83C398-96D9-33A2-DC8E-E09CDF13DD4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1914" t="45889" r="3320" b="2876"/>
          <a:stretch/>
        </p:blipFill>
        <p:spPr bwMode="auto">
          <a:xfrm>
            <a:off x="5183385" y="2022513"/>
            <a:ext cx="2756535" cy="217614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928080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p:nvPr/>
        </p:nvSpPr>
        <p:spPr>
          <a:xfrm rot="5400000">
            <a:off x="5384294" y="1308838"/>
            <a:ext cx="2806387" cy="3603494"/>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a:off x="308807" y="2510916"/>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txBody>
          <a:bodyPr/>
          <a:lstStyle/>
          <a:p>
            <a:endParaRPr lang="en-US" dirty="0"/>
          </a:p>
        </p:txBody>
      </p:sp>
      <p:sp>
        <p:nvSpPr>
          <p:cNvPr id="277" name="Google Shape;277;p31"/>
          <p:cNvSpPr/>
          <p:nvPr/>
        </p:nvSpPr>
        <p:spPr>
          <a:xfrm>
            <a:off x="329116" y="1393779"/>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txBody>
          <a:bodyPr/>
          <a:lstStyle/>
          <a:p>
            <a:endParaRPr lang="en-US" dirty="0"/>
          </a:p>
        </p:txBody>
      </p:sp>
      <p:sp>
        <p:nvSpPr>
          <p:cNvPr id="279" name="Google Shape;279;p31"/>
          <p:cNvSpPr txBox="1">
            <a:spLocks noGrp="1"/>
          </p:cNvSpPr>
          <p:nvPr>
            <p:ph type="title"/>
          </p:nvPr>
        </p:nvSpPr>
        <p:spPr>
          <a:xfrm>
            <a:off x="-1036320" y="98151"/>
            <a:ext cx="102565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Histogram of a continuous variable: “ADWG2150”</a:t>
            </a:r>
          </a:p>
        </p:txBody>
      </p:sp>
      <p:sp>
        <p:nvSpPr>
          <p:cNvPr id="281" name="Google Shape;281;p31"/>
          <p:cNvSpPr txBox="1"/>
          <p:nvPr/>
        </p:nvSpPr>
        <p:spPr>
          <a:xfrm>
            <a:off x="1341518" y="1332603"/>
            <a:ext cx="3303018"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X</a:t>
            </a:r>
            <a:r>
              <a:rPr lang="en" dirty="0">
                <a:solidFill>
                  <a:schemeClr val="dk1"/>
                </a:solidFill>
                <a:latin typeface="Roboto"/>
                <a:ea typeface="Roboto"/>
                <a:cs typeface="Roboto"/>
                <a:sym typeface="Roboto"/>
              </a:rPr>
              <a:t>-axis is ADWG2150 values</a:t>
            </a:r>
          </a:p>
          <a:p>
            <a:pPr marL="0" lvl="0" indent="0" algn="l" rtl="0">
              <a:spcBef>
                <a:spcPts val="0"/>
              </a:spcBef>
              <a:spcAft>
                <a:spcPts val="0"/>
              </a:spcAft>
              <a:buNone/>
            </a:pPr>
            <a:r>
              <a:rPr lang="en" dirty="0">
                <a:solidFill>
                  <a:schemeClr val="dk1"/>
                </a:solidFill>
                <a:latin typeface="Roboto"/>
                <a:ea typeface="Roboto"/>
                <a:cs typeface="Roboto"/>
                <a:sym typeface="Roboto"/>
              </a:rPr>
              <a:t>Y-axis is the distribution of ADWG2150 values over the data set. </a:t>
            </a:r>
            <a:endParaRPr dirty="0">
              <a:solidFill>
                <a:schemeClr val="dk1"/>
              </a:solidFill>
              <a:latin typeface="Roboto"/>
              <a:ea typeface="Roboto"/>
              <a:cs typeface="Roboto"/>
              <a:sym typeface="Roboto"/>
            </a:endParaRPr>
          </a:p>
        </p:txBody>
      </p:sp>
      <p:grpSp>
        <p:nvGrpSpPr>
          <p:cNvPr id="283" name="Google Shape;283;p31"/>
          <p:cNvGrpSpPr/>
          <p:nvPr/>
        </p:nvGrpSpPr>
        <p:grpSpPr>
          <a:xfrm>
            <a:off x="1401766" y="2688541"/>
            <a:ext cx="3603495" cy="915000"/>
            <a:chOff x="5882075" y="2295525"/>
            <a:chExt cx="2395203" cy="915000"/>
          </a:xfrm>
        </p:grpSpPr>
        <p:sp>
          <p:nvSpPr>
            <p:cNvPr id="284" name="Google Shape;284;p31"/>
            <p:cNvSpPr txBox="1"/>
            <p:nvPr/>
          </p:nvSpPr>
          <p:spPr>
            <a:xfrm>
              <a:off x="5882075" y="2637825"/>
              <a:ext cx="2395200" cy="572700"/>
            </a:xfrm>
            <a:prstGeom prst="rect">
              <a:avLst/>
            </a:prstGeom>
            <a:noFill/>
            <a:ln>
              <a:noFill/>
            </a:ln>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G</a:t>
              </a:r>
              <a:r>
                <a:rPr lang="en" dirty="0">
                  <a:solidFill>
                    <a:schemeClr val="dk1"/>
                  </a:solidFill>
                  <a:latin typeface="Roboto"/>
                  <a:ea typeface="Roboto"/>
                  <a:cs typeface="Roboto"/>
                  <a:sym typeface="Roboto"/>
                </a:rPr>
                <a:t>raph suggests normality.</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Range is between 350 and 650.</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Most of the piglets gained 450-550 g per day in this period.</a:t>
              </a:r>
            </a:p>
            <a:p>
              <a:pPr marL="285750" lvl="0" indent="-285750" algn="l" rtl="0">
                <a:spcBef>
                  <a:spcPts val="0"/>
                </a:spcBef>
                <a:spcAft>
                  <a:spcPts val="0"/>
                </a:spcAft>
                <a:buClr>
                  <a:schemeClr val="dk1"/>
                </a:buClr>
                <a:buSzPts val="1100"/>
                <a:buFont typeface="Arial" panose="020B0604020202020204" pitchFamily="34" charset="0"/>
                <a:buChar char="•"/>
              </a:pPr>
              <a:endParaRPr lang="en" dirty="0">
                <a:solidFill>
                  <a:schemeClr val="dk1"/>
                </a:solidFill>
                <a:latin typeface="Roboto"/>
                <a:ea typeface="Roboto"/>
                <a:cs typeface="Roboto"/>
                <a:sym typeface="Roboto"/>
              </a:endParaRPr>
            </a:p>
          </p:txBody>
        </p:sp>
        <p:sp>
          <p:nvSpPr>
            <p:cNvPr id="285" name="Google Shape;285;p31"/>
            <p:cNvSpPr txBox="1"/>
            <p:nvPr/>
          </p:nvSpPr>
          <p:spPr>
            <a:xfrm>
              <a:off x="5882078" y="229552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Results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1" name="Google Shape;301;p31"/>
          <p:cNvGrpSpPr/>
          <p:nvPr/>
        </p:nvGrpSpPr>
        <p:grpSpPr>
          <a:xfrm>
            <a:off x="493201" y="1520115"/>
            <a:ext cx="438913" cy="431250"/>
            <a:chOff x="1542125" y="1512275"/>
            <a:chExt cx="411700" cy="404550"/>
          </a:xfrm>
        </p:grpSpPr>
        <p:sp>
          <p:nvSpPr>
            <p:cNvPr id="302" name="Google Shape;302;p31"/>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 name="Google Shape;303;p31"/>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31"/>
          <p:cNvSpPr/>
          <p:nvPr/>
        </p:nvSpPr>
        <p:spPr>
          <a:xfrm>
            <a:off x="537470" y="2732608"/>
            <a:ext cx="438907" cy="362893"/>
          </a:xfrm>
          <a:custGeom>
            <a:avLst/>
            <a:gdLst/>
            <a:ahLst/>
            <a:cxnLst/>
            <a:rect l="l" t="t" r="r" b="b"/>
            <a:pathLst>
              <a:path w="14689" h="12145" extrusionOk="0">
                <a:moveTo>
                  <a:pt x="10480" y="559"/>
                </a:moveTo>
                <a:cubicBezTo>
                  <a:pt x="10577" y="559"/>
                  <a:pt x="10676" y="564"/>
                  <a:pt x="10776" y="574"/>
                </a:cubicBezTo>
                <a:cubicBezTo>
                  <a:pt x="12471" y="762"/>
                  <a:pt x="13098" y="2520"/>
                  <a:pt x="13057" y="4005"/>
                </a:cubicBezTo>
                <a:cubicBezTo>
                  <a:pt x="12994" y="7625"/>
                  <a:pt x="9604" y="9529"/>
                  <a:pt x="6989" y="11412"/>
                </a:cubicBezTo>
                <a:cubicBezTo>
                  <a:pt x="4917" y="9989"/>
                  <a:pt x="1904" y="8294"/>
                  <a:pt x="1172" y="5784"/>
                </a:cubicBezTo>
                <a:cubicBezTo>
                  <a:pt x="733" y="4319"/>
                  <a:pt x="628" y="2729"/>
                  <a:pt x="1800" y="1557"/>
                </a:cubicBezTo>
                <a:cubicBezTo>
                  <a:pt x="2296" y="1051"/>
                  <a:pt x="3117" y="771"/>
                  <a:pt x="3931" y="771"/>
                </a:cubicBezTo>
                <a:cubicBezTo>
                  <a:pt x="4934" y="771"/>
                  <a:pt x="5929" y="1196"/>
                  <a:pt x="6298" y="2143"/>
                </a:cubicBezTo>
                <a:cubicBezTo>
                  <a:pt x="6365" y="2294"/>
                  <a:pt x="6500" y="2365"/>
                  <a:pt x="6616" y="2365"/>
                </a:cubicBezTo>
                <a:cubicBezTo>
                  <a:pt x="6644" y="2365"/>
                  <a:pt x="6671" y="2360"/>
                  <a:pt x="6696" y="2352"/>
                </a:cubicBezTo>
                <a:cubicBezTo>
                  <a:pt x="6751" y="2490"/>
                  <a:pt x="6878" y="2600"/>
                  <a:pt x="7007" y="2600"/>
                </a:cubicBezTo>
                <a:cubicBezTo>
                  <a:pt x="7073" y="2600"/>
                  <a:pt x="7141" y="2570"/>
                  <a:pt x="7198" y="2499"/>
                </a:cubicBezTo>
                <a:cubicBezTo>
                  <a:pt x="7978" y="1465"/>
                  <a:pt x="9140" y="559"/>
                  <a:pt x="10480" y="559"/>
                </a:cubicBezTo>
                <a:close/>
                <a:moveTo>
                  <a:pt x="10635" y="1"/>
                </a:moveTo>
                <a:cubicBezTo>
                  <a:pt x="9301" y="1"/>
                  <a:pt x="7834" y="733"/>
                  <a:pt x="6884" y="1871"/>
                </a:cubicBezTo>
                <a:cubicBezTo>
                  <a:pt x="6331" y="688"/>
                  <a:pt x="4838" y="97"/>
                  <a:pt x="3548" y="97"/>
                </a:cubicBezTo>
                <a:cubicBezTo>
                  <a:pt x="3424" y="97"/>
                  <a:pt x="3301" y="102"/>
                  <a:pt x="3181" y="113"/>
                </a:cubicBezTo>
                <a:cubicBezTo>
                  <a:pt x="1465" y="302"/>
                  <a:pt x="251" y="2080"/>
                  <a:pt x="189" y="3691"/>
                </a:cubicBezTo>
                <a:cubicBezTo>
                  <a:pt x="0" y="7750"/>
                  <a:pt x="3850" y="10010"/>
                  <a:pt x="6779" y="12061"/>
                </a:cubicBezTo>
                <a:cubicBezTo>
                  <a:pt x="6821" y="12123"/>
                  <a:pt x="6905" y="12144"/>
                  <a:pt x="6989" y="12144"/>
                </a:cubicBezTo>
                <a:lnTo>
                  <a:pt x="7010" y="12144"/>
                </a:lnTo>
                <a:cubicBezTo>
                  <a:pt x="7051" y="12144"/>
                  <a:pt x="7114" y="12123"/>
                  <a:pt x="7135" y="12061"/>
                </a:cubicBezTo>
                <a:cubicBezTo>
                  <a:pt x="10357" y="9759"/>
                  <a:pt x="14689" y="7165"/>
                  <a:pt x="13601" y="2540"/>
                </a:cubicBezTo>
                <a:cubicBezTo>
                  <a:pt x="13181" y="738"/>
                  <a:pt x="11975" y="1"/>
                  <a:pt x="10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3">
            <a:extLst>
              <a:ext uri="{FF2B5EF4-FFF2-40B4-BE49-F238E27FC236}">
                <a16:creationId xmlns:a16="http://schemas.microsoft.com/office/drawing/2014/main" xmlns="" id="{DDDE9995-B2D3-4DF1-1C3C-399C5727F09B}"/>
              </a:ext>
            </a:extLst>
          </p:cNvPr>
          <p:cNvSpPr>
            <a:spLocks noChangeArrowheads="1"/>
          </p:cNvSpPr>
          <p:nvPr/>
        </p:nvSpPr>
        <p:spPr bwMode="auto">
          <a:xfrm>
            <a:off x="4991100" y="3603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4">
            <a:extLst>
              <a:ext uri="{FF2B5EF4-FFF2-40B4-BE49-F238E27FC236}">
                <a16:creationId xmlns:a16="http://schemas.microsoft.com/office/drawing/2014/main" xmlns="" id="{D4E0131D-B04A-43A2-EDC9-6F70C5B0A0B1}"/>
              </a:ext>
            </a:extLst>
          </p:cNvPr>
          <p:cNvSpPr>
            <a:spLocks noChangeArrowheads="1"/>
          </p:cNvSpPr>
          <p:nvPr/>
        </p:nvSpPr>
        <p:spPr bwMode="auto">
          <a:xfrm>
            <a:off x="5905500" y="134900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xmlns="" id="{44FBC0BE-D4B6-3098-ADF5-258834210D4F}"/>
              </a:ext>
            </a:extLst>
          </p:cNvPr>
          <p:cNvSpPr>
            <a:spLocks noChangeArrowheads="1"/>
          </p:cNvSpPr>
          <p:nvPr/>
        </p:nvSpPr>
        <p:spPr bwMode="auto">
          <a:xfrm>
            <a:off x="5905500" y="4102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2D7A8CE-DD1F-8578-BC75-0C9C86A5FB44}"/>
              </a:ext>
            </a:extLst>
          </p:cNvPr>
          <p:cNvSpPr txBox="1"/>
          <p:nvPr/>
        </p:nvSpPr>
        <p:spPr>
          <a:xfrm>
            <a:off x="220980" y="708151"/>
            <a:ext cx="7124700" cy="307777"/>
          </a:xfrm>
          <a:prstGeom prst="rect">
            <a:avLst/>
          </a:prstGeom>
          <a:noFill/>
        </p:spPr>
        <p:txBody>
          <a:bodyPr wrap="square" rtlCol="0">
            <a:spAutoFit/>
          </a:bodyPr>
          <a:lstStyle/>
          <a:p>
            <a:r>
              <a:rPr lang="en-US" dirty="0"/>
              <a:t>Histogram is the distribution of ADWG2150 in our dataset.</a:t>
            </a:r>
          </a:p>
        </p:txBody>
      </p:sp>
      <p:pic>
        <p:nvPicPr>
          <p:cNvPr id="7" name="Picture 6" descr="A screenshot of a computer&#10;&#10;Description automatically generated">
            <a:extLst>
              <a:ext uri="{FF2B5EF4-FFF2-40B4-BE49-F238E27FC236}">
                <a16:creationId xmlns:a16="http://schemas.microsoft.com/office/drawing/2014/main" xmlns="" id="{000F8ECD-16C7-47EE-7CD1-6FD42D0F8E93}"/>
              </a:ext>
            </a:extLst>
          </p:cNvPr>
          <p:cNvPicPr>
            <a:picLocks noChangeAspect="1"/>
          </p:cNvPicPr>
          <p:nvPr/>
        </p:nvPicPr>
        <p:blipFill rotWithShape="1">
          <a:blip r:embed="rId3">
            <a:extLst>
              <a:ext uri="{28A0092B-C50C-407E-A947-70E740481C1C}">
                <a14:useLocalDpi xmlns:a14="http://schemas.microsoft.com/office/drawing/2010/main" val="0"/>
              </a:ext>
            </a:extLst>
          </a:blip>
          <a:srcRect l="62081" t="37845" r="911" b="7873"/>
          <a:stretch/>
        </p:blipFill>
        <p:spPr bwMode="auto">
          <a:xfrm>
            <a:off x="5259253" y="1849705"/>
            <a:ext cx="3056468" cy="2521760"/>
          </a:xfrm>
          <a:prstGeom prst="rect">
            <a:avLst/>
          </a:prstGeom>
          <a:ln>
            <a:noFill/>
          </a:ln>
          <a:effectLst>
            <a:outerShdw blurRad="368300" dist="50800" dir="4800000" algn="ctr" rotWithShape="0">
              <a:srgbClr val="000000">
                <a:alpha val="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9804024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p:nvPr/>
        </p:nvSpPr>
        <p:spPr>
          <a:xfrm rot="5400000">
            <a:off x="5384294" y="1308838"/>
            <a:ext cx="2806387" cy="3603494"/>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a:off x="283655" y="2369249"/>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txBody>
          <a:bodyPr/>
          <a:lstStyle/>
          <a:p>
            <a:endParaRPr lang="en-US" dirty="0"/>
          </a:p>
        </p:txBody>
      </p:sp>
      <p:sp>
        <p:nvSpPr>
          <p:cNvPr id="277" name="Google Shape;277;p31"/>
          <p:cNvSpPr/>
          <p:nvPr/>
        </p:nvSpPr>
        <p:spPr>
          <a:xfrm>
            <a:off x="320072" y="133749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txBody>
          <a:bodyPr/>
          <a:lstStyle/>
          <a:p>
            <a:endParaRPr lang="en-US" dirty="0"/>
          </a:p>
        </p:txBody>
      </p:sp>
      <p:sp>
        <p:nvSpPr>
          <p:cNvPr id="279" name="Google Shape;279;p31"/>
          <p:cNvSpPr txBox="1">
            <a:spLocks noGrp="1"/>
          </p:cNvSpPr>
          <p:nvPr>
            <p:ph type="title"/>
          </p:nvPr>
        </p:nvSpPr>
        <p:spPr>
          <a:xfrm>
            <a:off x="-1036320" y="98151"/>
            <a:ext cx="102565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Histogram of a continuous variable: “ADWG0021”</a:t>
            </a:r>
          </a:p>
        </p:txBody>
      </p:sp>
      <p:sp>
        <p:nvSpPr>
          <p:cNvPr id="281" name="Google Shape;281;p31"/>
          <p:cNvSpPr txBox="1"/>
          <p:nvPr/>
        </p:nvSpPr>
        <p:spPr>
          <a:xfrm>
            <a:off x="1347614" y="1293130"/>
            <a:ext cx="3303018"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X</a:t>
            </a:r>
            <a:r>
              <a:rPr lang="en" dirty="0">
                <a:solidFill>
                  <a:schemeClr val="dk1"/>
                </a:solidFill>
                <a:latin typeface="Roboto"/>
                <a:ea typeface="Roboto"/>
                <a:cs typeface="Roboto"/>
                <a:sym typeface="Roboto"/>
              </a:rPr>
              <a:t>-axis is ADWG0021 values</a:t>
            </a:r>
          </a:p>
          <a:p>
            <a:pPr marL="0" lvl="0" indent="0" algn="l" rtl="0">
              <a:spcBef>
                <a:spcPts val="0"/>
              </a:spcBef>
              <a:spcAft>
                <a:spcPts val="0"/>
              </a:spcAft>
              <a:buNone/>
            </a:pPr>
            <a:r>
              <a:rPr lang="en" dirty="0">
                <a:solidFill>
                  <a:schemeClr val="dk1"/>
                </a:solidFill>
                <a:latin typeface="Roboto"/>
                <a:ea typeface="Roboto"/>
                <a:cs typeface="Roboto"/>
                <a:sym typeface="Roboto"/>
              </a:rPr>
              <a:t>Y-axis is the distribution of ADWG0021 values over the data set. </a:t>
            </a:r>
            <a:endParaRPr dirty="0">
              <a:solidFill>
                <a:schemeClr val="dk1"/>
              </a:solidFill>
              <a:latin typeface="Roboto"/>
              <a:ea typeface="Roboto"/>
              <a:cs typeface="Roboto"/>
              <a:sym typeface="Roboto"/>
            </a:endParaRPr>
          </a:p>
        </p:txBody>
      </p:sp>
      <p:grpSp>
        <p:nvGrpSpPr>
          <p:cNvPr id="283" name="Google Shape;283;p31"/>
          <p:cNvGrpSpPr/>
          <p:nvPr/>
        </p:nvGrpSpPr>
        <p:grpSpPr>
          <a:xfrm>
            <a:off x="1138043" y="2496332"/>
            <a:ext cx="3899983" cy="915000"/>
            <a:chOff x="5882075" y="2295525"/>
            <a:chExt cx="2592275" cy="915000"/>
          </a:xfrm>
        </p:grpSpPr>
        <p:sp>
          <p:nvSpPr>
            <p:cNvPr id="284" name="Google Shape;284;p31"/>
            <p:cNvSpPr txBox="1"/>
            <p:nvPr/>
          </p:nvSpPr>
          <p:spPr>
            <a:xfrm>
              <a:off x="5882075" y="2637825"/>
              <a:ext cx="2592275" cy="572700"/>
            </a:xfrm>
            <a:prstGeom prst="rect">
              <a:avLst/>
            </a:prstGeom>
            <a:noFill/>
            <a:ln>
              <a:noFill/>
            </a:ln>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G</a:t>
              </a:r>
              <a:r>
                <a:rPr lang="en" dirty="0">
                  <a:solidFill>
                    <a:schemeClr val="dk1"/>
                  </a:solidFill>
                  <a:latin typeface="Roboto"/>
                  <a:ea typeface="Roboto"/>
                  <a:cs typeface="Roboto"/>
                  <a:sym typeface="Roboto"/>
                </a:rPr>
                <a:t>raph suggests normality.</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Range is between 100 and  180, which means weight gain is small in ADWG0021.</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More variability in weight gain across the piglets</a:t>
              </a:r>
              <a:endParaRPr lang="en" dirty="0">
                <a:solidFill>
                  <a:schemeClr val="dk1"/>
                </a:solidFill>
                <a:latin typeface="Roboto"/>
                <a:ea typeface="Roboto"/>
                <a:cs typeface="Roboto"/>
                <a:sym typeface="Roboto"/>
              </a:endParaRPr>
            </a:p>
          </p:txBody>
        </p:sp>
        <p:sp>
          <p:nvSpPr>
            <p:cNvPr id="285" name="Google Shape;285;p31"/>
            <p:cNvSpPr txBox="1"/>
            <p:nvPr/>
          </p:nvSpPr>
          <p:spPr>
            <a:xfrm>
              <a:off x="5882078" y="229552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Results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1" name="Google Shape;301;p31"/>
          <p:cNvGrpSpPr/>
          <p:nvPr/>
        </p:nvGrpSpPr>
        <p:grpSpPr>
          <a:xfrm>
            <a:off x="511764" y="1499563"/>
            <a:ext cx="438913" cy="431250"/>
            <a:chOff x="1542125" y="1512275"/>
            <a:chExt cx="411700" cy="404550"/>
          </a:xfrm>
        </p:grpSpPr>
        <p:sp>
          <p:nvSpPr>
            <p:cNvPr id="302" name="Google Shape;302;p31"/>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1"/>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31"/>
          <p:cNvSpPr/>
          <p:nvPr/>
        </p:nvSpPr>
        <p:spPr>
          <a:xfrm>
            <a:off x="468051" y="2590939"/>
            <a:ext cx="438907" cy="362893"/>
          </a:xfrm>
          <a:custGeom>
            <a:avLst/>
            <a:gdLst/>
            <a:ahLst/>
            <a:cxnLst/>
            <a:rect l="l" t="t" r="r" b="b"/>
            <a:pathLst>
              <a:path w="14689" h="12145" extrusionOk="0">
                <a:moveTo>
                  <a:pt x="10480" y="559"/>
                </a:moveTo>
                <a:cubicBezTo>
                  <a:pt x="10577" y="559"/>
                  <a:pt x="10676" y="564"/>
                  <a:pt x="10776" y="574"/>
                </a:cubicBezTo>
                <a:cubicBezTo>
                  <a:pt x="12471" y="762"/>
                  <a:pt x="13098" y="2520"/>
                  <a:pt x="13057" y="4005"/>
                </a:cubicBezTo>
                <a:cubicBezTo>
                  <a:pt x="12994" y="7625"/>
                  <a:pt x="9604" y="9529"/>
                  <a:pt x="6989" y="11412"/>
                </a:cubicBezTo>
                <a:cubicBezTo>
                  <a:pt x="4917" y="9989"/>
                  <a:pt x="1904" y="8294"/>
                  <a:pt x="1172" y="5784"/>
                </a:cubicBezTo>
                <a:cubicBezTo>
                  <a:pt x="733" y="4319"/>
                  <a:pt x="628" y="2729"/>
                  <a:pt x="1800" y="1557"/>
                </a:cubicBezTo>
                <a:cubicBezTo>
                  <a:pt x="2296" y="1051"/>
                  <a:pt x="3117" y="771"/>
                  <a:pt x="3931" y="771"/>
                </a:cubicBezTo>
                <a:cubicBezTo>
                  <a:pt x="4934" y="771"/>
                  <a:pt x="5929" y="1196"/>
                  <a:pt x="6298" y="2143"/>
                </a:cubicBezTo>
                <a:cubicBezTo>
                  <a:pt x="6365" y="2294"/>
                  <a:pt x="6500" y="2365"/>
                  <a:pt x="6616" y="2365"/>
                </a:cubicBezTo>
                <a:cubicBezTo>
                  <a:pt x="6644" y="2365"/>
                  <a:pt x="6671" y="2360"/>
                  <a:pt x="6696" y="2352"/>
                </a:cubicBezTo>
                <a:cubicBezTo>
                  <a:pt x="6751" y="2490"/>
                  <a:pt x="6878" y="2600"/>
                  <a:pt x="7007" y="2600"/>
                </a:cubicBezTo>
                <a:cubicBezTo>
                  <a:pt x="7073" y="2600"/>
                  <a:pt x="7141" y="2570"/>
                  <a:pt x="7198" y="2499"/>
                </a:cubicBezTo>
                <a:cubicBezTo>
                  <a:pt x="7978" y="1465"/>
                  <a:pt x="9140" y="559"/>
                  <a:pt x="10480" y="559"/>
                </a:cubicBezTo>
                <a:close/>
                <a:moveTo>
                  <a:pt x="10635" y="1"/>
                </a:moveTo>
                <a:cubicBezTo>
                  <a:pt x="9301" y="1"/>
                  <a:pt x="7834" y="733"/>
                  <a:pt x="6884" y="1871"/>
                </a:cubicBezTo>
                <a:cubicBezTo>
                  <a:pt x="6331" y="688"/>
                  <a:pt x="4838" y="97"/>
                  <a:pt x="3548" y="97"/>
                </a:cubicBezTo>
                <a:cubicBezTo>
                  <a:pt x="3424" y="97"/>
                  <a:pt x="3301" y="102"/>
                  <a:pt x="3181" y="113"/>
                </a:cubicBezTo>
                <a:cubicBezTo>
                  <a:pt x="1465" y="302"/>
                  <a:pt x="251" y="2080"/>
                  <a:pt x="189" y="3691"/>
                </a:cubicBezTo>
                <a:cubicBezTo>
                  <a:pt x="0" y="7750"/>
                  <a:pt x="3850" y="10010"/>
                  <a:pt x="6779" y="12061"/>
                </a:cubicBezTo>
                <a:cubicBezTo>
                  <a:pt x="6821" y="12123"/>
                  <a:pt x="6905" y="12144"/>
                  <a:pt x="6989" y="12144"/>
                </a:cubicBezTo>
                <a:lnTo>
                  <a:pt x="7010" y="12144"/>
                </a:lnTo>
                <a:cubicBezTo>
                  <a:pt x="7051" y="12144"/>
                  <a:pt x="7114" y="12123"/>
                  <a:pt x="7135" y="12061"/>
                </a:cubicBezTo>
                <a:cubicBezTo>
                  <a:pt x="10357" y="9759"/>
                  <a:pt x="14689" y="7165"/>
                  <a:pt x="13601" y="2540"/>
                </a:cubicBezTo>
                <a:cubicBezTo>
                  <a:pt x="13181" y="738"/>
                  <a:pt x="11975" y="1"/>
                  <a:pt x="10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3">
            <a:extLst>
              <a:ext uri="{FF2B5EF4-FFF2-40B4-BE49-F238E27FC236}">
                <a16:creationId xmlns:a16="http://schemas.microsoft.com/office/drawing/2014/main" xmlns="" id="{DDDE9995-B2D3-4DF1-1C3C-399C5727F09B}"/>
              </a:ext>
            </a:extLst>
          </p:cNvPr>
          <p:cNvSpPr>
            <a:spLocks noChangeArrowheads="1"/>
          </p:cNvSpPr>
          <p:nvPr/>
        </p:nvSpPr>
        <p:spPr bwMode="auto">
          <a:xfrm>
            <a:off x="4991100" y="3603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xmlns="" id="{44FBC0BE-D4B6-3098-ADF5-258834210D4F}"/>
              </a:ext>
            </a:extLst>
          </p:cNvPr>
          <p:cNvSpPr>
            <a:spLocks noChangeArrowheads="1"/>
          </p:cNvSpPr>
          <p:nvPr/>
        </p:nvSpPr>
        <p:spPr bwMode="auto">
          <a:xfrm>
            <a:off x="5905500" y="4102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2D7A8CE-DD1F-8578-BC75-0C9C86A5FB44}"/>
              </a:ext>
            </a:extLst>
          </p:cNvPr>
          <p:cNvSpPr txBox="1"/>
          <p:nvPr/>
        </p:nvSpPr>
        <p:spPr>
          <a:xfrm>
            <a:off x="220980" y="708151"/>
            <a:ext cx="7124700" cy="307777"/>
          </a:xfrm>
          <a:prstGeom prst="rect">
            <a:avLst/>
          </a:prstGeom>
          <a:noFill/>
        </p:spPr>
        <p:txBody>
          <a:bodyPr wrap="square" rtlCol="0">
            <a:spAutoFit/>
          </a:bodyPr>
          <a:lstStyle/>
          <a:p>
            <a:r>
              <a:rPr lang="en-US" dirty="0"/>
              <a:t>Histogram is the distribution of ADWG0021 in our dataset.</a:t>
            </a:r>
          </a:p>
        </p:txBody>
      </p:sp>
      <p:pic>
        <p:nvPicPr>
          <p:cNvPr id="6" name="Picture 5" descr="A screenshot of a computer&#10;&#10;Description automatically generated">
            <a:extLst>
              <a:ext uri="{FF2B5EF4-FFF2-40B4-BE49-F238E27FC236}">
                <a16:creationId xmlns:a16="http://schemas.microsoft.com/office/drawing/2014/main" xmlns="" id="{CD877A53-56FD-28A5-EA58-02DC138EA7F9}"/>
              </a:ext>
            </a:extLst>
          </p:cNvPr>
          <p:cNvPicPr>
            <a:picLocks noChangeAspect="1"/>
          </p:cNvPicPr>
          <p:nvPr/>
        </p:nvPicPr>
        <p:blipFill rotWithShape="1">
          <a:blip r:embed="rId3">
            <a:extLst>
              <a:ext uri="{28A0092B-C50C-407E-A947-70E740481C1C}">
                <a14:useLocalDpi xmlns:a14="http://schemas.microsoft.com/office/drawing/2010/main" val="0"/>
              </a:ext>
            </a:extLst>
          </a:blip>
          <a:srcRect l="62122" t="37913" r="980" b="7406"/>
          <a:stretch/>
        </p:blipFill>
        <p:spPr bwMode="auto">
          <a:xfrm>
            <a:off x="5205580" y="1756576"/>
            <a:ext cx="3163813" cy="2637332"/>
          </a:xfrm>
          <a:prstGeom prst="rect">
            <a:avLst/>
          </a:prstGeom>
          <a:ln>
            <a:noFill/>
          </a:ln>
          <a:effectLst>
            <a:outerShdw blurRad="254000" dist="50800" dir="4800000" sx="107000" sy="107000" algn="ctr" rotWithShape="0">
              <a:srgbClr val="000000">
                <a:alpha val="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6813083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p:nvPr/>
        </p:nvSpPr>
        <p:spPr>
          <a:xfrm rot="5400000">
            <a:off x="5384294" y="1308838"/>
            <a:ext cx="2806387" cy="3603494"/>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1"/>
          <p:cNvSpPr/>
          <p:nvPr/>
        </p:nvSpPr>
        <p:spPr>
          <a:xfrm>
            <a:off x="371441" y="147139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lt2"/>
          </a:solidFill>
          <a:ln w="19050" cap="flat" cmpd="sng">
            <a:solidFill>
              <a:schemeClr val="dk1"/>
            </a:solidFill>
            <a:prstDash val="solid"/>
            <a:round/>
            <a:headEnd type="none" w="med" len="med"/>
            <a:tailEnd type="none" w="med" len="med"/>
          </a:ln>
        </p:spPr>
      </p:sp>
      <p:sp>
        <p:nvSpPr>
          <p:cNvPr id="276" name="Google Shape;276;p31"/>
          <p:cNvSpPr/>
          <p:nvPr/>
        </p:nvSpPr>
        <p:spPr>
          <a:xfrm>
            <a:off x="371441" y="3616671"/>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sp>
      <p:sp>
        <p:nvSpPr>
          <p:cNvPr id="277" name="Google Shape;277;p31"/>
          <p:cNvSpPr/>
          <p:nvPr/>
        </p:nvSpPr>
        <p:spPr>
          <a:xfrm>
            <a:off x="398595" y="2480647"/>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sp>
      <p:sp>
        <p:nvSpPr>
          <p:cNvPr id="279" name="Google Shape;279;p31"/>
          <p:cNvSpPr txBox="1">
            <a:spLocks noGrp="1"/>
          </p:cNvSpPr>
          <p:nvPr>
            <p:ph type="title"/>
          </p:nvPr>
        </p:nvSpPr>
        <p:spPr>
          <a:xfrm>
            <a:off x="-861060" y="128715"/>
            <a:ext cx="10256520" cy="106969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r>
              <a:rPr lang="en-US" sz="2000" dirty="0"/>
              <a:t>Scatterplot of ADWG0050 and ADWG0021 with regression  lines for each gender.</a:t>
            </a:r>
          </a:p>
        </p:txBody>
      </p:sp>
      <p:sp>
        <p:nvSpPr>
          <p:cNvPr id="281" name="Google Shape;281;p31"/>
          <p:cNvSpPr txBox="1"/>
          <p:nvPr/>
        </p:nvSpPr>
        <p:spPr>
          <a:xfrm>
            <a:off x="1267499" y="2564905"/>
            <a:ext cx="3311394"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X</a:t>
            </a:r>
            <a:r>
              <a:rPr lang="en" dirty="0">
                <a:solidFill>
                  <a:schemeClr val="dk1"/>
                </a:solidFill>
                <a:latin typeface="Roboto"/>
                <a:ea typeface="Roboto"/>
                <a:cs typeface="Roboto"/>
                <a:sym typeface="Roboto"/>
              </a:rPr>
              <a:t>-axis is ADWG0050.</a:t>
            </a:r>
          </a:p>
          <a:p>
            <a:pPr marL="0" lvl="0" indent="0" algn="l" rtl="0">
              <a:spcBef>
                <a:spcPts val="0"/>
              </a:spcBef>
              <a:spcAft>
                <a:spcPts val="0"/>
              </a:spcAft>
              <a:buNone/>
            </a:pPr>
            <a:r>
              <a:rPr lang="en" dirty="0">
                <a:solidFill>
                  <a:schemeClr val="dk1"/>
                </a:solidFill>
                <a:latin typeface="Roboto"/>
                <a:ea typeface="Roboto"/>
                <a:cs typeface="Roboto"/>
                <a:sym typeface="Roboto"/>
              </a:rPr>
              <a:t>Y-axis is the ADWG0021</a:t>
            </a:r>
            <a:endParaRPr dirty="0">
              <a:solidFill>
                <a:schemeClr val="dk1"/>
              </a:solidFill>
              <a:latin typeface="Roboto"/>
              <a:ea typeface="Roboto"/>
              <a:cs typeface="Roboto"/>
              <a:sym typeface="Roboto"/>
            </a:endParaRPr>
          </a:p>
        </p:txBody>
      </p:sp>
      <p:grpSp>
        <p:nvGrpSpPr>
          <p:cNvPr id="283" name="Google Shape;283;p31"/>
          <p:cNvGrpSpPr/>
          <p:nvPr/>
        </p:nvGrpSpPr>
        <p:grpSpPr>
          <a:xfrm>
            <a:off x="1267499" y="3510027"/>
            <a:ext cx="3725402" cy="915000"/>
            <a:chOff x="5882075" y="2295525"/>
            <a:chExt cx="2395203" cy="915000"/>
          </a:xfrm>
        </p:grpSpPr>
        <p:sp>
          <p:nvSpPr>
            <p:cNvPr id="284" name="Google Shape;284;p31"/>
            <p:cNvSpPr txBox="1"/>
            <p:nvPr/>
          </p:nvSpPr>
          <p:spPr>
            <a:xfrm>
              <a:off x="5882075" y="2637825"/>
              <a:ext cx="2395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solidFill>
                    <a:schemeClr val="dk1"/>
                  </a:solidFill>
                  <a:latin typeface="Roboto"/>
                  <a:ea typeface="Roboto"/>
                  <a:cs typeface="Roboto"/>
                  <a:sym typeface="Roboto"/>
                </a:rPr>
                <a:t>Flat regression lines suggests that the data points are scattered randomly, without any clear relationship.</a:t>
              </a:r>
              <a:endParaRPr lang="en" dirty="0">
                <a:solidFill>
                  <a:schemeClr val="dk1"/>
                </a:solidFill>
                <a:latin typeface="Roboto"/>
                <a:ea typeface="Roboto"/>
                <a:cs typeface="Roboto"/>
                <a:sym typeface="Roboto"/>
              </a:endParaRPr>
            </a:p>
          </p:txBody>
        </p:sp>
        <p:sp>
          <p:nvSpPr>
            <p:cNvPr id="285" name="Google Shape;285;p31"/>
            <p:cNvSpPr txBox="1"/>
            <p:nvPr/>
          </p:nvSpPr>
          <p:spPr>
            <a:xfrm>
              <a:off x="5882078" y="229552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Results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86" name="Google Shape;286;p31"/>
          <p:cNvGrpSpPr/>
          <p:nvPr/>
        </p:nvGrpSpPr>
        <p:grpSpPr>
          <a:xfrm>
            <a:off x="1234560" y="1551733"/>
            <a:ext cx="2757595" cy="762280"/>
            <a:chOff x="5882075" y="3536345"/>
            <a:chExt cx="2395200" cy="762280"/>
          </a:xfrm>
        </p:grpSpPr>
        <p:sp>
          <p:nvSpPr>
            <p:cNvPr id="287" name="Google Shape;287;p31"/>
            <p:cNvSpPr txBox="1"/>
            <p:nvPr/>
          </p:nvSpPr>
          <p:spPr>
            <a:xfrm>
              <a:off x="5882075" y="3725925"/>
              <a:ext cx="2395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dirty="0">
                  <a:solidFill>
                    <a:schemeClr val="dk1"/>
                  </a:solidFill>
                  <a:latin typeface="Roboto"/>
                  <a:ea typeface="Roboto"/>
                  <a:cs typeface="Roboto"/>
                  <a:sym typeface="Roboto"/>
                </a:rPr>
                <a:t>Blue line = Males</a:t>
              </a:r>
            </a:p>
            <a:p>
              <a:pPr marL="0" lvl="0" indent="0" algn="l" rtl="0">
                <a:spcBef>
                  <a:spcPts val="0"/>
                </a:spcBef>
                <a:spcAft>
                  <a:spcPts val="1200"/>
                </a:spcAft>
                <a:buNone/>
              </a:pPr>
              <a:r>
                <a:rPr lang="en" dirty="0">
                  <a:solidFill>
                    <a:schemeClr val="dk1"/>
                  </a:solidFill>
                  <a:latin typeface="Roboto"/>
                  <a:ea typeface="Roboto"/>
                  <a:cs typeface="Roboto"/>
                  <a:sym typeface="Roboto"/>
                </a:rPr>
                <a:t>Pink line = Femals</a:t>
              </a:r>
              <a:endParaRPr dirty="0">
                <a:solidFill>
                  <a:schemeClr val="dk1"/>
                </a:solidFill>
                <a:latin typeface="Roboto"/>
                <a:ea typeface="Roboto"/>
                <a:cs typeface="Roboto"/>
                <a:sym typeface="Roboto"/>
              </a:endParaRPr>
            </a:p>
          </p:txBody>
        </p:sp>
        <p:sp>
          <p:nvSpPr>
            <p:cNvPr id="288" name="Google Shape;288;p31"/>
            <p:cNvSpPr txBox="1"/>
            <p:nvPr/>
          </p:nvSpPr>
          <p:spPr>
            <a:xfrm>
              <a:off x="5882075" y="353634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120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Lines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1" name="Google Shape;301;p31"/>
          <p:cNvGrpSpPr/>
          <p:nvPr/>
        </p:nvGrpSpPr>
        <p:grpSpPr>
          <a:xfrm>
            <a:off x="554753" y="2705077"/>
            <a:ext cx="438913" cy="431250"/>
            <a:chOff x="1542125" y="1512275"/>
            <a:chExt cx="411700" cy="404550"/>
          </a:xfrm>
        </p:grpSpPr>
        <p:sp>
          <p:nvSpPr>
            <p:cNvPr id="302" name="Google Shape;302;p31"/>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1"/>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31"/>
          <p:cNvGrpSpPr/>
          <p:nvPr/>
        </p:nvGrpSpPr>
        <p:grpSpPr>
          <a:xfrm>
            <a:off x="582993" y="1657264"/>
            <a:ext cx="438904" cy="378314"/>
            <a:chOff x="2248825" y="1392050"/>
            <a:chExt cx="380300" cy="327800"/>
          </a:xfrm>
        </p:grpSpPr>
        <p:sp>
          <p:nvSpPr>
            <p:cNvPr id="305" name="Google Shape;305;p31"/>
            <p:cNvSpPr/>
            <p:nvPr/>
          </p:nvSpPr>
          <p:spPr>
            <a:xfrm>
              <a:off x="2248825" y="1392050"/>
              <a:ext cx="380300" cy="327800"/>
            </a:xfrm>
            <a:custGeom>
              <a:avLst/>
              <a:gdLst/>
              <a:ahLst/>
              <a:cxnLst/>
              <a:rect l="l" t="t" r="r" b="b"/>
              <a:pathLst>
                <a:path w="15212" h="13112" extrusionOk="0">
                  <a:moveTo>
                    <a:pt x="13375" y="6004"/>
                  </a:moveTo>
                  <a:cubicBezTo>
                    <a:pt x="13491" y="6004"/>
                    <a:pt x="13605" y="6014"/>
                    <a:pt x="13705" y="6047"/>
                  </a:cubicBezTo>
                  <a:cubicBezTo>
                    <a:pt x="14270" y="6257"/>
                    <a:pt x="14396" y="6822"/>
                    <a:pt x="14480" y="7449"/>
                  </a:cubicBezTo>
                  <a:cubicBezTo>
                    <a:pt x="14647" y="8809"/>
                    <a:pt x="14521" y="10211"/>
                    <a:pt x="14459" y="11571"/>
                  </a:cubicBezTo>
                  <a:cubicBezTo>
                    <a:pt x="13585" y="11606"/>
                    <a:pt x="12711" y="11831"/>
                    <a:pt x="11850" y="11831"/>
                  </a:cubicBezTo>
                  <a:cubicBezTo>
                    <a:pt x="11680" y="11831"/>
                    <a:pt x="11510" y="11822"/>
                    <a:pt x="11341" y="11801"/>
                  </a:cubicBezTo>
                  <a:cubicBezTo>
                    <a:pt x="11320" y="11697"/>
                    <a:pt x="11236" y="11592"/>
                    <a:pt x="11132" y="11571"/>
                  </a:cubicBezTo>
                  <a:cubicBezTo>
                    <a:pt x="11216" y="10839"/>
                    <a:pt x="11341" y="10211"/>
                    <a:pt x="11320" y="9395"/>
                  </a:cubicBezTo>
                  <a:cubicBezTo>
                    <a:pt x="11257" y="8537"/>
                    <a:pt x="11236" y="7679"/>
                    <a:pt x="11153" y="6801"/>
                  </a:cubicBezTo>
                  <a:cubicBezTo>
                    <a:pt x="11174" y="6717"/>
                    <a:pt x="11153" y="6654"/>
                    <a:pt x="11132" y="6591"/>
                  </a:cubicBezTo>
                  <a:cubicBezTo>
                    <a:pt x="11111" y="6403"/>
                    <a:pt x="11111" y="6194"/>
                    <a:pt x="11090" y="6026"/>
                  </a:cubicBezTo>
                  <a:lnTo>
                    <a:pt x="12868" y="6026"/>
                  </a:lnTo>
                  <a:cubicBezTo>
                    <a:pt x="13019" y="6026"/>
                    <a:pt x="13200" y="6004"/>
                    <a:pt x="13375" y="6004"/>
                  </a:cubicBezTo>
                  <a:close/>
                  <a:moveTo>
                    <a:pt x="4892" y="696"/>
                  </a:moveTo>
                  <a:cubicBezTo>
                    <a:pt x="4947" y="696"/>
                    <a:pt x="5005" y="708"/>
                    <a:pt x="5064" y="733"/>
                  </a:cubicBezTo>
                  <a:cubicBezTo>
                    <a:pt x="5503" y="942"/>
                    <a:pt x="5378" y="1905"/>
                    <a:pt x="5378" y="2302"/>
                  </a:cubicBezTo>
                  <a:cubicBezTo>
                    <a:pt x="5315" y="3558"/>
                    <a:pt x="5734" y="4834"/>
                    <a:pt x="6633" y="5734"/>
                  </a:cubicBezTo>
                  <a:cubicBezTo>
                    <a:pt x="6633" y="5775"/>
                    <a:pt x="6675" y="5859"/>
                    <a:pt x="6738" y="5922"/>
                  </a:cubicBezTo>
                  <a:cubicBezTo>
                    <a:pt x="7805" y="6863"/>
                    <a:pt x="9081" y="7031"/>
                    <a:pt x="10441" y="7073"/>
                  </a:cubicBezTo>
                  <a:cubicBezTo>
                    <a:pt x="10504" y="7847"/>
                    <a:pt x="10525" y="8642"/>
                    <a:pt x="10588" y="9416"/>
                  </a:cubicBezTo>
                  <a:cubicBezTo>
                    <a:pt x="10608" y="9702"/>
                    <a:pt x="10589" y="9948"/>
                    <a:pt x="10549" y="10212"/>
                  </a:cubicBezTo>
                  <a:lnTo>
                    <a:pt x="10549" y="10212"/>
                  </a:lnTo>
                  <a:cubicBezTo>
                    <a:pt x="8510" y="10347"/>
                    <a:pt x="7339" y="12116"/>
                    <a:pt x="5399" y="12492"/>
                  </a:cubicBezTo>
                  <a:cubicBezTo>
                    <a:pt x="5196" y="12531"/>
                    <a:pt x="4989" y="12547"/>
                    <a:pt x="4781" y="12547"/>
                  </a:cubicBezTo>
                  <a:cubicBezTo>
                    <a:pt x="4433" y="12547"/>
                    <a:pt x="4079" y="12502"/>
                    <a:pt x="3725" y="12450"/>
                  </a:cubicBezTo>
                  <a:cubicBezTo>
                    <a:pt x="3285" y="12408"/>
                    <a:pt x="1381" y="12178"/>
                    <a:pt x="2218" y="11446"/>
                  </a:cubicBezTo>
                  <a:lnTo>
                    <a:pt x="2239" y="11404"/>
                  </a:lnTo>
                  <a:cubicBezTo>
                    <a:pt x="2536" y="11285"/>
                    <a:pt x="2384" y="10813"/>
                    <a:pt x="2032" y="10813"/>
                  </a:cubicBezTo>
                  <a:cubicBezTo>
                    <a:pt x="2011" y="10813"/>
                    <a:pt x="1990" y="10814"/>
                    <a:pt x="1967" y="10818"/>
                  </a:cubicBezTo>
                  <a:cubicBezTo>
                    <a:pt x="1938" y="10823"/>
                    <a:pt x="1909" y="10825"/>
                    <a:pt x="1880" y="10825"/>
                  </a:cubicBezTo>
                  <a:cubicBezTo>
                    <a:pt x="1271" y="10825"/>
                    <a:pt x="799" y="9816"/>
                    <a:pt x="1319" y="9416"/>
                  </a:cubicBezTo>
                  <a:lnTo>
                    <a:pt x="1486" y="9416"/>
                  </a:lnTo>
                  <a:cubicBezTo>
                    <a:pt x="1898" y="9396"/>
                    <a:pt x="1904" y="8767"/>
                    <a:pt x="1506" y="8767"/>
                  </a:cubicBezTo>
                  <a:cubicBezTo>
                    <a:pt x="1499" y="8767"/>
                    <a:pt x="1493" y="8767"/>
                    <a:pt x="1486" y="8767"/>
                  </a:cubicBezTo>
                  <a:cubicBezTo>
                    <a:pt x="1471" y="8768"/>
                    <a:pt x="1455" y="8769"/>
                    <a:pt x="1440" y="8769"/>
                  </a:cubicBezTo>
                  <a:cubicBezTo>
                    <a:pt x="1065" y="8769"/>
                    <a:pt x="772" y="8522"/>
                    <a:pt x="712" y="8140"/>
                  </a:cubicBezTo>
                  <a:cubicBezTo>
                    <a:pt x="676" y="7764"/>
                    <a:pt x="915" y="7603"/>
                    <a:pt x="1220" y="7603"/>
                  </a:cubicBezTo>
                  <a:cubicBezTo>
                    <a:pt x="1273" y="7603"/>
                    <a:pt x="1327" y="7608"/>
                    <a:pt x="1381" y="7617"/>
                  </a:cubicBezTo>
                  <a:cubicBezTo>
                    <a:pt x="1397" y="7619"/>
                    <a:pt x="1411" y="7620"/>
                    <a:pt x="1425" y="7620"/>
                  </a:cubicBezTo>
                  <a:cubicBezTo>
                    <a:pt x="1549" y="7620"/>
                    <a:pt x="1635" y="7541"/>
                    <a:pt x="1653" y="7428"/>
                  </a:cubicBezTo>
                  <a:cubicBezTo>
                    <a:pt x="1800" y="7324"/>
                    <a:pt x="1842" y="7115"/>
                    <a:pt x="1695" y="6968"/>
                  </a:cubicBezTo>
                  <a:cubicBezTo>
                    <a:pt x="1486" y="6717"/>
                    <a:pt x="1214" y="6508"/>
                    <a:pt x="1089" y="6257"/>
                  </a:cubicBezTo>
                  <a:cubicBezTo>
                    <a:pt x="858" y="5838"/>
                    <a:pt x="1381" y="5524"/>
                    <a:pt x="1737" y="5420"/>
                  </a:cubicBezTo>
                  <a:cubicBezTo>
                    <a:pt x="1988" y="5347"/>
                    <a:pt x="2243" y="5333"/>
                    <a:pt x="2498" y="5333"/>
                  </a:cubicBezTo>
                  <a:cubicBezTo>
                    <a:pt x="2663" y="5333"/>
                    <a:pt x="2828" y="5339"/>
                    <a:pt x="2991" y="5339"/>
                  </a:cubicBezTo>
                  <a:cubicBezTo>
                    <a:pt x="3375" y="5339"/>
                    <a:pt x="3750" y="5306"/>
                    <a:pt x="4102" y="5085"/>
                  </a:cubicBezTo>
                  <a:lnTo>
                    <a:pt x="4122" y="5064"/>
                  </a:lnTo>
                  <a:cubicBezTo>
                    <a:pt x="4227" y="5001"/>
                    <a:pt x="4311" y="4876"/>
                    <a:pt x="4227" y="4708"/>
                  </a:cubicBezTo>
                  <a:cubicBezTo>
                    <a:pt x="3850" y="3788"/>
                    <a:pt x="3641" y="2700"/>
                    <a:pt x="3997" y="1758"/>
                  </a:cubicBezTo>
                  <a:cubicBezTo>
                    <a:pt x="4109" y="1460"/>
                    <a:pt x="4437" y="696"/>
                    <a:pt x="4892" y="696"/>
                  </a:cubicBezTo>
                  <a:close/>
                  <a:moveTo>
                    <a:pt x="4918" y="0"/>
                  </a:moveTo>
                  <a:cubicBezTo>
                    <a:pt x="4143" y="0"/>
                    <a:pt x="3662" y="879"/>
                    <a:pt x="3411" y="1465"/>
                  </a:cubicBezTo>
                  <a:cubicBezTo>
                    <a:pt x="3055" y="2469"/>
                    <a:pt x="3181" y="3620"/>
                    <a:pt x="3516" y="4604"/>
                  </a:cubicBezTo>
                  <a:cubicBezTo>
                    <a:pt x="3323" y="4671"/>
                    <a:pt x="3114" y="4687"/>
                    <a:pt x="2899" y="4687"/>
                  </a:cubicBezTo>
                  <a:cubicBezTo>
                    <a:pt x="2683" y="4687"/>
                    <a:pt x="2462" y="4671"/>
                    <a:pt x="2245" y="4671"/>
                  </a:cubicBezTo>
                  <a:cubicBezTo>
                    <a:pt x="2137" y="4671"/>
                    <a:pt x="2030" y="4675"/>
                    <a:pt x="1925" y="4687"/>
                  </a:cubicBezTo>
                  <a:cubicBezTo>
                    <a:pt x="1402" y="4729"/>
                    <a:pt x="858" y="5001"/>
                    <a:pt x="544" y="5420"/>
                  </a:cubicBezTo>
                  <a:cubicBezTo>
                    <a:pt x="105" y="5985"/>
                    <a:pt x="440" y="6508"/>
                    <a:pt x="837" y="6968"/>
                  </a:cubicBezTo>
                  <a:cubicBezTo>
                    <a:pt x="335" y="7094"/>
                    <a:pt x="0" y="7533"/>
                    <a:pt x="42" y="8119"/>
                  </a:cubicBezTo>
                  <a:cubicBezTo>
                    <a:pt x="63" y="8558"/>
                    <a:pt x="314" y="8935"/>
                    <a:pt x="649" y="9165"/>
                  </a:cubicBezTo>
                  <a:cubicBezTo>
                    <a:pt x="419" y="9521"/>
                    <a:pt x="419" y="10023"/>
                    <a:pt x="544" y="10441"/>
                  </a:cubicBezTo>
                  <a:cubicBezTo>
                    <a:pt x="691" y="10881"/>
                    <a:pt x="984" y="11174"/>
                    <a:pt x="1361" y="11299"/>
                  </a:cubicBezTo>
                  <a:cubicBezTo>
                    <a:pt x="628" y="12408"/>
                    <a:pt x="2616" y="12931"/>
                    <a:pt x="3578" y="13036"/>
                  </a:cubicBezTo>
                  <a:cubicBezTo>
                    <a:pt x="3957" y="13079"/>
                    <a:pt x="4325" y="13111"/>
                    <a:pt x="4686" y="13111"/>
                  </a:cubicBezTo>
                  <a:cubicBezTo>
                    <a:pt x="5204" y="13111"/>
                    <a:pt x="5710" y="13045"/>
                    <a:pt x="6215" y="12848"/>
                  </a:cubicBezTo>
                  <a:cubicBezTo>
                    <a:pt x="7742" y="12241"/>
                    <a:pt x="8809" y="10923"/>
                    <a:pt x="10504" y="10818"/>
                  </a:cubicBezTo>
                  <a:lnTo>
                    <a:pt x="10504" y="10818"/>
                  </a:lnTo>
                  <a:cubicBezTo>
                    <a:pt x="10462" y="11195"/>
                    <a:pt x="10400" y="11592"/>
                    <a:pt x="10379" y="12011"/>
                  </a:cubicBezTo>
                  <a:cubicBezTo>
                    <a:pt x="10359" y="12222"/>
                    <a:pt x="10551" y="12327"/>
                    <a:pt x="10728" y="12327"/>
                  </a:cubicBezTo>
                  <a:cubicBezTo>
                    <a:pt x="10744" y="12327"/>
                    <a:pt x="10760" y="12326"/>
                    <a:pt x="10776" y="12325"/>
                  </a:cubicBezTo>
                  <a:cubicBezTo>
                    <a:pt x="11113" y="12410"/>
                    <a:pt x="11448" y="12442"/>
                    <a:pt x="11782" y="12442"/>
                  </a:cubicBezTo>
                  <a:cubicBezTo>
                    <a:pt x="12758" y="12442"/>
                    <a:pt x="13728" y="12167"/>
                    <a:pt x="14710" y="12136"/>
                  </a:cubicBezTo>
                  <a:cubicBezTo>
                    <a:pt x="14898" y="12136"/>
                    <a:pt x="15024" y="11990"/>
                    <a:pt x="15024" y="11822"/>
                  </a:cubicBezTo>
                  <a:cubicBezTo>
                    <a:pt x="15128" y="10672"/>
                    <a:pt x="15212" y="9500"/>
                    <a:pt x="15170" y="8307"/>
                  </a:cubicBezTo>
                  <a:cubicBezTo>
                    <a:pt x="15128" y="7596"/>
                    <a:pt x="15170" y="6508"/>
                    <a:pt x="14752" y="5901"/>
                  </a:cubicBezTo>
                  <a:cubicBezTo>
                    <a:pt x="14362" y="5344"/>
                    <a:pt x="13517" y="5214"/>
                    <a:pt x="12653" y="5214"/>
                  </a:cubicBezTo>
                  <a:cubicBezTo>
                    <a:pt x="11893" y="5214"/>
                    <a:pt x="11119" y="5315"/>
                    <a:pt x="10630" y="5315"/>
                  </a:cubicBezTo>
                  <a:cubicBezTo>
                    <a:pt x="10316" y="5315"/>
                    <a:pt x="10253" y="5692"/>
                    <a:pt x="10400" y="5859"/>
                  </a:cubicBezTo>
                  <a:lnTo>
                    <a:pt x="10400" y="5922"/>
                  </a:lnTo>
                  <a:cubicBezTo>
                    <a:pt x="10420" y="6068"/>
                    <a:pt x="10420" y="6215"/>
                    <a:pt x="10420" y="6361"/>
                  </a:cubicBezTo>
                  <a:cubicBezTo>
                    <a:pt x="9353" y="6340"/>
                    <a:pt x="8328" y="6236"/>
                    <a:pt x="7449" y="5608"/>
                  </a:cubicBezTo>
                  <a:cubicBezTo>
                    <a:pt x="7428" y="5545"/>
                    <a:pt x="7387" y="5503"/>
                    <a:pt x="7345" y="5462"/>
                  </a:cubicBezTo>
                  <a:cubicBezTo>
                    <a:pt x="6717" y="5001"/>
                    <a:pt x="6194" y="4039"/>
                    <a:pt x="6068" y="3265"/>
                  </a:cubicBezTo>
                  <a:cubicBezTo>
                    <a:pt x="5964" y="2700"/>
                    <a:pt x="6089" y="2114"/>
                    <a:pt x="6068" y="1549"/>
                  </a:cubicBezTo>
                  <a:cubicBezTo>
                    <a:pt x="6026" y="837"/>
                    <a:pt x="5754" y="21"/>
                    <a:pt x="4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1"/>
            <p:cNvSpPr/>
            <p:nvPr/>
          </p:nvSpPr>
          <p:spPr>
            <a:xfrm>
              <a:off x="2553275" y="1631175"/>
              <a:ext cx="41850" cy="41275"/>
            </a:xfrm>
            <a:custGeom>
              <a:avLst/>
              <a:gdLst/>
              <a:ahLst/>
              <a:cxnLst/>
              <a:rect l="l" t="t" r="r" b="b"/>
              <a:pathLst>
                <a:path w="1674" h="1651" extrusionOk="0">
                  <a:moveTo>
                    <a:pt x="963" y="667"/>
                  </a:moveTo>
                  <a:cubicBezTo>
                    <a:pt x="963" y="688"/>
                    <a:pt x="983" y="688"/>
                    <a:pt x="983" y="730"/>
                  </a:cubicBezTo>
                  <a:cubicBezTo>
                    <a:pt x="983" y="751"/>
                    <a:pt x="1025" y="793"/>
                    <a:pt x="1025" y="835"/>
                  </a:cubicBezTo>
                  <a:lnTo>
                    <a:pt x="1025" y="876"/>
                  </a:lnTo>
                  <a:lnTo>
                    <a:pt x="1025" y="1002"/>
                  </a:lnTo>
                  <a:cubicBezTo>
                    <a:pt x="1025" y="995"/>
                    <a:pt x="1023" y="993"/>
                    <a:pt x="1020" y="993"/>
                  </a:cubicBezTo>
                  <a:cubicBezTo>
                    <a:pt x="1014" y="993"/>
                    <a:pt x="1004" y="1002"/>
                    <a:pt x="1004" y="1002"/>
                  </a:cubicBezTo>
                  <a:lnTo>
                    <a:pt x="921" y="1002"/>
                  </a:lnTo>
                  <a:cubicBezTo>
                    <a:pt x="900" y="1002"/>
                    <a:pt x="858" y="1002"/>
                    <a:pt x="837" y="981"/>
                  </a:cubicBezTo>
                  <a:lnTo>
                    <a:pt x="816" y="981"/>
                  </a:lnTo>
                  <a:lnTo>
                    <a:pt x="774" y="960"/>
                  </a:lnTo>
                  <a:cubicBezTo>
                    <a:pt x="774" y="960"/>
                    <a:pt x="774" y="939"/>
                    <a:pt x="753" y="939"/>
                  </a:cubicBezTo>
                  <a:lnTo>
                    <a:pt x="753" y="897"/>
                  </a:lnTo>
                  <a:lnTo>
                    <a:pt x="753" y="876"/>
                  </a:lnTo>
                  <a:lnTo>
                    <a:pt x="753" y="855"/>
                  </a:lnTo>
                  <a:lnTo>
                    <a:pt x="774" y="793"/>
                  </a:lnTo>
                  <a:cubicBezTo>
                    <a:pt x="837" y="751"/>
                    <a:pt x="858" y="730"/>
                    <a:pt x="942" y="688"/>
                  </a:cubicBezTo>
                  <a:lnTo>
                    <a:pt x="963" y="667"/>
                  </a:lnTo>
                  <a:close/>
                  <a:moveTo>
                    <a:pt x="949" y="1"/>
                  </a:moveTo>
                  <a:cubicBezTo>
                    <a:pt x="795" y="1"/>
                    <a:pt x="644" y="52"/>
                    <a:pt x="502" y="123"/>
                  </a:cubicBezTo>
                  <a:cubicBezTo>
                    <a:pt x="398" y="165"/>
                    <a:pt x="377" y="228"/>
                    <a:pt x="335" y="311"/>
                  </a:cubicBezTo>
                  <a:cubicBezTo>
                    <a:pt x="126" y="521"/>
                    <a:pt x="0" y="835"/>
                    <a:pt x="126" y="1127"/>
                  </a:cubicBezTo>
                  <a:cubicBezTo>
                    <a:pt x="265" y="1476"/>
                    <a:pt x="593" y="1651"/>
                    <a:pt x="941" y="1651"/>
                  </a:cubicBezTo>
                  <a:cubicBezTo>
                    <a:pt x="1011" y="1651"/>
                    <a:pt x="1081" y="1644"/>
                    <a:pt x="1151" y="1630"/>
                  </a:cubicBezTo>
                  <a:cubicBezTo>
                    <a:pt x="1255" y="1609"/>
                    <a:pt x="1381" y="1546"/>
                    <a:pt x="1465" y="1504"/>
                  </a:cubicBezTo>
                  <a:cubicBezTo>
                    <a:pt x="1632" y="1399"/>
                    <a:pt x="1632" y="1274"/>
                    <a:pt x="1653" y="1107"/>
                  </a:cubicBezTo>
                  <a:cubicBezTo>
                    <a:pt x="1674" y="897"/>
                    <a:pt x="1653" y="688"/>
                    <a:pt x="1569" y="500"/>
                  </a:cubicBezTo>
                  <a:cubicBezTo>
                    <a:pt x="1527" y="270"/>
                    <a:pt x="1381" y="123"/>
                    <a:pt x="1172" y="39"/>
                  </a:cubicBezTo>
                  <a:cubicBezTo>
                    <a:pt x="1097" y="12"/>
                    <a:pt x="1023" y="1"/>
                    <a:pt x="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31"/>
          <p:cNvSpPr/>
          <p:nvPr/>
        </p:nvSpPr>
        <p:spPr>
          <a:xfrm>
            <a:off x="554765" y="3835765"/>
            <a:ext cx="438907" cy="362893"/>
          </a:xfrm>
          <a:custGeom>
            <a:avLst/>
            <a:gdLst/>
            <a:ahLst/>
            <a:cxnLst/>
            <a:rect l="l" t="t" r="r" b="b"/>
            <a:pathLst>
              <a:path w="14689" h="12145" extrusionOk="0">
                <a:moveTo>
                  <a:pt x="10480" y="559"/>
                </a:moveTo>
                <a:cubicBezTo>
                  <a:pt x="10577" y="559"/>
                  <a:pt x="10676" y="564"/>
                  <a:pt x="10776" y="574"/>
                </a:cubicBezTo>
                <a:cubicBezTo>
                  <a:pt x="12471" y="762"/>
                  <a:pt x="13098" y="2520"/>
                  <a:pt x="13057" y="4005"/>
                </a:cubicBezTo>
                <a:cubicBezTo>
                  <a:pt x="12994" y="7625"/>
                  <a:pt x="9604" y="9529"/>
                  <a:pt x="6989" y="11412"/>
                </a:cubicBezTo>
                <a:cubicBezTo>
                  <a:pt x="4917" y="9989"/>
                  <a:pt x="1904" y="8294"/>
                  <a:pt x="1172" y="5784"/>
                </a:cubicBezTo>
                <a:cubicBezTo>
                  <a:pt x="733" y="4319"/>
                  <a:pt x="628" y="2729"/>
                  <a:pt x="1800" y="1557"/>
                </a:cubicBezTo>
                <a:cubicBezTo>
                  <a:pt x="2296" y="1051"/>
                  <a:pt x="3117" y="771"/>
                  <a:pt x="3931" y="771"/>
                </a:cubicBezTo>
                <a:cubicBezTo>
                  <a:pt x="4934" y="771"/>
                  <a:pt x="5929" y="1196"/>
                  <a:pt x="6298" y="2143"/>
                </a:cubicBezTo>
                <a:cubicBezTo>
                  <a:pt x="6365" y="2294"/>
                  <a:pt x="6500" y="2365"/>
                  <a:pt x="6616" y="2365"/>
                </a:cubicBezTo>
                <a:cubicBezTo>
                  <a:pt x="6644" y="2365"/>
                  <a:pt x="6671" y="2360"/>
                  <a:pt x="6696" y="2352"/>
                </a:cubicBezTo>
                <a:cubicBezTo>
                  <a:pt x="6751" y="2490"/>
                  <a:pt x="6878" y="2600"/>
                  <a:pt x="7007" y="2600"/>
                </a:cubicBezTo>
                <a:cubicBezTo>
                  <a:pt x="7073" y="2600"/>
                  <a:pt x="7141" y="2570"/>
                  <a:pt x="7198" y="2499"/>
                </a:cubicBezTo>
                <a:cubicBezTo>
                  <a:pt x="7978" y="1465"/>
                  <a:pt x="9140" y="559"/>
                  <a:pt x="10480" y="559"/>
                </a:cubicBezTo>
                <a:close/>
                <a:moveTo>
                  <a:pt x="10635" y="1"/>
                </a:moveTo>
                <a:cubicBezTo>
                  <a:pt x="9301" y="1"/>
                  <a:pt x="7834" y="733"/>
                  <a:pt x="6884" y="1871"/>
                </a:cubicBezTo>
                <a:cubicBezTo>
                  <a:pt x="6331" y="688"/>
                  <a:pt x="4838" y="97"/>
                  <a:pt x="3548" y="97"/>
                </a:cubicBezTo>
                <a:cubicBezTo>
                  <a:pt x="3424" y="97"/>
                  <a:pt x="3301" y="102"/>
                  <a:pt x="3181" y="113"/>
                </a:cubicBezTo>
                <a:cubicBezTo>
                  <a:pt x="1465" y="302"/>
                  <a:pt x="251" y="2080"/>
                  <a:pt x="189" y="3691"/>
                </a:cubicBezTo>
                <a:cubicBezTo>
                  <a:pt x="0" y="7750"/>
                  <a:pt x="3850" y="10010"/>
                  <a:pt x="6779" y="12061"/>
                </a:cubicBezTo>
                <a:cubicBezTo>
                  <a:pt x="6821" y="12123"/>
                  <a:pt x="6905" y="12144"/>
                  <a:pt x="6989" y="12144"/>
                </a:cubicBezTo>
                <a:lnTo>
                  <a:pt x="7010" y="12144"/>
                </a:lnTo>
                <a:cubicBezTo>
                  <a:pt x="7051" y="12144"/>
                  <a:pt x="7114" y="12123"/>
                  <a:pt x="7135" y="12061"/>
                </a:cubicBezTo>
                <a:cubicBezTo>
                  <a:pt x="10357" y="9759"/>
                  <a:pt x="14689" y="7165"/>
                  <a:pt x="13601" y="2540"/>
                </a:cubicBezTo>
                <a:cubicBezTo>
                  <a:pt x="13181" y="738"/>
                  <a:pt x="11975" y="1"/>
                  <a:pt x="10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3">
            <a:extLst>
              <a:ext uri="{FF2B5EF4-FFF2-40B4-BE49-F238E27FC236}">
                <a16:creationId xmlns:a16="http://schemas.microsoft.com/office/drawing/2014/main" xmlns="" id="{DDDE9995-B2D3-4DF1-1C3C-399C5727F09B}"/>
              </a:ext>
            </a:extLst>
          </p:cNvPr>
          <p:cNvSpPr>
            <a:spLocks noChangeArrowheads="1"/>
          </p:cNvSpPr>
          <p:nvPr/>
        </p:nvSpPr>
        <p:spPr bwMode="auto">
          <a:xfrm>
            <a:off x="4992896" y="35558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xmlns="" id="{44FBC0BE-D4B6-3098-ADF5-258834210D4F}"/>
              </a:ext>
            </a:extLst>
          </p:cNvPr>
          <p:cNvSpPr>
            <a:spLocks noChangeArrowheads="1"/>
          </p:cNvSpPr>
          <p:nvPr/>
        </p:nvSpPr>
        <p:spPr bwMode="auto">
          <a:xfrm>
            <a:off x="5905500" y="4102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2D7A8CE-DD1F-8578-BC75-0C9C86A5FB44}"/>
              </a:ext>
            </a:extLst>
          </p:cNvPr>
          <p:cNvSpPr txBox="1"/>
          <p:nvPr/>
        </p:nvSpPr>
        <p:spPr>
          <a:xfrm>
            <a:off x="256539" y="743887"/>
            <a:ext cx="7124700" cy="369332"/>
          </a:xfrm>
          <a:prstGeom prst="rect">
            <a:avLst/>
          </a:prstGeom>
          <a:noFill/>
        </p:spPr>
        <p:txBody>
          <a:bodyPr wrap="square" rtlCol="0">
            <a:spAutoFit/>
          </a:bodyPr>
          <a:lstStyle/>
          <a:p>
            <a:r>
              <a:rPr lang="en-US" sz="1800" dirty="0">
                <a:latin typeface="Calibri" panose="020F0502020204030204" pitchFamily="34" charset="0"/>
                <a:ea typeface="Calibri" panose="020F0502020204030204" pitchFamily="34" charset="0"/>
                <a:cs typeface="Arial" panose="020B0604020202020204" pitchFamily="34" charset="0"/>
              </a:rPr>
              <a:t>S</a:t>
            </a:r>
            <a:r>
              <a:rPr lang="en-US" sz="1800" dirty="0">
                <a:effectLst/>
                <a:latin typeface="Calibri" panose="020F0502020204030204" pitchFamily="34" charset="0"/>
                <a:ea typeface="Calibri" panose="020F0502020204030204" pitchFamily="34" charset="0"/>
                <a:cs typeface="Arial" panose="020B0604020202020204" pitchFamily="34" charset="0"/>
              </a:rPr>
              <a:t>hows how </a:t>
            </a:r>
            <a:r>
              <a:rPr lang="en-US" sz="1800" dirty="0">
                <a:latin typeface="Calibri" panose="020F0502020204030204" pitchFamily="34" charset="0"/>
                <a:ea typeface="Calibri" panose="020F0502020204030204" pitchFamily="34" charset="0"/>
                <a:cs typeface="Arial" panose="020B0604020202020204" pitchFamily="34" charset="0"/>
              </a:rPr>
              <a:t>ADWG0050 and ADWG0021 </a:t>
            </a:r>
            <a:r>
              <a:rPr lang="en-US" sz="1800" dirty="0">
                <a:effectLst/>
                <a:latin typeface="Calibri" panose="020F0502020204030204" pitchFamily="34" charset="0"/>
                <a:ea typeface="Calibri" panose="020F0502020204030204" pitchFamily="34" charset="0"/>
                <a:cs typeface="Arial" panose="020B0604020202020204" pitchFamily="34" charset="0"/>
              </a:rPr>
              <a:t>variables relate to one another</a:t>
            </a:r>
            <a:endParaRPr lang="en-US" dirty="0"/>
          </a:p>
        </p:txBody>
      </p:sp>
      <p:pic>
        <p:nvPicPr>
          <p:cNvPr id="7" name="Picture 6" descr="RStudio">
            <a:extLst>
              <a:ext uri="{FF2B5EF4-FFF2-40B4-BE49-F238E27FC236}">
                <a16:creationId xmlns:a16="http://schemas.microsoft.com/office/drawing/2014/main" xmlns="" id="{657706D6-EA2B-7F8F-CC39-F01E25C43083}"/>
              </a:ext>
            </a:extLst>
          </p:cNvPr>
          <p:cNvPicPr>
            <a:picLocks noChangeAspect="1"/>
          </p:cNvPicPr>
          <p:nvPr/>
        </p:nvPicPr>
        <p:blipFill rotWithShape="1">
          <a:blip r:embed="rId3">
            <a:extLst>
              <a:ext uri="{28A0092B-C50C-407E-A947-70E740481C1C}">
                <a14:useLocalDpi xmlns:a14="http://schemas.microsoft.com/office/drawing/2010/main" val="0"/>
              </a:ext>
            </a:extLst>
          </a:blip>
          <a:srcRect l="63744" t="33278" r="2014" b="3047"/>
          <a:stretch/>
        </p:blipFill>
        <p:spPr bwMode="auto">
          <a:xfrm>
            <a:off x="5111493" y="1894033"/>
            <a:ext cx="3359150" cy="242443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576544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p:nvPr/>
        </p:nvSpPr>
        <p:spPr>
          <a:xfrm rot="5400000">
            <a:off x="5384294" y="1308838"/>
            <a:ext cx="2806387" cy="3603494"/>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a:off x="161880" y="2548492"/>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sp>
      <p:sp>
        <p:nvSpPr>
          <p:cNvPr id="277" name="Google Shape;277;p31"/>
          <p:cNvSpPr/>
          <p:nvPr/>
        </p:nvSpPr>
        <p:spPr>
          <a:xfrm>
            <a:off x="189034" y="1412468"/>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sp>
      <p:sp>
        <p:nvSpPr>
          <p:cNvPr id="279" name="Google Shape;279;p31"/>
          <p:cNvSpPr txBox="1">
            <a:spLocks noGrp="1"/>
          </p:cNvSpPr>
          <p:nvPr>
            <p:ph type="title"/>
          </p:nvPr>
        </p:nvSpPr>
        <p:spPr>
          <a:xfrm>
            <a:off x="-861060" y="128715"/>
            <a:ext cx="10256520" cy="1069698"/>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t>	Boxplot of ADWG0021. </a:t>
            </a:r>
            <a:endParaRPr lang="en-US" sz="2000" dirty="0"/>
          </a:p>
        </p:txBody>
      </p:sp>
      <p:sp>
        <p:nvSpPr>
          <p:cNvPr id="281" name="Google Shape;281;p31"/>
          <p:cNvSpPr txBox="1"/>
          <p:nvPr/>
        </p:nvSpPr>
        <p:spPr>
          <a:xfrm>
            <a:off x="1057938" y="1496726"/>
            <a:ext cx="3311394"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X-axis is ADWG0021 values</a:t>
            </a:r>
          </a:p>
          <a:p>
            <a:pPr marL="0" lvl="0" indent="0" algn="l" rtl="0">
              <a:spcBef>
                <a:spcPts val="0"/>
              </a:spcBef>
              <a:spcAft>
                <a:spcPts val="0"/>
              </a:spcAft>
              <a:buNone/>
            </a:pPr>
            <a:r>
              <a:rPr lang="en-US" dirty="0">
                <a:solidFill>
                  <a:schemeClr val="dk1"/>
                </a:solidFill>
                <a:latin typeface="Roboto"/>
                <a:ea typeface="Roboto"/>
                <a:cs typeface="Roboto"/>
                <a:sym typeface="Roboto"/>
              </a:rPr>
              <a:t>Y-axis is the distribution of ADWG0021 values over the data set. </a:t>
            </a:r>
          </a:p>
        </p:txBody>
      </p:sp>
      <p:grpSp>
        <p:nvGrpSpPr>
          <p:cNvPr id="283" name="Google Shape;283;p31"/>
          <p:cNvGrpSpPr/>
          <p:nvPr/>
        </p:nvGrpSpPr>
        <p:grpSpPr>
          <a:xfrm>
            <a:off x="1057938" y="2677308"/>
            <a:ext cx="3786605" cy="793534"/>
            <a:chOff x="5842725" y="2295525"/>
            <a:chExt cx="2434553" cy="793534"/>
          </a:xfrm>
        </p:grpSpPr>
        <p:sp>
          <p:nvSpPr>
            <p:cNvPr id="284" name="Google Shape;284;p31"/>
            <p:cNvSpPr txBox="1"/>
            <p:nvPr/>
          </p:nvSpPr>
          <p:spPr>
            <a:xfrm>
              <a:off x="5842725" y="2516359"/>
              <a:ext cx="2395200" cy="572700"/>
            </a:xfrm>
            <a:prstGeom prst="rect">
              <a:avLst/>
            </a:prstGeom>
            <a:noFill/>
            <a:ln>
              <a:noFill/>
            </a:ln>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No outliers</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Median is nearly 144</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Most pigs gained between 130-160 g in the period of ADWG0021.</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Ranger is between 100 and 180.</a:t>
              </a:r>
            </a:p>
          </p:txBody>
        </p:sp>
        <p:sp>
          <p:nvSpPr>
            <p:cNvPr id="285" name="Google Shape;285;p31"/>
            <p:cNvSpPr txBox="1"/>
            <p:nvPr/>
          </p:nvSpPr>
          <p:spPr>
            <a:xfrm>
              <a:off x="5882078" y="229552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Results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1" name="Google Shape;301;p31"/>
          <p:cNvGrpSpPr/>
          <p:nvPr/>
        </p:nvGrpSpPr>
        <p:grpSpPr>
          <a:xfrm>
            <a:off x="345192" y="1636898"/>
            <a:ext cx="438913" cy="431250"/>
            <a:chOff x="1542125" y="1512275"/>
            <a:chExt cx="411700" cy="404550"/>
          </a:xfrm>
        </p:grpSpPr>
        <p:sp>
          <p:nvSpPr>
            <p:cNvPr id="302" name="Google Shape;302;p31"/>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1"/>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31"/>
          <p:cNvSpPr/>
          <p:nvPr/>
        </p:nvSpPr>
        <p:spPr>
          <a:xfrm>
            <a:off x="345204" y="2767586"/>
            <a:ext cx="438907" cy="362893"/>
          </a:xfrm>
          <a:custGeom>
            <a:avLst/>
            <a:gdLst/>
            <a:ahLst/>
            <a:cxnLst/>
            <a:rect l="l" t="t" r="r" b="b"/>
            <a:pathLst>
              <a:path w="14689" h="12145" extrusionOk="0">
                <a:moveTo>
                  <a:pt x="10480" y="559"/>
                </a:moveTo>
                <a:cubicBezTo>
                  <a:pt x="10577" y="559"/>
                  <a:pt x="10676" y="564"/>
                  <a:pt x="10776" y="574"/>
                </a:cubicBezTo>
                <a:cubicBezTo>
                  <a:pt x="12471" y="762"/>
                  <a:pt x="13098" y="2520"/>
                  <a:pt x="13057" y="4005"/>
                </a:cubicBezTo>
                <a:cubicBezTo>
                  <a:pt x="12994" y="7625"/>
                  <a:pt x="9604" y="9529"/>
                  <a:pt x="6989" y="11412"/>
                </a:cubicBezTo>
                <a:cubicBezTo>
                  <a:pt x="4917" y="9989"/>
                  <a:pt x="1904" y="8294"/>
                  <a:pt x="1172" y="5784"/>
                </a:cubicBezTo>
                <a:cubicBezTo>
                  <a:pt x="733" y="4319"/>
                  <a:pt x="628" y="2729"/>
                  <a:pt x="1800" y="1557"/>
                </a:cubicBezTo>
                <a:cubicBezTo>
                  <a:pt x="2296" y="1051"/>
                  <a:pt x="3117" y="771"/>
                  <a:pt x="3931" y="771"/>
                </a:cubicBezTo>
                <a:cubicBezTo>
                  <a:pt x="4934" y="771"/>
                  <a:pt x="5929" y="1196"/>
                  <a:pt x="6298" y="2143"/>
                </a:cubicBezTo>
                <a:cubicBezTo>
                  <a:pt x="6365" y="2294"/>
                  <a:pt x="6500" y="2365"/>
                  <a:pt x="6616" y="2365"/>
                </a:cubicBezTo>
                <a:cubicBezTo>
                  <a:pt x="6644" y="2365"/>
                  <a:pt x="6671" y="2360"/>
                  <a:pt x="6696" y="2352"/>
                </a:cubicBezTo>
                <a:cubicBezTo>
                  <a:pt x="6751" y="2490"/>
                  <a:pt x="6878" y="2600"/>
                  <a:pt x="7007" y="2600"/>
                </a:cubicBezTo>
                <a:cubicBezTo>
                  <a:pt x="7073" y="2600"/>
                  <a:pt x="7141" y="2570"/>
                  <a:pt x="7198" y="2499"/>
                </a:cubicBezTo>
                <a:cubicBezTo>
                  <a:pt x="7978" y="1465"/>
                  <a:pt x="9140" y="559"/>
                  <a:pt x="10480" y="559"/>
                </a:cubicBezTo>
                <a:close/>
                <a:moveTo>
                  <a:pt x="10635" y="1"/>
                </a:moveTo>
                <a:cubicBezTo>
                  <a:pt x="9301" y="1"/>
                  <a:pt x="7834" y="733"/>
                  <a:pt x="6884" y="1871"/>
                </a:cubicBezTo>
                <a:cubicBezTo>
                  <a:pt x="6331" y="688"/>
                  <a:pt x="4838" y="97"/>
                  <a:pt x="3548" y="97"/>
                </a:cubicBezTo>
                <a:cubicBezTo>
                  <a:pt x="3424" y="97"/>
                  <a:pt x="3301" y="102"/>
                  <a:pt x="3181" y="113"/>
                </a:cubicBezTo>
                <a:cubicBezTo>
                  <a:pt x="1465" y="302"/>
                  <a:pt x="251" y="2080"/>
                  <a:pt x="189" y="3691"/>
                </a:cubicBezTo>
                <a:cubicBezTo>
                  <a:pt x="0" y="7750"/>
                  <a:pt x="3850" y="10010"/>
                  <a:pt x="6779" y="12061"/>
                </a:cubicBezTo>
                <a:cubicBezTo>
                  <a:pt x="6821" y="12123"/>
                  <a:pt x="6905" y="12144"/>
                  <a:pt x="6989" y="12144"/>
                </a:cubicBezTo>
                <a:lnTo>
                  <a:pt x="7010" y="12144"/>
                </a:lnTo>
                <a:cubicBezTo>
                  <a:pt x="7051" y="12144"/>
                  <a:pt x="7114" y="12123"/>
                  <a:pt x="7135" y="12061"/>
                </a:cubicBezTo>
                <a:cubicBezTo>
                  <a:pt x="10357" y="9759"/>
                  <a:pt x="14689" y="7165"/>
                  <a:pt x="13601" y="2540"/>
                </a:cubicBezTo>
                <a:cubicBezTo>
                  <a:pt x="13181" y="738"/>
                  <a:pt x="11975" y="1"/>
                  <a:pt x="10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3">
            <a:extLst>
              <a:ext uri="{FF2B5EF4-FFF2-40B4-BE49-F238E27FC236}">
                <a16:creationId xmlns:a16="http://schemas.microsoft.com/office/drawing/2014/main" xmlns="" id="{DDDE9995-B2D3-4DF1-1C3C-399C5727F09B}"/>
              </a:ext>
            </a:extLst>
          </p:cNvPr>
          <p:cNvSpPr>
            <a:spLocks noChangeArrowheads="1"/>
          </p:cNvSpPr>
          <p:nvPr/>
        </p:nvSpPr>
        <p:spPr bwMode="auto">
          <a:xfrm>
            <a:off x="4991100" y="3603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xmlns="" id="{44FBC0BE-D4B6-3098-ADF5-258834210D4F}"/>
              </a:ext>
            </a:extLst>
          </p:cNvPr>
          <p:cNvSpPr>
            <a:spLocks noChangeArrowheads="1"/>
          </p:cNvSpPr>
          <p:nvPr/>
        </p:nvSpPr>
        <p:spPr bwMode="auto">
          <a:xfrm>
            <a:off x="5905500" y="4102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2D7A8CE-DD1F-8578-BC75-0C9C86A5FB44}"/>
              </a:ext>
            </a:extLst>
          </p:cNvPr>
          <p:cNvSpPr txBox="1"/>
          <p:nvPr/>
        </p:nvSpPr>
        <p:spPr>
          <a:xfrm>
            <a:off x="256539" y="743887"/>
            <a:ext cx="7124700" cy="369332"/>
          </a:xfrm>
          <a:prstGeom prst="rect">
            <a:avLst/>
          </a:prstGeom>
          <a:noFill/>
        </p:spPr>
        <p:txBody>
          <a:bodyPr wrap="square" rtlCol="0">
            <a:spAutoFit/>
          </a:bodyPr>
          <a:lstStyle/>
          <a:p>
            <a:r>
              <a:rPr lang="en-US" sz="1800" dirty="0">
                <a:latin typeface="Calibri" panose="020F0502020204030204" pitchFamily="34" charset="0"/>
                <a:cs typeface="Arial" panose="020B0604020202020204" pitchFamily="34" charset="0"/>
              </a:rPr>
              <a:t>Shows us variations, median and any outliers</a:t>
            </a:r>
            <a:endParaRPr lang="en-US" dirty="0"/>
          </a:p>
        </p:txBody>
      </p:sp>
      <p:pic>
        <p:nvPicPr>
          <p:cNvPr id="3" name="Picture 2" descr="A screenshot of a computer&#10;&#10;Description automatically generated">
            <a:extLst>
              <a:ext uri="{FF2B5EF4-FFF2-40B4-BE49-F238E27FC236}">
                <a16:creationId xmlns:a16="http://schemas.microsoft.com/office/drawing/2014/main" xmlns="" id="{6334CF3F-DBFE-0BD2-B9C6-9F6718F5237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676" t="39125" r="838" b="8550"/>
          <a:stretch/>
        </p:blipFill>
        <p:spPr bwMode="auto">
          <a:xfrm>
            <a:off x="5488912" y="2035578"/>
            <a:ext cx="2597150" cy="21539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398338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p:nvPr/>
        </p:nvSpPr>
        <p:spPr>
          <a:xfrm rot="5400000">
            <a:off x="5384294" y="1308838"/>
            <a:ext cx="2806387" cy="3603494"/>
          </a:xfrm>
          <a:custGeom>
            <a:avLst/>
            <a:gdLst/>
            <a:ahLst/>
            <a:cxnLst/>
            <a:rect l="l" t="t" r="r" b="b"/>
            <a:pathLst>
              <a:path w="15000" h="63439" fill="none" extrusionOk="0">
                <a:moveTo>
                  <a:pt x="180" y="41795"/>
                </a:moveTo>
                <a:lnTo>
                  <a:pt x="180" y="61628"/>
                </a:lnTo>
                <a:cubicBezTo>
                  <a:pt x="160" y="61907"/>
                  <a:pt x="140" y="62265"/>
                  <a:pt x="120" y="62722"/>
                </a:cubicBezTo>
                <a:cubicBezTo>
                  <a:pt x="100" y="63021"/>
                  <a:pt x="80" y="63180"/>
                  <a:pt x="180" y="63279"/>
                </a:cubicBezTo>
                <a:cubicBezTo>
                  <a:pt x="339" y="63438"/>
                  <a:pt x="597" y="63379"/>
                  <a:pt x="1015" y="63339"/>
                </a:cubicBezTo>
                <a:cubicBezTo>
                  <a:pt x="1393" y="63299"/>
                  <a:pt x="1791" y="63359"/>
                  <a:pt x="2189" y="63339"/>
                </a:cubicBezTo>
                <a:cubicBezTo>
                  <a:pt x="2766" y="63319"/>
                  <a:pt x="5730" y="63299"/>
                  <a:pt x="13508" y="63339"/>
                </a:cubicBezTo>
                <a:cubicBezTo>
                  <a:pt x="13806" y="63339"/>
                  <a:pt x="14065" y="63339"/>
                  <a:pt x="14284" y="63339"/>
                </a:cubicBezTo>
                <a:cubicBezTo>
                  <a:pt x="14661" y="63339"/>
                  <a:pt x="14781" y="63339"/>
                  <a:pt x="14860" y="63259"/>
                </a:cubicBezTo>
                <a:cubicBezTo>
                  <a:pt x="15000" y="63100"/>
                  <a:pt x="14900" y="62822"/>
                  <a:pt x="14860" y="62523"/>
                </a:cubicBezTo>
                <a:cubicBezTo>
                  <a:pt x="14781" y="62086"/>
                  <a:pt x="14860" y="61628"/>
                  <a:pt x="14860" y="61171"/>
                </a:cubicBezTo>
                <a:lnTo>
                  <a:pt x="14860" y="1870"/>
                </a:lnTo>
                <a:cubicBezTo>
                  <a:pt x="14801" y="1433"/>
                  <a:pt x="14821" y="1095"/>
                  <a:pt x="14860" y="836"/>
                </a:cubicBezTo>
                <a:cubicBezTo>
                  <a:pt x="14900" y="498"/>
                  <a:pt x="14960" y="319"/>
                  <a:pt x="14860" y="179"/>
                </a:cubicBezTo>
                <a:cubicBezTo>
                  <a:pt x="14701" y="0"/>
                  <a:pt x="14343" y="80"/>
                  <a:pt x="14124" y="120"/>
                </a:cubicBezTo>
                <a:cubicBezTo>
                  <a:pt x="13508" y="219"/>
                  <a:pt x="12851" y="100"/>
                  <a:pt x="12215" y="179"/>
                </a:cubicBezTo>
                <a:cubicBezTo>
                  <a:pt x="11538" y="259"/>
                  <a:pt x="9092" y="299"/>
                  <a:pt x="1811" y="179"/>
                </a:cubicBezTo>
                <a:cubicBezTo>
                  <a:pt x="1373" y="199"/>
                  <a:pt x="1015" y="179"/>
                  <a:pt x="776" y="179"/>
                </a:cubicBezTo>
                <a:cubicBezTo>
                  <a:pt x="418" y="160"/>
                  <a:pt x="279" y="140"/>
                  <a:pt x="180" y="239"/>
                </a:cubicBezTo>
                <a:cubicBezTo>
                  <a:pt x="1" y="418"/>
                  <a:pt x="120" y="756"/>
                  <a:pt x="180" y="1174"/>
                </a:cubicBezTo>
                <a:cubicBezTo>
                  <a:pt x="279" y="1870"/>
                  <a:pt x="160" y="2248"/>
                  <a:pt x="160" y="2626"/>
                </a:cubicBezTo>
                <a:cubicBezTo>
                  <a:pt x="120" y="3362"/>
                  <a:pt x="140" y="14264"/>
                  <a:pt x="180" y="41795"/>
                </a:cubicBezTo>
                <a:close/>
              </a:path>
            </a:pathLst>
          </a:custGeom>
          <a:noFill/>
          <a:ln w="19050" cap="flat" cmpd="sng">
            <a:solidFill>
              <a:srgbClr val="040707"/>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a:off x="371441" y="2447896"/>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accent1"/>
          </a:solidFill>
          <a:ln w="19050" cap="flat" cmpd="sng">
            <a:solidFill>
              <a:schemeClr val="dk1"/>
            </a:solidFill>
            <a:prstDash val="solid"/>
            <a:round/>
            <a:headEnd type="none" w="med" len="med"/>
            <a:tailEnd type="none" w="med" len="med"/>
          </a:ln>
        </p:spPr>
      </p:sp>
      <p:sp>
        <p:nvSpPr>
          <p:cNvPr id="277" name="Google Shape;277;p31"/>
          <p:cNvSpPr/>
          <p:nvPr/>
        </p:nvSpPr>
        <p:spPr>
          <a:xfrm>
            <a:off x="391702" y="1369133"/>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solidFill>
            <a:schemeClr val="dk2"/>
          </a:solidFill>
          <a:ln w="19050" cap="flat" cmpd="sng">
            <a:solidFill>
              <a:schemeClr val="dk1"/>
            </a:solidFill>
            <a:prstDash val="solid"/>
            <a:round/>
            <a:headEnd type="none" w="med" len="med"/>
            <a:tailEnd type="none" w="med" len="med"/>
          </a:ln>
        </p:spPr>
      </p:sp>
      <p:sp>
        <p:nvSpPr>
          <p:cNvPr id="279" name="Google Shape;279;p31"/>
          <p:cNvSpPr txBox="1">
            <a:spLocks noGrp="1"/>
          </p:cNvSpPr>
          <p:nvPr>
            <p:ph type="title"/>
          </p:nvPr>
        </p:nvSpPr>
        <p:spPr>
          <a:xfrm>
            <a:off x="-861060" y="128715"/>
            <a:ext cx="10256520" cy="1069698"/>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t>	Separate boxplots per Treatment</a:t>
            </a:r>
            <a:endParaRPr lang="en-US" sz="2000" dirty="0"/>
          </a:p>
        </p:txBody>
      </p:sp>
      <p:sp>
        <p:nvSpPr>
          <p:cNvPr id="281" name="Google Shape;281;p31"/>
          <p:cNvSpPr txBox="1"/>
          <p:nvPr/>
        </p:nvSpPr>
        <p:spPr>
          <a:xfrm>
            <a:off x="1260606" y="1453391"/>
            <a:ext cx="3311394"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Roboto"/>
                <a:ea typeface="Roboto"/>
                <a:cs typeface="Roboto"/>
                <a:sym typeface="Roboto"/>
              </a:rPr>
              <a:t>X-axis is the treatment groups</a:t>
            </a:r>
          </a:p>
          <a:p>
            <a:pPr marL="0" lvl="0" indent="0" algn="l" rtl="0">
              <a:spcBef>
                <a:spcPts val="0"/>
              </a:spcBef>
              <a:spcAft>
                <a:spcPts val="0"/>
              </a:spcAft>
              <a:buNone/>
            </a:pPr>
            <a:r>
              <a:rPr lang="en-US" dirty="0">
                <a:solidFill>
                  <a:schemeClr val="dk1"/>
                </a:solidFill>
                <a:latin typeface="Roboto"/>
                <a:ea typeface="Roboto"/>
                <a:cs typeface="Roboto"/>
                <a:sym typeface="Roboto"/>
              </a:rPr>
              <a:t>Y-axis is the distribution of ADWG0021 across different treatments in data set. </a:t>
            </a:r>
          </a:p>
        </p:txBody>
      </p:sp>
      <p:grpSp>
        <p:nvGrpSpPr>
          <p:cNvPr id="283" name="Google Shape;283;p31"/>
          <p:cNvGrpSpPr/>
          <p:nvPr/>
        </p:nvGrpSpPr>
        <p:grpSpPr>
          <a:xfrm>
            <a:off x="1199402" y="2334462"/>
            <a:ext cx="3989818" cy="782948"/>
            <a:chOff x="5829210" y="2295525"/>
            <a:chExt cx="2448068" cy="782948"/>
          </a:xfrm>
        </p:grpSpPr>
        <p:sp>
          <p:nvSpPr>
            <p:cNvPr id="284" name="Google Shape;284;p31"/>
            <p:cNvSpPr txBox="1"/>
            <p:nvPr/>
          </p:nvSpPr>
          <p:spPr>
            <a:xfrm>
              <a:off x="5829210" y="2505773"/>
              <a:ext cx="2395200" cy="572700"/>
            </a:xfrm>
            <a:prstGeom prst="rect">
              <a:avLst/>
            </a:prstGeom>
            <a:noFill/>
            <a:ln>
              <a:noFill/>
            </a:ln>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Two outliers in treatment A.</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Treatment A shows the highest weight gain but lowest variations</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Treatments B and D shows higher variability.</a:t>
              </a:r>
            </a:p>
            <a:p>
              <a:pPr marL="285750" lvl="0" indent="-285750" algn="l" rtl="0">
                <a:lnSpc>
                  <a:spcPct val="150000"/>
                </a:lnSpc>
                <a:spcBef>
                  <a:spcPts val="0"/>
                </a:spcBef>
                <a:spcAft>
                  <a:spcPts val="0"/>
                </a:spcAft>
                <a:buClr>
                  <a:schemeClr val="dk1"/>
                </a:buClr>
                <a:buSzPts val="1100"/>
                <a:buFont typeface="Arial" panose="020B0604020202020204" pitchFamily="34" charset="0"/>
                <a:buChar char="•"/>
              </a:pPr>
              <a:r>
                <a:rPr lang="en-US" dirty="0">
                  <a:solidFill>
                    <a:schemeClr val="dk1"/>
                  </a:solidFill>
                  <a:latin typeface="Roboto"/>
                  <a:ea typeface="Roboto"/>
                  <a:cs typeface="Roboto"/>
                  <a:sym typeface="Roboto"/>
                </a:rPr>
                <a:t>Treatment B has the lowest mean which indicates lower average weight gain.</a:t>
              </a:r>
            </a:p>
          </p:txBody>
        </p:sp>
        <p:sp>
          <p:nvSpPr>
            <p:cNvPr id="285" name="Google Shape;285;p31"/>
            <p:cNvSpPr txBox="1"/>
            <p:nvPr/>
          </p:nvSpPr>
          <p:spPr>
            <a:xfrm>
              <a:off x="5882078" y="2295525"/>
              <a:ext cx="2395200" cy="34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chemeClr val="dk1"/>
                  </a:solidFill>
                  <a:latin typeface="Fira Sans Extra Condensed SemiBold"/>
                  <a:ea typeface="Fira Sans Extra Condensed SemiBold"/>
                  <a:cs typeface="Fira Sans Extra Condensed SemiBold"/>
                  <a:sym typeface="Fira Sans Extra Condensed SemiBold"/>
                </a:rPr>
                <a:t>Results</a:t>
              </a:r>
              <a:endParaRPr sz="2000" dirty="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1" name="Google Shape;301;p31"/>
          <p:cNvGrpSpPr/>
          <p:nvPr/>
        </p:nvGrpSpPr>
        <p:grpSpPr>
          <a:xfrm>
            <a:off x="547860" y="1593563"/>
            <a:ext cx="438913" cy="431250"/>
            <a:chOff x="1542125" y="1512275"/>
            <a:chExt cx="411700" cy="404550"/>
          </a:xfrm>
        </p:grpSpPr>
        <p:sp>
          <p:nvSpPr>
            <p:cNvPr id="302" name="Google Shape;302;p31"/>
            <p:cNvSpPr/>
            <p:nvPr/>
          </p:nvSpPr>
          <p:spPr>
            <a:xfrm>
              <a:off x="1542125" y="1512275"/>
              <a:ext cx="411700" cy="404550"/>
            </a:xfrm>
            <a:custGeom>
              <a:avLst/>
              <a:gdLst/>
              <a:ahLst/>
              <a:cxnLst/>
              <a:rect l="l" t="t" r="r" b="b"/>
              <a:pathLst>
                <a:path w="16468" h="16182" extrusionOk="0">
                  <a:moveTo>
                    <a:pt x="6508" y="673"/>
                  </a:moveTo>
                  <a:cubicBezTo>
                    <a:pt x="6843" y="1238"/>
                    <a:pt x="7177" y="1824"/>
                    <a:pt x="7554" y="2410"/>
                  </a:cubicBezTo>
                  <a:cubicBezTo>
                    <a:pt x="7614" y="2518"/>
                    <a:pt x="7715" y="2564"/>
                    <a:pt x="7814" y="2564"/>
                  </a:cubicBezTo>
                  <a:cubicBezTo>
                    <a:pt x="7888" y="2564"/>
                    <a:pt x="7961" y="2539"/>
                    <a:pt x="8014" y="2494"/>
                  </a:cubicBezTo>
                  <a:lnTo>
                    <a:pt x="8098" y="2494"/>
                  </a:lnTo>
                  <a:cubicBezTo>
                    <a:pt x="8278" y="2464"/>
                    <a:pt x="8458" y="2449"/>
                    <a:pt x="8638" y="2449"/>
                  </a:cubicBezTo>
                  <a:cubicBezTo>
                    <a:pt x="9084" y="2449"/>
                    <a:pt x="9528" y="2539"/>
                    <a:pt x="9960" y="2703"/>
                  </a:cubicBezTo>
                  <a:cubicBezTo>
                    <a:pt x="10002" y="2724"/>
                    <a:pt x="10065" y="2724"/>
                    <a:pt x="10086" y="2724"/>
                  </a:cubicBezTo>
                  <a:cubicBezTo>
                    <a:pt x="10109" y="2736"/>
                    <a:pt x="10134" y="2741"/>
                    <a:pt x="10159" y="2741"/>
                  </a:cubicBezTo>
                  <a:cubicBezTo>
                    <a:pt x="10225" y="2741"/>
                    <a:pt x="10292" y="2706"/>
                    <a:pt x="10337" y="2661"/>
                  </a:cubicBezTo>
                  <a:cubicBezTo>
                    <a:pt x="10839" y="2180"/>
                    <a:pt x="11341" y="1762"/>
                    <a:pt x="11864" y="1343"/>
                  </a:cubicBezTo>
                  <a:lnTo>
                    <a:pt x="12408" y="1657"/>
                  </a:lnTo>
                  <a:cubicBezTo>
                    <a:pt x="12262" y="2264"/>
                    <a:pt x="12074" y="2870"/>
                    <a:pt x="11885" y="3456"/>
                  </a:cubicBezTo>
                  <a:cubicBezTo>
                    <a:pt x="11760" y="3603"/>
                    <a:pt x="11697" y="3854"/>
                    <a:pt x="11906" y="3979"/>
                  </a:cubicBezTo>
                  <a:cubicBezTo>
                    <a:pt x="12471" y="4356"/>
                    <a:pt x="12848" y="4816"/>
                    <a:pt x="13141" y="5402"/>
                  </a:cubicBezTo>
                  <a:cubicBezTo>
                    <a:pt x="13162" y="5444"/>
                    <a:pt x="13203" y="5486"/>
                    <a:pt x="13224" y="5507"/>
                  </a:cubicBezTo>
                  <a:cubicBezTo>
                    <a:pt x="13266" y="5591"/>
                    <a:pt x="13350" y="5632"/>
                    <a:pt x="13475" y="5632"/>
                  </a:cubicBezTo>
                  <a:cubicBezTo>
                    <a:pt x="14166" y="5632"/>
                    <a:pt x="14836" y="5653"/>
                    <a:pt x="15505" y="5716"/>
                  </a:cubicBezTo>
                  <a:cubicBezTo>
                    <a:pt x="15568" y="5904"/>
                    <a:pt x="15631" y="6114"/>
                    <a:pt x="15672" y="6323"/>
                  </a:cubicBezTo>
                  <a:cubicBezTo>
                    <a:pt x="15108" y="6658"/>
                    <a:pt x="14522" y="6992"/>
                    <a:pt x="13936" y="7369"/>
                  </a:cubicBezTo>
                  <a:lnTo>
                    <a:pt x="13852" y="7432"/>
                  </a:lnTo>
                  <a:cubicBezTo>
                    <a:pt x="13747" y="7516"/>
                    <a:pt x="13664" y="7620"/>
                    <a:pt x="13685" y="7808"/>
                  </a:cubicBezTo>
                  <a:cubicBezTo>
                    <a:pt x="13852" y="8436"/>
                    <a:pt x="13831" y="9064"/>
                    <a:pt x="13643" y="9692"/>
                  </a:cubicBezTo>
                  <a:lnTo>
                    <a:pt x="13643" y="9796"/>
                  </a:lnTo>
                  <a:cubicBezTo>
                    <a:pt x="13622" y="9901"/>
                    <a:pt x="13622" y="10005"/>
                    <a:pt x="13727" y="10110"/>
                  </a:cubicBezTo>
                  <a:cubicBezTo>
                    <a:pt x="14292" y="10508"/>
                    <a:pt x="14773" y="10968"/>
                    <a:pt x="15233" y="11470"/>
                  </a:cubicBezTo>
                  <a:cubicBezTo>
                    <a:pt x="15149" y="11637"/>
                    <a:pt x="15087" y="11826"/>
                    <a:pt x="14982" y="12014"/>
                  </a:cubicBezTo>
                  <a:cubicBezTo>
                    <a:pt x="14312" y="11889"/>
                    <a:pt x="13664" y="11721"/>
                    <a:pt x="13015" y="11596"/>
                  </a:cubicBezTo>
                  <a:cubicBezTo>
                    <a:pt x="12994" y="11589"/>
                    <a:pt x="12973" y="11586"/>
                    <a:pt x="12952" y="11586"/>
                  </a:cubicBezTo>
                  <a:cubicBezTo>
                    <a:pt x="12911" y="11586"/>
                    <a:pt x="12869" y="11596"/>
                    <a:pt x="12827" y="11596"/>
                  </a:cubicBezTo>
                  <a:cubicBezTo>
                    <a:pt x="12800" y="11591"/>
                    <a:pt x="12773" y="11589"/>
                    <a:pt x="12746" y="11589"/>
                  </a:cubicBezTo>
                  <a:cubicBezTo>
                    <a:pt x="12648" y="11589"/>
                    <a:pt x="12553" y="11623"/>
                    <a:pt x="12471" y="11721"/>
                  </a:cubicBezTo>
                  <a:cubicBezTo>
                    <a:pt x="12095" y="12244"/>
                    <a:pt x="11571" y="12642"/>
                    <a:pt x="11006" y="12914"/>
                  </a:cubicBezTo>
                  <a:cubicBezTo>
                    <a:pt x="10944" y="12935"/>
                    <a:pt x="10923" y="12956"/>
                    <a:pt x="10902" y="12977"/>
                  </a:cubicBezTo>
                  <a:cubicBezTo>
                    <a:pt x="10818" y="13039"/>
                    <a:pt x="10776" y="13123"/>
                    <a:pt x="10755" y="13228"/>
                  </a:cubicBezTo>
                  <a:cubicBezTo>
                    <a:pt x="10734" y="13897"/>
                    <a:pt x="10693" y="14546"/>
                    <a:pt x="10609" y="15236"/>
                  </a:cubicBezTo>
                  <a:cubicBezTo>
                    <a:pt x="10400" y="15278"/>
                    <a:pt x="10211" y="15341"/>
                    <a:pt x="10002" y="15383"/>
                  </a:cubicBezTo>
                  <a:cubicBezTo>
                    <a:pt x="9688" y="14839"/>
                    <a:pt x="9395" y="14295"/>
                    <a:pt x="9123" y="13730"/>
                  </a:cubicBezTo>
                  <a:cubicBezTo>
                    <a:pt x="9123" y="13577"/>
                    <a:pt x="8984" y="13390"/>
                    <a:pt x="8769" y="13390"/>
                  </a:cubicBezTo>
                  <a:cubicBezTo>
                    <a:pt x="8748" y="13390"/>
                    <a:pt x="8727" y="13391"/>
                    <a:pt x="8705" y="13395"/>
                  </a:cubicBezTo>
                  <a:cubicBezTo>
                    <a:pt x="8483" y="13440"/>
                    <a:pt x="8260" y="13460"/>
                    <a:pt x="8038" y="13460"/>
                  </a:cubicBezTo>
                  <a:cubicBezTo>
                    <a:pt x="7632" y="13460"/>
                    <a:pt x="7227" y="13391"/>
                    <a:pt x="6822" y="13270"/>
                  </a:cubicBezTo>
                  <a:cubicBezTo>
                    <a:pt x="6759" y="13249"/>
                    <a:pt x="6738" y="13249"/>
                    <a:pt x="6696" y="13249"/>
                  </a:cubicBezTo>
                  <a:cubicBezTo>
                    <a:pt x="6668" y="13237"/>
                    <a:pt x="6640" y="13232"/>
                    <a:pt x="6613" y="13232"/>
                  </a:cubicBezTo>
                  <a:cubicBezTo>
                    <a:pt x="6539" y="13232"/>
                    <a:pt x="6470" y="13271"/>
                    <a:pt x="6424" y="13332"/>
                  </a:cubicBezTo>
                  <a:cubicBezTo>
                    <a:pt x="5943" y="13793"/>
                    <a:pt x="5441" y="14253"/>
                    <a:pt x="4918" y="14671"/>
                  </a:cubicBezTo>
                  <a:cubicBezTo>
                    <a:pt x="4750" y="14609"/>
                    <a:pt x="4562" y="14504"/>
                    <a:pt x="4374" y="14399"/>
                  </a:cubicBezTo>
                  <a:cubicBezTo>
                    <a:pt x="4541" y="13730"/>
                    <a:pt x="4729" y="13081"/>
                    <a:pt x="4876" y="12433"/>
                  </a:cubicBezTo>
                  <a:cubicBezTo>
                    <a:pt x="4939" y="12244"/>
                    <a:pt x="4834" y="12119"/>
                    <a:pt x="4688" y="12056"/>
                  </a:cubicBezTo>
                  <a:lnTo>
                    <a:pt x="4625" y="11993"/>
                  </a:lnTo>
                  <a:cubicBezTo>
                    <a:pt x="4060" y="11637"/>
                    <a:pt x="3620" y="11177"/>
                    <a:pt x="3307" y="10633"/>
                  </a:cubicBezTo>
                  <a:cubicBezTo>
                    <a:pt x="3286" y="10591"/>
                    <a:pt x="3265" y="10570"/>
                    <a:pt x="3265" y="10549"/>
                  </a:cubicBezTo>
                  <a:cubicBezTo>
                    <a:pt x="3202" y="10445"/>
                    <a:pt x="3118" y="10382"/>
                    <a:pt x="2972" y="10382"/>
                  </a:cubicBezTo>
                  <a:cubicBezTo>
                    <a:pt x="2281" y="10424"/>
                    <a:pt x="1612" y="10424"/>
                    <a:pt x="921" y="10424"/>
                  </a:cubicBezTo>
                  <a:cubicBezTo>
                    <a:pt x="859" y="10236"/>
                    <a:pt x="775" y="10026"/>
                    <a:pt x="712" y="9838"/>
                  </a:cubicBezTo>
                  <a:cubicBezTo>
                    <a:pt x="1277" y="9482"/>
                    <a:pt x="1842" y="9106"/>
                    <a:pt x="2386" y="8750"/>
                  </a:cubicBezTo>
                  <a:cubicBezTo>
                    <a:pt x="2449" y="8729"/>
                    <a:pt x="2491" y="8666"/>
                    <a:pt x="2532" y="8624"/>
                  </a:cubicBezTo>
                  <a:cubicBezTo>
                    <a:pt x="2637" y="8541"/>
                    <a:pt x="2700" y="8436"/>
                    <a:pt x="2679" y="8269"/>
                  </a:cubicBezTo>
                  <a:cubicBezTo>
                    <a:pt x="2574" y="7641"/>
                    <a:pt x="2679" y="7013"/>
                    <a:pt x="2888" y="6407"/>
                  </a:cubicBezTo>
                  <a:cubicBezTo>
                    <a:pt x="2909" y="6365"/>
                    <a:pt x="2909" y="6302"/>
                    <a:pt x="2909" y="6260"/>
                  </a:cubicBezTo>
                  <a:cubicBezTo>
                    <a:pt x="2909" y="6176"/>
                    <a:pt x="2909" y="6072"/>
                    <a:pt x="2846" y="6009"/>
                  </a:cubicBezTo>
                  <a:cubicBezTo>
                    <a:pt x="2365" y="5507"/>
                    <a:pt x="1947" y="5005"/>
                    <a:pt x="1528" y="4482"/>
                  </a:cubicBezTo>
                  <a:lnTo>
                    <a:pt x="1842" y="3938"/>
                  </a:lnTo>
                  <a:cubicBezTo>
                    <a:pt x="2449" y="4084"/>
                    <a:pt x="3056" y="4272"/>
                    <a:pt x="3641" y="4461"/>
                  </a:cubicBezTo>
                  <a:cubicBezTo>
                    <a:pt x="3717" y="4526"/>
                    <a:pt x="3821" y="4568"/>
                    <a:pt x="3920" y="4568"/>
                  </a:cubicBezTo>
                  <a:cubicBezTo>
                    <a:pt x="4014" y="4568"/>
                    <a:pt x="4104" y="4531"/>
                    <a:pt x="4164" y="4440"/>
                  </a:cubicBezTo>
                  <a:cubicBezTo>
                    <a:pt x="4541" y="3875"/>
                    <a:pt x="5043" y="3498"/>
                    <a:pt x="5587" y="3205"/>
                  </a:cubicBezTo>
                  <a:cubicBezTo>
                    <a:pt x="5629" y="3184"/>
                    <a:pt x="5671" y="3142"/>
                    <a:pt x="5692" y="3122"/>
                  </a:cubicBezTo>
                  <a:cubicBezTo>
                    <a:pt x="5776" y="3080"/>
                    <a:pt x="5817" y="2996"/>
                    <a:pt x="5817" y="2870"/>
                  </a:cubicBezTo>
                  <a:cubicBezTo>
                    <a:pt x="5817" y="2180"/>
                    <a:pt x="5838" y="1510"/>
                    <a:pt x="5901" y="841"/>
                  </a:cubicBezTo>
                  <a:cubicBezTo>
                    <a:pt x="6089" y="778"/>
                    <a:pt x="6299" y="715"/>
                    <a:pt x="6508" y="673"/>
                  </a:cubicBezTo>
                  <a:close/>
                  <a:moveTo>
                    <a:pt x="6648" y="1"/>
                  </a:moveTo>
                  <a:cubicBezTo>
                    <a:pt x="6630" y="1"/>
                    <a:pt x="6611" y="2"/>
                    <a:pt x="6592" y="4"/>
                  </a:cubicBezTo>
                  <a:cubicBezTo>
                    <a:pt x="6236" y="88"/>
                    <a:pt x="5859" y="192"/>
                    <a:pt x="5525" y="318"/>
                  </a:cubicBezTo>
                  <a:cubicBezTo>
                    <a:pt x="5420" y="381"/>
                    <a:pt x="5336" y="422"/>
                    <a:pt x="5315" y="527"/>
                  </a:cubicBezTo>
                  <a:cubicBezTo>
                    <a:pt x="5294" y="569"/>
                    <a:pt x="5294" y="611"/>
                    <a:pt x="5294" y="673"/>
                  </a:cubicBezTo>
                  <a:cubicBezTo>
                    <a:pt x="5232" y="1343"/>
                    <a:pt x="5211" y="2034"/>
                    <a:pt x="5190" y="2724"/>
                  </a:cubicBezTo>
                  <a:cubicBezTo>
                    <a:pt x="4667" y="3017"/>
                    <a:pt x="4185" y="3414"/>
                    <a:pt x="3830" y="3875"/>
                  </a:cubicBezTo>
                  <a:cubicBezTo>
                    <a:pt x="3181" y="3707"/>
                    <a:pt x="2553" y="3498"/>
                    <a:pt x="1884" y="3331"/>
                  </a:cubicBezTo>
                  <a:lnTo>
                    <a:pt x="1863" y="3331"/>
                  </a:lnTo>
                  <a:cubicBezTo>
                    <a:pt x="1816" y="3298"/>
                    <a:pt x="1766" y="3283"/>
                    <a:pt x="1715" y="3283"/>
                  </a:cubicBezTo>
                  <a:cubicBezTo>
                    <a:pt x="1605" y="3283"/>
                    <a:pt x="1495" y="3350"/>
                    <a:pt x="1423" y="3435"/>
                  </a:cubicBezTo>
                  <a:cubicBezTo>
                    <a:pt x="1214" y="3728"/>
                    <a:pt x="1005" y="4063"/>
                    <a:pt x="879" y="4377"/>
                  </a:cubicBezTo>
                  <a:cubicBezTo>
                    <a:pt x="817" y="4482"/>
                    <a:pt x="817" y="4586"/>
                    <a:pt x="879" y="4670"/>
                  </a:cubicBezTo>
                  <a:cubicBezTo>
                    <a:pt x="879" y="4712"/>
                    <a:pt x="900" y="4775"/>
                    <a:pt x="921" y="4795"/>
                  </a:cubicBezTo>
                  <a:cubicBezTo>
                    <a:pt x="1340" y="5339"/>
                    <a:pt x="1779" y="5842"/>
                    <a:pt x="2260" y="6365"/>
                  </a:cubicBezTo>
                  <a:cubicBezTo>
                    <a:pt x="2051" y="6992"/>
                    <a:pt x="1967" y="7620"/>
                    <a:pt x="2051" y="8269"/>
                  </a:cubicBezTo>
                  <a:cubicBezTo>
                    <a:pt x="1444" y="8666"/>
                    <a:pt x="838" y="9064"/>
                    <a:pt x="252" y="9482"/>
                  </a:cubicBezTo>
                  <a:cubicBezTo>
                    <a:pt x="105" y="9524"/>
                    <a:pt x="1" y="9671"/>
                    <a:pt x="63" y="9838"/>
                  </a:cubicBezTo>
                  <a:cubicBezTo>
                    <a:pt x="168" y="10236"/>
                    <a:pt x="294" y="10612"/>
                    <a:pt x="461" y="10968"/>
                  </a:cubicBezTo>
                  <a:cubicBezTo>
                    <a:pt x="482" y="11052"/>
                    <a:pt x="524" y="11073"/>
                    <a:pt x="607" y="11093"/>
                  </a:cubicBezTo>
                  <a:cubicBezTo>
                    <a:pt x="670" y="11135"/>
                    <a:pt x="712" y="11156"/>
                    <a:pt x="775" y="11156"/>
                  </a:cubicBezTo>
                  <a:cubicBezTo>
                    <a:pt x="1110" y="11167"/>
                    <a:pt x="1455" y="11172"/>
                    <a:pt x="1800" y="11172"/>
                  </a:cubicBezTo>
                  <a:cubicBezTo>
                    <a:pt x="2145" y="11172"/>
                    <a:pt x="2491" y="11167"/>
                    <a:pt x="2825" y="11156"/>
                  </a:cubicBezTo>
                  <a:cubicBezTo>
                    <a:pt x="3181" y="11721"/>
                    <a:pt x="3641" y="12223"/>
                    <a:pt x="4185" y="12600"/>
                  </a:cubicBezTo>
                  <a:cubicBezTo>
                    <a:pt x="4039" y="13249"/>
                    <a:pt x="3851" y="13876"/>
                    <a:pt x="3704" y="14525"/>
                  </a:cubicBezTo>
                  <a:lnTo>
                    <a:pt x="3704" y="14546"/>
                  </a:lnTo>
                  <a:cubicBezTo>
                    <a:pt x="3641" y="14692"/>
                    <a:pt x="3704" y="14839"/>
                    <a:pt x="3830" y="14922"/>
                  </a:cubicBezTo>
                  <a:cubicBezTo>
                    <a:pt x="4144" y="15132"/>
                    <a:pt x="4457" y="15320"/>
                    <a:pt x="4792" y="15446"/>
                  </a:cubicBezTo>
                  <a:cubicBezTo>
                    <a:pt x="4853" y="15470"/>
                    <a:pt x="4908" y="15480"/>
                    <a:pt x="4963" y="15480"/>
                  </a:cubicBezTo>
                  <a:cubicBezTo>
                    <a:pt x="5002" y="15480"/>
                    <a:pt x="5042" y="15475"/>
                    <a:pt x="5085" y="15466"/>
                  </a:cubicBezTo>
                  <a:cubicBezTo>
                    <a:pt x="5127" y="15466"/>
                    <a:pt x="5190" y="15446"/>
                    <a:pt x="5232" y="15383"/>
                  </a:cubicBezTo>
                  <a:cubicBezTo>
                    <a:pt x="5755" y="14943"/>
                    <a:pt x="6257" y="14483"/>
                    <a:pt x="6759" y="14002"/>
                  </a:cubicBezTo>
                  <a:cubicBezTo>
                    <a:pt x="7194" y="14137"/>
                    <a:pt x="7607" y="14196"/>
                    <a:pt x="8029" y="14196"/>
                  </a:cubicBezTo>
                  <a:cubicBezTo>
                    <a:pt x="8196" y="14196"/>
                    <a:pt x="8365" y="14187"/>
                    <a:pt x="8538" y="14169"/>
                  </a:cubicBezTo>
                  <a:cubicBezTo>
                    <a:pt x="8851" y="14734"/>
                    <a:pt x="9165" y="15341"/>
                    <a:pt x="9500" y="15906"/>
                  </a:cubicBezTo>
                  <a:lnTo>
                    <a:pt x="9500" y="15948"/>
                  </a:lnTo>
                  <a:cubicBezTo>
                    <a:pt x="9556" y="16098"/>
                    <a:pt x="9697" y="16181"/>
                    <a:pt x="9847" y="16181"/>
                  </a:cubicBezTo>
                  <a:cubicBezTo>
                    <a:pt x="9864" y="16181"/>
                    <a:pt x="9881" y="16180"/>
                    <a:pt x="9898" y="16178"/>
                  </a:cubicBezTo>
                  <a:cubicBezTo>
                    <a:pt x="10253" y="16115"/>
                    <a:pt x="10630" y="16010"/>
                    <a:pt x="10965" y="15885"/>
                  </a:cubicBezTo>
                  <a:cubicBezTo>
                    <a:pt x="11069" y="15864"/>
                    <a:pt x="11132" y="15780"/>
                    <a:pt x="11153" y="15697"/>
                  </a:cubicBezTo>
                  <a:lnTo>
                    <a:pt x="11237" y="15550"/>
                  </a:lnTo>
                  <a:cubicBezTo>
                    <a:pt x="11299" y="14860"/>
                    <a:pt x="11362" y="14190"/>
                    <a:pt x="11383" y="13500"/>
                  </a:cubicBezTo>
                  <a:cubicBezTo>
                    <a:pt x="11969" y="13228"/>
                    <a:pt x="12450" y="12830"/>
                    <a:pt x="12869" y="12307"/>
                  </a:cubicBezTo>
                  <a:cubicBezTo>
                    <a:pt x="13580" y="12453"/>
                    <a:pt x="14292" y="12621"/>
                    <a:pt x="15003" y="12746"/>
                  </a:cubicBezTo>
                  <a:cubicBezTo>
                    <a:pt x="15041" y="12765"/>
                    <a:pt x="15080" y="12775"/>
                    <a:pt x="15120" y="12775"/>
                  </a:cubicBezTo>
                  <a:cubicBezTo>
                    <a:pt x="15213" y="12775"/>
                    <a:pt x="15306" y="12723"/>
                    <a:pt x="15380" y="12621"/>
                  </a:cubicBezTo>
                  <a:cubicBezTo>
                    <a:pt x="15589" y="12286"/>
                    <a:pt x="15777" y="11909"/>
                    <a:pt x="15903" y="11554"/>
                  </a:cubicBezTo>
                  <a:cubicBezTo>
                    <a:pt x="15944" y="11470"/>
                    <a:pt x="15944" y="11386"/>
                    <a:pt x="15882" y="11345"/>
                  </a:cubicBezTo>
                  <a:cubicBezTo>
                    <a:pt x="15882" y="11282"/>
                    <a:pt x="15861" y="11240"/>
                    <a:pt x="15798" y="11198"/>
                  </a:cubicBezTo>
                  <a:cubicBezTo>
                    <a:pt x="15338" y="10675"/>
                    <a:pt x="14836" y="10215"/>
                    <a:pt x="14333" y="9733"/>
                  </a:cubicBezTo>
                  <a:cubicBezTo>
                    <a:pt x="14501" y="9106"/>
                    <a:pt x="14522" y="8520"/>
                    <a:pt x="14417" y="7892"/>
                  </a:cubicBezTo>
                  <a:cubicBezTo>
                    <a:pt x="15024" y="7516"/>
                    <a:pt x="15631" y="7181"/>
                    <a:pt x="16216" y="6804"/>
                  </a:cubicBezTo>
                  <a:lnTo>
                    <a:pt x="16258" y="6804"/>
                  </a:lnTo>
                  <a:cubicBezTo>
                    <a:pt x="16363" y="6658"/>
                    <a:pt x="16468" y="6553"/>
                    <a:pt x="16405" y="6365"/>
                  </a:cubicBezTo>
                  <a:cubicBezTo>
                    <a:pt x="16342" y="6009"/>
                    <a:pt x="16237" y="5632"/>
                    <a:pt x="16091" y="5298"/>
                  </a:cubicBezTo>
                  <a:cubicBezTo>
                    <a:pt x="16049" y="5193"/>
                    <a:pt x="15986" y="5109"/>
                    <a:pt x="15882" y="5088"/>
                  </a:cubicBezTo>
                  <a:cubicBezTo>
                    <a:pt x="15840" y="5067"/>
                    <a:pt x="15819" y="5067"/>
                    <a:pt x="15756" y="5026"/>
                  </a:cubicBezTo>
                  <a:cubicBezTo>
                    <a:pt x="15087" y="4984"/>
                    <a:pt x="14375" y="4963"/>
                    <a:pt x="13685" y="4963"/>
                  </a:cubicBezTo>
                  <a:cubicBezTo>
                    <a:pt x="13413" y="4440"/>
                    <a:pt x="13015" y="3958"/>
                    <a:pt x="12534" y="3603"/>
                  </a:cubicBezTo>
                  <a:cubicBezTo>
                    <a:pt x="12722" y="2933"/>
                    <a:pt x="12911" y="2306"/>
                    <a:pt x="13078" y="1657"/>
                  </a:cubicBezTo>
                  <a:cubicBezTo>
                    <a:pt x="13183" y="1510"/>
                    <a:pt x="13120" y="1322"/>
                    <a:pt x="12973" y="1217"/>
                  </a:cubicBezTo>
                  <a:cubicBezTo>
                    <a:pt x="12701" y="1008"/>
                    <a:pt x="12346" y="820"/>
                    <a:pt x="12032" y="673"/>
                  </a:cubicBezTo>
                  <a:cubicBezTo>
                    <a:pt x="11979" y="642"/>
                    <a:pt x="11927" y="626"/>
                    <a:pt x="11880" y="626"/>
                  </a:cubicBezTo>
                  <a:cubicBezTo>
                    <a:pt x="11833" y="626"/>
                    <a:pt x="11791" y="642"/>
                    <a:pt x="11760" y="673"/>
                  </a:cubicBezTo>
                  <a:cubicBezTo>
                    <a:pt x="11697" y="673"/>
                    <a:pt x="11655" y="694"/>
                    <a:pt x="11613" y="736"/>
                  </a:cubicBezTo>
                  <a:cubicBezTo>
                    <a:pt x="11069" y="1155"/>
                    <a:pt x="10567" y="1615"/>
                    <a:pt x="10086" y="2075"/>
                  </a:cubicBezTo>
                  <a:cubicBezTo>
                    <a:pt x="9611" y="1917"/>
                    <a:pt x="9146" y="1838"/>
                    <a:pt x="8664" y="1838"/>
                  </a:cubicBezTo>
                  <a:cubicBezTo>
                    <a:pt x="8445" y="1838"/>
                    <a:pt x="8222" y="1854"/>
                    <a:pt x="7993" y="1887"/>
                  </a:cubicBezTo>
                  <a:cubicBezTo>
                    <a:pt x="7638" y="1322"/>
                    <a:pt x="7324" y="736"/>
                    <a:pt x="6968" y="192"/>
                  </a:cubicBezTo>
                  <a:lnTo>
                    <a:pt x="6968" y="171"/>
                  </a:lnTo>
                  <a:cubicBezTo>
                    <a:pt x="6893" y="78"/>
                    <a:pt x="6802" y="1"/>
                    <a:pt x="6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1"/>
            <p:cNvSpPr/>
            <p:nvPr/>
          </p:nvSpPr>
          <p:spPr>
            <a:xfrm>
              <a:off x="1653375" y="1629900"/>
              <a:ext cx="193225" cy="164050"/>
            </a:xfrm>
            <a:custGeom>
              <a:avLst/>
              <a:gdLst/>
              <a:ahLst/>
              <a:cxnLst/>
              <a:rect l="l" t="t" r="r" b="b"/>
              <a:pathLst>
                <a:path w="7729" h="6562" extrusionOk="0">
                  <a:moveTo>
                    <a:pt x="3936" y="629"/>
                  </a:moveTo>
                  <a:cubicBezTo>
                    <a:pt x="4138" y="629"/>
                    <a:pt x="4349" y="651"/>
                    <a:pt x="4569" y="697"/>
                  </a:cubicBezTo>
                  <a:lnTo>
                    <a:pt x="4632" y="697"/>
                  </a:lnTo>
                  <a:cubicBezTo>
                    <a:pt x="5950" y="1032"/>
                    <a:pt x="6933" y="2350"/>
                    <a:pt x="6682" y="3710"/>
                  </a:cubicBezTo>
                  <a:cubicBezTo>
                    <a:pt x="6438" y="5020"/>
                    <a:pt x="5158" y="5863"/>
                    <a:pt x="3878" y="5863"/>
                  </a:cubicBezTo>
                  <a:cubicBezTo>
                    <a:pt x="3625" y="5863"/>
                    <a:pt x="3371" y="5830"/>
                    <a:pt x="3125" y="5761"/>
                  </a:cubicBezTo>
                  <a:cubicBezTo>
                    <a:pt x="1" y="4863"/>
                    <a:pt x="1104" y="629"/>
                    <a:pt x="3936" y="629"/>
                  </a:cubicBezTo>
                  <a:close/>
                  <a:moveTo>
                    <a:pt x="3979" y="0"/>
                  </a:moveTo>
                  <a:cubicBezTo>
                    <a:pt x="2504" y="0"/>
                    <a:pt x="1107" y="875"/>
                    <a:pt x="656" y="2371"/>
                  </a:cubicBezTo>
                  <a:cubicBezTo>
                    <a:pt x="112" y="4150"/>
                    <a:pt x="1200" y="5907"/>
                    <a:pt x="2958" y="6430"/>
                  </a:cubicBezTo>
                  <a:cubicBezTo>
                    <a:pt x="3260" y="6519"/>
                    <a:pt x="3572" y="6562"/>
                    <a:pt x="3883" y="6562"/>
                  </a:cubicBezTo>
                  <a:cubicBezTo>
                    <a:pt x="5401" y="6562"/>
                    <a:pt x="6910" y="5552"/>
                    <a:pt x="7310" y="4024"/>
                  </a:cubicBezTo>
                  <a:cubicBezTo>
                    <a:pt x="7728" y="2266"/>
                    <a:pt x="6494" y="488"/>
                    <a:pt x="4799" y="70"/>
                  </a:cubicBezTo>
                  <a:lnTo>
                    <a:pt x="4694" y="70"/>
                  </a:lnTo>
                  <a:cubicBezTo>
                    <a:pt x="4456" y="23"/>
                    <a:pt x="4217" y="0"/>
                    <a:pt x="3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31"/>
          <p:cNvSpPr/>
          <p:nvPr/>
        </p:nvSpPr>
        <p:spPr>
          <a:xfrm>
            <a:off x="554765" y="2666990"/>
            <a:ext cx="438907" cy="362893"/>
          </a:xfrm>
          <a:custGeom>
            <a:avLst/>
            <a:gdLst/>
            <a:ahLst/>
            <a:cxnLst/>
            <a:rect l="l" t="t" r="r" b="b"/>
            <a:pathLst>
              <a:path w="14689" h="12145" extrusionOk="0">
                <a:moveTo>
                  <a:pt x="10480" y="559"/>
                </a:moveTo>
                <a:cubicBezTo>
                  <a:pt x="10577" y="559"/>
                  <a:pt x="10676" y="564"/>
                  <a:pt x="10776" y="574"/>
                </a:cubicBezTo>
                <a:cubicBezTo>
                  <a:pt x="12471" y="762"/>
                  <a:pt x="13098" y="2520"/>
                  <a:pt x="13057" y="4005"/>
                </a:cubicBezTo>
                <a:cubicBezTo>
                  <a:pt x="12994" y="7625"/>
                  <a:pt x="9604" y="9529"/>
                  <a:pt x="6989" y="11412"/>
                </a:cubicBezTo>
                <a:cubicBezTo>
                  <a:pt x="4917" y="9989"/>
                  <a:pt x="1904" y="8294"/>
                  <a:pt x="1172" y="5784"/>
                </a:cubicBezTo>
                <a:cubicBezTo>
                  <a:pt x="733" y="4319"/>
                  <a:pt x="628" y="2729"/>
                  <a:pt x="1800" y="1557"/>
                </a:cubicBezTo>
                <a:cubicBezTo>
                  <a:pt x="2296" y="1051"/>
                  <a:pt x="3117" y="771"/>
                  <a:pt x="3931" y="771"/>
                </a:cubicBezTo>
                <a:cubicBezTo>
                  <a:pt x="4934" y="771"/>
                  <a:pt x="5929" y="1196"/>
                  <a:pt x="6298" y="2143"/>
                </a:cubicBezTo>
                <a:cubicBezTo>
                  <a:pt x="6365" y="2294"/>
                  <a:pt x="6500" y="2365"/>
                  <a:pt x="6616" y="2365"/>
                </a:cubicBezTo>
                <a:cubicBezTo>
                  <a:pt x="6644" y="2365"/>
                  <a:pt x="6671" y="2360"/>
                  <a:pt x="6696" y="2352"/>
                </a:cubicBezTo>
                <a:cubicBezTo>
                  <a:pt x="6751" y="2490"/>
                  <a:pt x="6878" y="2600"/>
                  <a:pt x="7007" y="2600"/>
                </a:cubicBezTo>
                <a:cubicBezTo>
                  <a:pt x="7073" y="2600"/>
                  <a:pt x="7141" y="2570"/>
                  <a:pt x="7198" y="2499"/>
                </a:cubicBezTo>
                <a:cubicBezTo>
                  <a:pt x="7978" y="1465"/>
                  <a:pt x="9140" y="559"/>
                  <a:pt x="10480" y="559"/>
                </a:cubicBezTo>
                <a:close/>
                <a:moveTo>
                  <a:pt x="10635" y="1"/>
                </a:moveTo>
                <a:cubicBezTo>
                  <a:pt x="9301" y="1"/>
                  <a:pt x="7834" y="733"/>
                  <a:pt x="6884" y="1871"/>
                </a:cubicBezTo>
                <a:cubicBezTo>
                  <a:pt x="6331" y="688"/>
                  <a:pt x="4838" y="97"/>
                  <a:pt x="3548" y="97"/>
                </a:cubicBezTo>
                <a:cubicBezTo>
                  <a:pt x="3424" y="97"/>
                  <a:pt x="3301" y="102"/>
                  <a:pt x="3181" y="113"/>
                </a:cubicBezTo>
                <a:cubicBezTo>
                  <a:pt x="1465" y="302"/>
                  <a:pt x="251" y="2080"/>
                  <a:pt x="189" y="3691"/>
                </a:cubicBezTo>
                <a:cubicBezTo>
                  <a:pt x="0" y="7750"/>
                  <a:pt x="3850" y="10010"/>
                  <a:pt x="6779" y="12061"/>
                </a:cubicBezTo>
                <a:cubicBezTo>
                  <a:pt x="6821" y="12123"/>
                  <a:pt x="6905" y="12144"/>
                  <a:pt x="6989" y="12144"/>
                </a:cubicBezTo>
                <a:lnTo>
                  <a:pt x="7010" y="12144"/>
                </a:lnTo>
                <a:cubicBezTo>
                  <a:pt x="7051" y="12144"/>
                  <a:pt x="7114" y="12123"/>
                  <a:pt x="7135" y="12061"/>
                </a:cubicBezTo>
                <a:cubicBezTo>
                  <a:pt x="10357" y="9759"/>
                  <a:pt x="14689" y="7165"/>
                  <a:pt x="13601" y="2540"/>
                </a:cubicBezTo>
                <a:cubicBezTo>
                  <a:pt x="13181" y="738"/>
                  <a:pt x="11975" y="1"/>
                  <a:pt x="10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3">
            <a:extLst>
              <a:ext uri="{FF2B5EF4-FFF2-40B4-BE49-F238E27FC236}">
                <a16:creationId xmlns:a16="http://schemas.microsoft.com/office/drawing/2014/main" xmlns="" id="{DDDE9995-B2D3-4DF1-1C3C-399C5727F09B}"/>
              </a:ext>
            </a:extLst>
          </p:cNvPr>
          <p:cNvSpPr>
            <a:spLocks noChangeArrowheads="1"/>
          </p:cNvSpPr>
          <p:nvPr/>
        </p:nvSpPr>
        <p:spPr bwMode="auto">
          <a:xfrm>
            <a:off x="4991100" y="3603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xmlns="" id="{44FBC0BE-D4B6-3098-ADF5-258834210D4F}"/>
              </a:ext>
            </a:extLst>
          </p:cNvPr>
          <p:cNvSpPr>
            <a:spLocks noChangeArrowheads="1"/>
          </p:cNvSpPr>
          <p:nvPr/>
        </p:nvSpPr>
        <p:spPr bwMode="auto">
          <a:xfrm>
            <a:off x="5905500" y="4102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2D7A8CE-DD1F-8578-BC75-0C9C86A5FB44}"/>
              </a:ext>
            </a:extLst>
          </p:cNvPr>
          <p:cNvSpPr txBox="1"/>
          <p:nvPr/>
        </p:nvSpPr>
        <p:spPr>
          <a:xfrm>
            <a:off x="256539" y="743887"/>
            <a:ext cx="7124700" cy="369332"/>
          </a:xfrm>
          <a:prstGeom prst="rect">
            <a:avLst/>
          </a:prstGeom>
          <a:noFill/>
        </p:spPr>
        <p:txBody>
          <a:bodyPr wrap="square" rtlCol="0">
            <a:spAutoFit/>
          </a:bodyPr>
          <a:lstStyle/>
          <a:p>
            <a:r>
              <a:rPr lang="en-US" sz="1800" dirty="0">
                <a:latin typeface="Calibri" panose="020F0502020204030204" pitchFamily="34" charset="0"/>
                <a:cs typeface="Arial" panose="020B0604020202020204" pitchFamily="34" charset="0"/>
              </a:rPr>
              <a:t>Shows us variations, median and any outliers</a:t>
            </a:r>
            <a:endParaRPr lang="en-US" dirty="0"/>
          </a:p>
        </p:txBody>
      </p:sp>
      <p:pic>
        <p:nvPicPr>
          <p:cNvPr id="6" name="Picture 5" descr="RStudio">
            <a:extLst>
              <a:ext uri="{FF2B5EF4-FFF2-40B4-BE49-F238E27FC236}">
                <a16:creationId xmlns:a16="http://schemas.microsoft.com/office/drawing/2014/main" xmlns="" id="{D07E08B3-7FD2-93FC-0549-A0AA87AB2008}"/>
              </a:ext>
            </a:extLst>
          </p:cNvPr>
          <p:cNvPicPr>
            <a:picLocks noChangeAspect="1"/>
          </p:cNvPicPr>
          <p:nvPr/>
        </p:nvPicPr>
        <p:blipFill rotWithShape="1">
          <a:blip r:embed="rId3">
            <a:extLst>
              <a:ext uri="{28A0092B-C50C-407E-A947-70E740481C1C}">
                <a14:useLocalDpi xmlns:a14="http://schemas.microsoft.com/office/drawing/2010/main" val="0"/>
              </a:ext>
            </a:extLst>
          </a:blip>
          <a:srcRect l="64259" t="33453" r="2061" b="2522"/>
          <a:stretch/>
        </p:blipFill>
        <p:spPr bwMode="auto">
          <a:xfrm>
            <a:off x="5183364" y="1806389"/>
            <a:ext cx="3235988" cy="26053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689161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E92566-5AE1-B42F-6FB6-DC15FA2FE536}"/>
              </a:ext>
            </a:extLst>
          </p:cNvPr>
          <p:cNvSpPr>
            <a:spLocks noGrp="1"/>
          </p:cNvSpPr>
          <p:nvPr>
            <p:ph type="title"/>
          </p:nvPr>
        </p:nvSpPr>
        <p:spPr/>
        <p:txBody>
          <a:bodyPr/>
          <a:lstStyle/>
          <a:p>
            <a:r>
              <a:rPr lang="en-US" dirty="0"/>
              <a:t>Outlier detection </a:t>
            </a:r>
          </a:p>
        </p:txBody>
      </p:sp>
      <p:sp>
        <p:nvSpPr>
          <p:cNvPr id="3" name="Text Placeholder 2">
            <a:extLst>
              <a:ext uri="{FF2B5EF4-FFF2-40B4-BE49-F238E27FC236}">
                <a16:creationId xmlns:a16="http://schemas.microsoft.com/office/drawing/2014/main" xmlns="" id="{D36B359B-960F-E5AB-AE62-D103460335EE}"/>
              </a:ext>
            </a:extLst>
          </p:cNvPr>
          <p:cNvSpPr>
            <a:spLocks noGrp="1"/>
          </p:cNvSpPr>
          <p:nvPr>
            <p:ph type="body" idx="1"/>
          </p:nvPr>
        </p:nvSpPr>
        <p:spPr>
          <a:xfrm>
            <a:off x="523875" y="1234068"/>
            <a:ext cx="3894121" cy="3722943"/>
          </a:xfrm>
        </p:spPr>
        <p:txBody>
          <a:bodyPr/>
          <a:lstStyle/>
          <a:p>
            <a:r>
              <a:rPr lang="en-US" sz="1800" kern="100" dirty="0">
                <a:effectLst/>
                <a:latin typeface="Times New Roman" panose="02020603050405020304" pitchFamily="18" charset="0"/>
                <a:ea typeface="Calibri" panose="020F0502020204030204" pitchFamily="34" charset="0"/>
                <a:cs typeface="Arial" panose="020B0604020202020204" pitchFamily="34" charset="0"/>
              </a:rPr>
              <a:t>We Explored the data by using boxplots for any existing outliers, identified them but we didn’t remove them.</a:t>
            </a:r>
            <a:endParaRPr lang="en-US" sz="1800" kern="100" dirty="0">
              <a:effectLst/>
              <a:latin typeface="Fira Sans Extra Condensed SemiBold" panose="020B0604020202020204" charset="0"/>
              <a:ea typeface="Calibri" panose="020F0502020204030204" pitchFamily="34" charset="0"/>
              <a:cs typeface="Arial" panose="020B0604020202020204" pitchFamily="34" charset="0"/>
            </a:endParaRPr>
          </a:p>
          <a:p>
            <a:endParaRPr lang="en-US" sz="1800" kern="100" dirty="0">
              <a:latin typeface="Fira Sans Extra Condensed SemiBold" panose="020B0604020202020204" charset="0"/>
              <a:ea typeface="Calibri" panose="020F0502020204030204" pitchFamily="34" charset="0"/>
              <a:cs typeface="Arial" panose="020B0604020202020204" pitchFamily="34" charset="0"/>
            </a:endParaRPr>
          </a:p>
          <a:p>
            <a:r>
              <a:rPr lang="en-US" sz="1800" kern="100" dirty="0">
                <a:effectLst/>
                <a:latin typeface="Calibri" panose="020F0502020204030204" pitchFamily="34" charset="0"/>
                <a:ea typeface="Calibri" panose="020F0502020204030204" pitchFamily="34" charset="0"/>
                <a:cs typeface="Arial" panose="020B0604020202020204" pitchFamily="34" charset="0"/>
              </a:rPr>
              <a:t>Results :</a:t>
            </a:r>
          </a:p>
          <a:p>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r>
              <a:rPr lang="en-US" sz="1400" kern="100" dirty="0">
                <a:effectLst/>
                <a:latin typeface="Calibri" panose="020F0502020204030204" pitchFamily="34" charset="0"/>
                <a:ea typeface="Calibri" panose="020F0502020204030204" pitchFamily="34" charset="0"/>
                <a:cs typeface="Arial" panose="020B0604020202020204" pitchFamily="34" charset="0"/>
              </a:rPr>
              <a:t>We found two outliers in ADWG0021 per Treatment(A) with values 178.5714 and 110.1190 located outside the whiskers of the box plot </a:t>
            </a:r>
          </a:p>
          <a:p>
            <a:r>
              <a:rPr lang="en-US" sz="1400" kern="100" dirty="0">
                <a:effectLst/>
                <a:latin typeface="Calibri" panose="020F0502020204030204" pitchFamily="34" charset="0"/>
                <a:ea typeface="Calibri" panose="020F0502020204030204" pitchFamily="34" charset="0"/>
                <a:cs typeface="Arial" panose="020B0604020202020204" pitchFamily="34" charset="0"/>
              </a:rPr>
              <a:t> And another two in ADWG2150 and ADWG0050 per Treatment(B) with values 375 and 275.625 located outside the whiskers of the box plot.</a:t>
            </a:r>
          </a:p>
          <a:p>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127000" indent="0">
              <a:buNone/>
            </a:pPr>
            <a:r>
              <a:rPr lang="x-none" sz="1800" kern="1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4" name="Text Placeholder 3">
            <a:extLst>
              <a:ext uri="{FF2B5EF4-FFF2-40B4-BE49-F238E27FC236}">
                <a16:creationId xmlns:a16="http://schemas.microsoft.com/office/drawing/2014/main" xmlns="" id="{A294D8FD-9F0E-5CBB-3C4C-DA95F03376F4}"/>
              </a:ext>
            </a:extLst>
          </p:cNvPr>
          <p:cNvSpPr>
            <a:spLocks noGrp="1"/>
          </p:cNvSpPr>
          <p:nvPr>
            <p:ph type="body" idx="2"/>
          </p:nvPr>
        </p:nvSpPr>
        <p:spPr>
          <a:xfrm>
            <a:off x="4638675" y="1607419"/>
            <a:ext cx="3999900" cy="1915428"/>
          </a:xfrm>
        </p:spPr>
        <p:txBody>
          <a:bodyPr/>
          <a:lstStyle/>
          <a:p>
            <a:pPr marL="127000" indent="0">
              <a:buNone/>
            </a:pPr>
            <a:endParaRPr lang="en-US" dirty="0">
              <a:latin typeface="Fira Sans Extra Condensed SemiBold" panose="020B0604020202020204" charset="0"/>
            </a:endParaRPr>
          </a:p>
        </p:txBody>
      </p:sp>
      <p:pic>
        <p:nvPicPr>
          <p:cNvPr id="5" name="Picture 4" descr="A picture containing text, font, screenshot, white&#10;&#10;Description automatically generated">
            <a:extLst>
              <a:ext uri="{FF2B5EF4-FFF2-40B4-BE49-F238E27FC236}">
                <a16:creationId xmlns:a16="http://schemas.microsoft.com/office/drawing/2014/main" xmlns="" id="{2466E32F-5A0A-C098-C1A3-63BDFCCF80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8675" y="1684420"/>
            <a:ext cx="4048125" cy="1472665"/>
          </a:xfrm>
          <a:prstGeom prst="rect">
            <a:avLst/>
          </a:prstGeom>
        </p:spPr>
      </p:pic>
    </p:spTree>
    <p:extLst>
      <p:ext uri="{BB962C8B-B14F-4D97-AF65-F5344CB8AC3E}">
        <p14:creationId xmlns:p14="http://schemas.microsoft.com/office/powerpoint/2010/main" val="6123227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E92566-5AE1-B42F-6FB6-DC15FA2FE536}"/>
              </a:ext>
            </a:extLst>
          </p:cNvPr>
          <p:cNvSpPr>
            <a:spLocks noGrp="1"/>
          </p:cNvSpPr>
          <p:nvPr>
            <p:ph type="title"/>
          </p:nvPr>
        </p:nvSpPr>
        <p:spPr/>
        <p:txBody>
          <a:bodyPr/>
          <a:lstStyle/>
          <a:p>
            <a:r>
              <a:rPr lang="x-none" dirty="0"/>
              <a:t>Normality Testing</a:t>
            </a:r>
            <a:endParaRPr lang="en-US" dirty="0"/>
          </a:p>
        </p:txBody>
      </p:sp>
      <p:sp>
        <p:nvSpPr>
          <p:cNvPr id="3" name="Text Placeholder 2">
            <a:extLst>
              <a:ext uri="{FF2B5EF4-FFF2-40B4-BE49-F238E27FC236}">
                <a16:creationId xmlns:a16="http://schemas.microsoft.com/office/drawing/2014/main" xmlns="" id="{D36B359B-960F-E5AB-AE62-D103460335EE}"/>
              </a:ext>
            </a:extLst>
          </p:cNvPr>
          <p:cNvSpPr>
            <a:spLocks noGrp="1"/>
          </p:cNvSpPr>
          <p:nvPr>
            <p:ph type="body" idx="1"/>
          </p:nvPr>
        </p:nvSpPr>
        <p:spPr>
          <a:xfrm>
            <a:off x="523875" y="1234068"/>
            <a:ext cx="3999900" cy="3334807"/>
          </a:xfrm>
        </p:spPr>
        <p:txBody>
          <a:bodyPr/>
          <a:lstStyle/>
          <a:p>
            <a:r>
              <a:rPr lang="en-US" sz="1800" dirty="0">
                <a:solidFill>
                  <a:srgbClr val="171717"/>
                </a:solidFill>
                <a:effectLst/>
                <a:latin typeface="Fira Sans Extra Condensed SemiBold" panose="020B0604020202020204" charset="0"/>
                <a:ea typeface="Calibri" panose="020F0502020204030204" pitchFamily="34" charset="0"/>
              </a:rPr>
              <a:t>To assess the normality assumption, we performed a normality test on the data using the Shapiro-Wilk test, </a:t>
            </a:r>
            <a:r>
              <a:rPr lang="en-US" sz="1800" dirty="0" err="1">
                <a:solidFill>
                  <a:srgbClr val="171717"/>
                </a:solidFill>
                <a:effectLst/>
                <a:latin typeface="Fira Sans Extra Condensed SemiBold" panose="020B0604020202020204" charset="0"/>
                <a:ea typeface="Calibri" panose="020F0502020204030204" pitchFamily="34" charset="0"/>
              </a:rPr>
              <a:t>qq</a:t>
            </a:r>
            <a:r>
              <a:rPr lang="en-US" sz="1800" dirty="0">
                <a:solidFill>
                  <a:srgbClr val="171717"/>
                </a:solidFill>
                <a:effectLst/>
                <a:latin typeface="Fira Sans Extra Condensed SemiBold" panose="020B0604020202020204" charset="0"/>
                <a:ea typeface="Calibri" panose="020F0502020204030204" pitchFamily="34" charset="0"/>
              </a:rPr>
              <a:t>-plot. This test evaluates whether the data significantly deviate from a normal distribution. </a:t>
            </a:r>
            <a:endParaRPr lang="en-US" dirty="0">
              <a:latin typeface="Fira Sans Extra Condensed SemiBold" panose="020B0604020202020204" charset="0"/>
            </a:endParaRPr>
          </a:p>
        </p:txBody>
      </p:sp>
      <p:sp>
        <p:nvSpPr>
          <p:cNvPr id="4" name="Text Placeholder 3">
            <a:extLst>
              <a:ext uri="{FF2B5EF4-FFF2-40B4-BE49-F238E27FC236}">
                <a16:creationId xmlns:a16="http://schemas.microsoft.com/office/drawing/2014/main" xmlns="" id="{A294D8FD-9F0E-5CBB-3C4C-DA95F03376F4}"/>
              </a:ext>
            </a:extLst>
          </p:cNvPr>
          <p:cNvSpPr>
            <a:spLocks noGrp="1"/>
          </p:cNvSpPr>
          <p:nvPr>
            <p:ph type="body" idx="2"/>
          </p:nvPr>
        </p:nvSpPr>
        <p:spPr>
          <a:xfrm>
            <a:off x="4638675" y="1234068"/>
            <a:ext cx="3999900" cy="3334807"/>
          </a:xfrm>
        </p:spPr>
        <p:txBody>
          <a:bodyPr/>
          <a:lstStyle/>
          <a:p>
            <a:r>
              <a:rPr lang="en-US" sz="1800" dirty="0">
                <a:solidFill>
                  <a:srgbClr val="171717"/>
                </a:solidFill>
                <a:effectLst/>
                <a:latin typeface="Fira Sans Extra Condensed SemiBold" panose="020B0604020202020204" charset="0"/>
                <a:ea typeface="Calibri" panose="020F0502020204030204" pitchFamily="34" charset="0"/>
              </a:rPr>
              <a:t>The null hypothesis (H0) assumes normality</a:t>
            </a:r>
            <a:r>
              <a:rPr lang="x-none" sz="1800" dirty="0">
                <a:solidFill>
                  <a:srgbClr val="171717"/>
                </a:solidFill>
                <a:effectLst/>
                <a:latin typeface="Fira Sans Extra Condensed SemiBold" panose="020B0604020202020204" charset="0"/>
                <a:ea typeface="Calibri" panose="020F0502020204030204" pitchFamily="34" charset="0"/>
              </a:rPr>
              <a:t>.</a:t>
            </a:r>
          </a:p>
          <a:p>
            <a:endParaRPr lang="x-none" sz="1800" dirty="0">
              <a:solidFill>
                <a:srgbClr val="171717"/>
              </a:solidFill>
              <a:latin typeface="Fira Sans Extra Condensed SemiBold" panose="020B0604020202020204" charset="0"/>
              <a:ea typeface="Calibri" panose="020F0502020204030204" pitchFamily="34" charset="0"/>
            </a:endParaRPr>
          </a:p>
          <a:p>
            <a:endParaRPr lang="x-none" sz="1800" dirty="0">
              <a:solidFill>
                <a:srgbClr val="171717"/>
              </a:solidFill>
              <a:effectLst/>
              <a:latin typeface="Fira Sans Extra Condensed SemiBold" panose="020B0604020202020204" charset="0"/>
              <a:ea typeface="Calibri" panose="020F0502020204030204" pitchFamily="34" charset="0"/>
            </a:endParaRPr>
          </a:p>
          <a:p>
            <a:endParaRPr lang="x-none" sz="1800" dirty="0">
              <a:solidFill>
                <a:srgbClr val="171717"/>
              </a:solidFill>
              <a:latin typeface="Fira Sans Extra Condensed SemiBold" panose="020B0604020202020204" charset="0"/>
              <a:ea typeface="Calibri" panose="020F0502020204030204" pitchFamily="34" charset="0"/>
            </a:endParaRPr>
          </a:p>
          <a:p>
            <a:endParaRPr lang="x-none" sz="1800" dirty="0">
              <a:solidFill>
                <a:srgbClr val="171717"/>
              </a:solidFill>
              <a:effectLst/>
              <a:latin typeface="Fira Sans Extra Condensed SemiBold" panose="020B0604020202020204" charset="0"/>
              <a:ea typeface="Calibri" panose="020F0502020204030204" pitchFamily="34" charset="0"/>
            </a:endParaRPr>
          </a:p>
          <a:p>
            <a:endParaRPr lang="x-none" sz="1800" dirty="0">
              <a:solidFill>
                <a:srgbClr val="171717"/>
              </a:solidFill>
              <a:latin typeface="Fira Sans Extra Condensed SemiBold" panose="020B0604020202020204" charset="0"/>
              <a:ea typeface="Calibri" panose="020F0502020204030204" pitchFamily="34" charset="0"/>
            </a:endParaRPr>
          </a:p>
          <a:p>
            <a:r>
              <a:rPr lang="en-US" sz="1800" dirty="0">
                <a:solidFill>
                  <a:srgbClr val="171717"/>
                </a:solidFill>
                <a:effectLst/>
                <a:latin typeface="Fira Sans Extra Condensed SemiBold" panose="020B0604020202020204" charset="0"/>
                <a:ea typeface="Calibri" panose="020F0502020204030204" pitchFamily="34" charset="0"/>
              </a:rPr>
              <a:t>the alternative hypothesis (H1) suggests a departure from normality</a:t>
            </a:r>
            <a:endParaRPr lang="x-none" sz="1800" dirty="0">
              <a:solidFill>
                <a:srgbClr val="171717"/>
              </a:solidFill>
              <a:effectLst/>
              <a:latin typeface="Fira Sans Extra Condensed SemiBold" panose="020B0604020202020204" charset="0"/>
              <a:ea typeface="Calibri" panose="020F0502020204030204" pitchFamily="34" charset="0"/>
            </a:endParaRPr>
          </a:p>
          <a:p>
            <a:endParaRPr lang="en-US" dirty="0">
              <a:latin typeface="Fira Sans Extra Condensed SemiBold" panose="020B0604020202020204" charset="0"/>
            </a:endParaRPr>
          </a:p>
        </p:txBody>
      </p:sp>
    </p:spTree>
    <p:extLst>
      <p:ext uri="{BB962C8B-B14F-4D97-AF65-F5344CB8AC3E}">
        <p14:creationId xmlns:p14="http://schemas.microsoft.com/office/powerpoint/2010/main" val="11337930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031044-9B63-B0DC-2971-43B4E870FC90}"/>
              </a:ext>
            </a:extLst>
          </p:cNvPr>
          <p:cNvSpPr>
            <a:spLocks noGrp="1"/>
          </p:cNvSpPr>
          <p:nvPr>
            <p:ph type="title"/>
          </p:nvPr>
        </p:nvSpPr>
        <p:spPr>
          <a:xfrm>
            <a:off x="457200" y="0"/>
            <a:ext cx="8229600" cy="572700"/>
          </a:xfrm>
        </p:spPr>
        <p:txBody>
          <a:bodyPr wrap="square" anchor="t">
            <a:normAutofit/>
          </a:bodyPr>
          <a:lstStyle/>
          <a:p>
            <a:pPr>
              <a:lnSpc>
                <a:spcPct val="90000"/>
              </a:lnSpc>
            </a:pPr>
            <a:r>
              <a:rPr lang="x-none" dirty="0"/>
              <a:t>Results</a:t>
            </a:r>
            <a:endParaRPr lang="en-US" dirty="0"/>
          </a:p>
        </p:txBody>
      </p:sp>
      <p:pic>
        <p:nvPicPr>
          <p:cNvPr id="6" name="Picture 5" descr="A picture containing text, line, screenshot, plot">
            <a:extLst>
              <a:ext uri="{FF2B5EF4-FFF2-40B4-BE49-F238E27FC236}">
                <a16:creationId xmlns:a16="http://schemas.microsoft.com/office/drawing/2014/main" xmlns="" id="{0E4373E3-15BD-4834-2B44-7129167BC656}"/>
              </a:ext>
            </a:extLst>
          </p:cNvPr>
          <p:cNvPicPr>
            <a:picLocks noChangeAspect="1"/>
          </p:cNvPicPr>
          <p:nvPr/>
        </p:nvPicPr>
        <p:blipFill>
          <a:blip r:embed="rId2"/>
          <a:stretch>
            <a:fillRect/>
          </a:stretch>
        </p:blipFill>
        <p:spPr>
          <a:xfrm>
            <a:off x="112040" y="483220"/>
            <a:ext cx="3167439" cy="1945149"/>
          </a:xfrm>
          <a:prstGeom prst="rect">
            <a:avLst/>
          </a:prstGeom>
          <a:ln>
            <a:noFill/>
          </a:ln>
          <a:effectLst>
            <a:outerShdw blurRad="292100" dist="139700" dir="2700000" algn="tl" rotWithShape="0">
              <a:srgbClr val="333333">
                <a:alpha val="65000"/>
              </a:srgbClr>
            </a:outerShdw>
          </a:effectLst>
        </p:spPr>
      </p:pic>
      <p:pic>
        <p:nvPicPr>
          <p:cNvPr id="10" name="Picture 9" descr="A picture containing text, line, plot, screenshot&#10;&#10;Description automatically generated">
            <a:extLst>
              <a:ext uri="{FF2B5EF4-FFF2-40B4-BE49-F238E27FC236}">
                <a16:creationId xmlns:a16="http://schemas.microsoft.com/office/drawing/2014/main" xmlns="" id="{96C2C191-E59A-556B-E39B-1D2BF5B86461}"/>
              </a:ext>
            </a:extLst>
          </p:cNvPr>
          <p:cNvPicPr>
            <a:picLocks noChangeAspect="1"/>
          </p:cNvPicPr>
          <p:nvPr/>
        </p:nvPicPr>
        <p:blipFill>
          <a:blip r:embed="rId3"/>
          <a:stretch>
            <a:fillRect/>
          </a:stretch>
        </p:blipFill>
        <p:spPr>
          <a:xfrm>
            <a:off x="3279479" y="401443"/>
            <a:ext cx="2997445" cy="2074125"/>
          </a:xfrm>
          <a:prstGeom prst="rect">
            <a:avLst/>
          </a:prstGeom>
          <a:ln>
            <a:noFill/>
          </a:ln>
          <a:effectLst>
            <a:outerShdw blurRad="292100" dist="139700" dir="2700000" algn="tl" rotWithShape="0">
              <a:srgbClr val="333333">
                <a:alpha val="65000"/>
              </a:srgbClr>
            </a:outerShdw>
          </a:effectLst>
        </p:spPr>
      </p:pic>
      <p:pic>
        <p:nvPicPr>
          <p:cNvPr id="12" name="Picture 11" descr="A picture containing line, text, plot, diagram">
            <a:extLst>
              <a:ext uri="{FF2B5EF4-FFF2-40B4-BE49-F238E27FC236}">
                <a16:creationId xmlns:a16="http://schemas.microsoft.com/office/drawing/2014/main" xmlns="" id="{4155FAC7-5EEC-B125-83B7-150085F50780}"/>
              </a:ext>
            </a:extLst>
          </p:cNvPr>
          <p:cNvPicPr>
            <a:picLocks noChangeAspect="1"/>
          </p:cNvPicPr>
          <p:nvPr/>
        </p:nvPicPr>
        <p:blipFill>
          <a:blip r:embed="rId4"/>
          <a:stretch>
            <a:fillRect/>
          </a:stretch>
        </p:blipFill>
        <p:spPr>
          <a:xfrm>
            <a:off x="6276924" y="401443"/>
            <a:ext cx="2721674" cy="2026926"/>
          </a:xfrm>
          <a:prstGeom prst="rect">
            <a:avLst/>
          </a:prstGeom>
          <a:ln>
            <a:noFill/>
          </a:ln>
          <a:effectLst>
            <a:outerShdw blurRad="292100" dist="139700" dir="2700000" algn="tl" rotWithShape="0">
              <a:srgbClr val="333333">
                <a:alpha val="65000"/>
              </a:srgbClr>
            </a:outerShdw>
          </a:effectLst>
        </p:spPr>
      </p:pic>
      <p:pic>
        <p:nvPicPr>
          <p:cNvPr id="16" name="Picture 15" descr="A screenshot of a computer code">
            <a:extLst>
              <a:ext uri="{FF2B5EF4-FFF2-40B4-BE49-F238E27FC236}">
                <a16:creationId xmlns:a16="http://schemas.microsoft.com/office/drawing/2014/main" xmlns="" id="{4D69C77A-A8EE-D862-9529-1C6B20B51ACF}"/>
              </a:ext>
            </a:extLst>
          </p:cNvPr>
          <p:cNvPicPr>
            <a:picLocks noChangeAspect="1"/>
          </p:cNvPicPr>
          <p:nvPr/>
        </p:nvPicPr>
        <p:blipFill>
          <a:blip r:embed="rId5"/>
          <a:stretch>
            <a:fillRect/>
          </a:stretch>
        </p:blipFill>
        <p:spPr>
          <a:xfrm>
            <a:off x="24806" y="2475568"/>
            <a:ext cx="8806959" cy="254248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4305728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884F40-6534-E1D3-0C93-DFC34CECEE02}"/>
              </a:ext>
            </a:extLst>
          </p:cNvPr>
          <p:cNvSpPr>
            <a:spLocks noGrp="1"/>
          </p:cNvSpPr>
          <p:nvPr>
            <p:ph type="title"/>
          </p:nvPr>
        </p:nvSpPr>
        <p:spPr>
          <a:xfrm>
            <a:off x="490249" y="483220"/>
            <a:ext cx="7917771" cy="4057730"/>
          </a:xfrm>
        </p:spPr>
        <p:txBody>
          <a:bodyPr/>
          <a:lstStyle/>
          <a:p>
            <a:pPr marL="457200">
              <a:lnSpc>
                <a:spcPct val="150000"/>
              </a:lnSpc>
            </a:pPr>
            <a:r>
              <a:rPr lang="en-US" sz="18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The results of the normality test indicated that the data were normally distributed as the p-value for ADWG0021, ADWG0050, and ADWG2150 are greater than the significance level of 0.05. </a:t>
            </a:r>
            <a:r>
              <a:rPr lang="en-US" sz="1800" kern="100" dirty="0">
                <a:effectLst/>
                <a:latin typeface="Fira Sans Extra Condensed SemiBold" panose="020B0604020202020204" charset="0"/>
                <a:ea typeface="Calibri" panose="020F0502020204030204" pitchFamily="34" charset="0"/>
                <a:cs typeface="Arial" panose="020B0604020202020204" pitchFamily="34" charset="0"/>
              </a:rPr>
              <a:t/>
            </a:r>
            <a:br>
              <a:rPr lang="en-US" sz="1800" kern="100" dirty="0">
                <a:effectLst/>
                <a:latin typeface="Fira Sans Extra Condensed SemiBold" panose="020B0604020202020204" charset="0"/>
                <a:ea typeface="Calibri" panose="020F0502020204030204" pitchFamily="34" charset="0"/>
                <a:cs typeface="Arial" panose="020B0604020202020204" pitchFamily="34" charset="0"/>
              </a:rPr>
            </a:br>
            <a:r>
              <a:rPr lang="en-US" sz="18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of p value= (0.7305,0.9086,0.9037)</a:t>
            </a:r>
            <a:r>
              <a:rPr lang="en-US" sz="1800" kern="100" dirty="0">
                <a:effectLst/>
                <a:latin typeface="Fira Sans Extra Condensed SemiBold" panose="020B0604020202020204" charset="0"/>
                <a:ea typeface="Calibri" panose="020F0502020204030204" pitchFamily="34" charset="0"/>
                <a:cs typeface="Arial" panose="020B0604020202020204" pitchFamily="34" charset="0"/>
              </a:rPr>
              <a:t/>
            </a:r>
            <a:br>
              <a:rPr lang="en-US" sz="1800" kern="100" dirty="0">
                <a:effectLst/>
                <a:latin typeface="Fira Sans Extra Condensed SemiBold" panose="020B0604020202020204" charset="0"/>
                <a:ea typeface="Calibri" panose="020F0502020204030204" pitchFamily="34" charset="0"/>
                <a:cs typeface="Arial" panose="020B0604020202020204" pitchFamily="34" charset="0"/>
              </a:rPr>
            </a:br>
            <a:r>
              <a:rPr lang="en-US" sz="1800" dirty="0">
                <a:solidFill>
                  <a:srgbClr val="171717"/>
                </a:solidFill>
                <a:effectLst/>
                <a:latin typeface="Fira Sans Extra Condensed SemiBold" panose="020B0604020202020204" charset="0"/>
                <a:ea typeface="Calibri" panose="020F0502020204030204" pitchFamily="34" charset="0"/>
              </a:rPr>
              <a:t>which mean we don’t have enough evidence to reject null hypothesis. It is worth noting that even if the normality assumption is violated, certain statistical tests are robust to moderate departures from normality, especially when the sample size is large. Additionally, visual examination of histograms, Q-Q plots, or other graphical methods can provide further insights into the distributional </a:t>
            </a:r>
            <a:endParaRPr lang="en-US" dirty="0">
              <a:latin typeface="Fira Sans Extra Condensed SemiBold" panose="020B0604020202020204" charset="0"/>
            </a:endParaRPr>
          </a:p>
        </p:txBody>
      </p:sp>
    </p:spTree>
    <p:extLst>
      <p:ext uri="{BB962C8B-B14F-4D97-AF65-F5344CB8AC3E}">
        <p14:creationId xmlns:p14="http://schemas.microsoft.com/office/powerpoint/2010/main" val="37789321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32E3B1-FF6C-DA85-1F99-2EBDEE5637C6}"/>
              </a:ext>
            </a:extLst>
          </p:cNvPr>
          <p:cNvSpPr>
            <a:spLocks noGrp="1"/>
          </p:cNvSpPr>
          <p:nvPr>
            <p:ph type="title"/>
          </p:nvPr>
        </p:nvSpPr>
        <p:spPr>
          <a:xfrm>
            <a:off x="94514" y="95751"/>
            <a:ext cx="4045200" cy="628324"/>
          </a:xfrm>
        </p:spPr>
        <p:txBody>
          <a:bodyPr/>
          <a:lstStyle/>
          <a:p>
            <a:r>
              <a:rPr lang="en-US" sz="2800" b="1" dirty="0">
                <a:solidFill>
                  <a:schemeClr val="tx1">
                    <a:lumMod val="95000"/>
                    <a:lumOff val="5000"/>
                  </a:schemeClr>
                </a:solidFill>
                <a:effectLst/>
                <a:latin typeface="Fira Sans Extra Condensed SemiBold" panose="020B0604020202020204" charset="0"/>
                <a:ea typeface="Calibri" panose="020F0502020204030204" pitchFamily="34" charset="0"/>
              </a:rPr>
              <a:t>Homoscedasticity</a:t>
            </a:r>
            <a:r>
              <a:rPr lang="en-US" sz="1800" b="1" dirty="0">
                <a:solidFill>
                  <a:schemeClr val="tx1">
                    <a:lumMod val="95000"/>
                    <a:lumOff val="5000"/>
                  </a:schemeClr>
                </a:solidFill>
                <a:effectLst/>
                <a:latin typeface="Times New Roman" panose="02020603050405020304" pitchFamily="18" charset="0"/>
                <a:ea typeface="Calibri" panose="020F0502020204030204" pitchFamily="34" charset="0"/>
              </a:rPr>
              <a:t> </a:t>
            </a:r>
            <a:r>
              <a:rPr lang="en-US" sz="2800" b="1" dirty="0">
                <a:solidFill>
                  <a:schemeClr val="tx1">
                    <a:lumMod val="95000"/>
                    <a:lumOff val="5000"/>
                  </a:schemeClr>
                </a:solidFill>
                <a:effectLst/>
                <a:latin typeface="Fira Sans Extra Condensed SemiBold" panose="020B0604020202020204" charset="0"/>
                <a:ea typeface="Calibri" panose="020F0502020204030204" pitchFamily="34" charset="0"/>
              </a:rPr>
              <a:t>Testing</a:t>
            </a:r>
            <a:endParaRPr lang="en-US" sz="2800" dirty="0">
              <a:solidFill>
                <a:schemeClr val="tx1">
                  <a:lumMod val="95000"/>
                  <a:lumOff val="5000"/>
                </a:schemeClr>
              </a:solidFill>
              <a:latin typeface="Fira Sans Extra Condensed SemiBold" panose="020B0604020202020204" charset="0"/>
            </a:endParaRPr>
          </a:p>
        </p:txBody>
      </p:sp>
      <p:sp>
        <p:nvSpPr>
          <p:cNvPr id="3" name="Subtitle 2">
            <a:extLst>
              <a:ext uri="{FF2B5EF4-FFF2-40B4-BE49-F238E27FC236}">
                <a16:creationId xmlns:a16="http://schemas.microsoft.com/office/drawing/2014/main" xmlns="" id="{B7BAC0AF-1F01-0CE4-FB06-8033DF592390}"/>
              </a:ext>
            </a:extLst>
          </p:cNvPr>
          <p:cNvSpPr>
            <a:spLocks noGrp="1"/>
          </p:cNvSpPr>
          <p:nvPr>
            <p:ph type="subTitle" idx="1"/>
          </p:nvPr>
        </p:nvSpPr>
        <p:spPr>
          <a:xfrm>
            <a:off x="94513" y="802889"/>
            <a:ext cx="4370183" cy="4111082"/>
          </a:xfrm>
        </p:spPr>
        <p:txBody>
          <a:bodyPr/>
          <a:lstStyle/>
          <a:p>
            <a:pPr marL="457200" algn="l">
              <a:lnSpc>
                <a:spcPct val="150000"/>
              </a:lnSpc>
              <a:buFont typeface="Arial" panose="020B0604020202020204" pitchFamily="34" charset="0"/>
              <a:buChar char="•"/>
            </a:pPr>
            <a:r>
              <a:rPr lang="en-US" sz="12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To examine the assumption of homoscedasticity, we conducted Bartlett's test, a </a:t>
            </a:r>
            <a:r>
              <a:rPr lang="en-US" sz="1200" kern="100" dirty="0" err="1">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Levene’s</a:t>
            </a:r>
            <a:r>
              <a:rPr lang="en-US" sz="12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 test.</a:t>
            </a:r>
            <a:endParaRPr lang="en-US" sz="1200" kern="100" dirty="0">
              <a:effectLst/>
              <a:latin typeface="Fira Sans Extra Condensed SemiBold" panose="020B0604020202020204" charset="0"/>
              <a:ea typeface="Calibri" panose="020F0502020204030204" pitchFamily="34" charset="0"/>
              <a:cs typeface="Arial" panose="020B0604020202020204" pitchFamily="34" charset="0"/>
            </a:endParaRPr>
          </a:p>
          <a:p>
            <a:pPr marL="457200" algn="l">
              <a:lnSpc>
                <a:spcPct val="150000"/>
              </a:lnSpc>
              <a:buFont typeface="Arial" panose="020B0604020202020204" pitchFamily="34" charset="0"/>
              <a:buChar char="•"/>
            </a:pPr>
            <a:r>
              <a:rPr lang="en-US" sz="12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This test assesses whether the variances of the dependent variable are equal across different levels of the independent variables. </a:t>
            </a:r>
            <a:endParaRPr lang="en-US" sz="1200" kern="100" dirty="0">
              <a:effectLst/>
              <a:latin typeface="Fira Sans Extra Condensed SemiBold" panose="020B0604020202020204" charset="0"/>
              <a:ea typeface="Calibri" panose="020F0502020204030204" pitchFamily="34" charset="0"/>
              <a:cs typeface="Arial" panose="020B0604020202020204" pitchFamily="34" charset="0"/>
            </a:endParaRPr>
          </a:p>
          <a:p>
            <a:pPr marL="457200" algn="l">
              <a:lnSpc>
                <a:spcPct val="150000"/>
              </a:lnSpc>
              <a:buFont typeface="Arial" panose="020B0604020202020204" pitchFamily="34" charset="0"/>
              <a:buChar char="•"/>
            </a:pPr>
            <a:r>
              <a:rPr lang="en-US" sz="12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The null hypothesis (H0) assumes homoscedasticity, while the alternative hypothesis (H1) suggests heteroscedasticity.</a:t>
            </a:r>
            <a:endParaRPr lang="en-US" sz="1200" kern="100" dirty="0">
              <a:effectLst/>
              <a:latin typeface="Fira Sans Extra Condensed SemiBold" panose="020B0604020202020204" charset="0"/>
              <a:ea typeface="Calibri" panose="020F0502020204030204" pitchFamily="34" charset="0"/>
              <a:cs typeface="Arial" panose="020B0604020202020204" pitchFamily="34" charset="0"/>
            </a:endParaRPr>
          </a:p>
          <a:p>
            <a:pPr marL="457200" algn="l">
              <a:lnSpc>
                <a:spcPct val="150000"/>
              </a:lnSpc>
              <a:buFont typeface="Arial" panose="020B0604020202020204" pitchFamily="34" charset="0"/>
              <a:buChar char="•"/>
            </a:pPr>
            <a:r>
              <a:rPr lang="en-US" sz="12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The results of the homoscedasticity test revealed that the assumption of homoscedasticity was not violated as all the values of p-values are greater than the significance level of 0.05</a:t>
            </a:r>
            <a:endParaRPr lang="en-US" sz="1200" kern="100" dirty="0">
              <a:effectLst/>
              <a:latin typeface="Fira Sans Extra Condensed SemiBold" panose="020B0604020202020204" charset="0"/>
              <a:ea typeface="Calibri" panose="020F0502020204030204" pitchFamily="34" charset="0"/>
              <a:cs typeface="Arial" panose="020B0604020202020204" pitchFamily="34" charset="0"/>
            </a:endParaRPr>
          </a:p>
          <a:p>
            <a:pPr marL="457200" algn="l">
              <a:lnSpc>
                <a:spcPct val="150000"/>
              </a:lnSpc>
              <a:spcAft>
                <a:spcPts val="800"/>
              </a:spcAft>
              <a:buFont typeface="Arial" panose="020B0604020202020204" pitchFamily="34" charset="0"/>
              <a:buChar char="•"/>
            </a:pPr>
            <a:r>
              <a:rPr lang="en-US" sz="1200" kern="100" dirty="0">
                <a:solidFill>
                  <a:srgbClr val="171717"/>
                </a:solidFill>
                <a:effectLst/>
                <a:latin typeface="Fira Sans Extra Condensed SemiBold" panose="020B0604020202020204" charset="0"/>
                <a:ea typeface="Calibri" panose="020F0502020204030204" pitchFamily="34" charset="0"/>
                <a:cs typeface="Arial" panose="020B0604020202020204" pitchFamily="34" charset="0"/>
              </a:rPr>
              <a:t>(0.8498,0.09321,0.1251)</a:t>
            </a:r>
            <a:endParaRPr lang="en-US" sz="1200" kern="100" dirty="0">
              <a:effectLst/>
              <a:latin typeface="Fira Sans Extra Condensed SemiBold" panose="020B0604020202020204" charset="0"/>
              <a:ea typeface="Calibri" panose="020F0502020204030204" pitchFamily="34" charset="0"/>
              <a:cs typeface="Arial" panose="020B0604020202020204" pitchFamily="34" charset="0"/>
            </a:endParaRPr>
          </a:p>
          <a:p>
            <a:pPr algn="l">
              <a:buFont typeface="Arial" panose="020B0604020202020204" pitchFamily="34" charset="0"/>
              <a:buChar char="•"/>
            </a:pPr>
            <a:r>
              <a:rPr lang="en-US" sz="1200" dirty="0">
                <a:solidFill>
                  <a:srgbClr val="171717"/>
                </a:solidFill>
                <a:effectLst/>
                <a:latin typeface="Fira Sans Extra Condensed SemiBold" panose="020B0604020202020204" charset="0"/>
                <a:ea typeface="Calibri" panose="020F0502020204030204" pitchFamily="34" charset="0"/>
              </a:rPr>
              <a:t>which means that we do not have sufficient evidence to reject the null hypothesis</a:t>
            </a:r>
            <a:endParaRPr lang="en-US" sz="1200" dirty="0">
              <a:latin typeface="Fira Sans Extra Condensed SemiBold" panose="020B0604020202020204" charset="0"/>
            </a:endParaRPr>
          </a:p>
        </p:txBody>
      </p:sp>
      <p:sp>
        <p:nvSpPr>
          <p:cNvPr id="4" name="Text Placeholder 3">
            <a:extLst>
              <a:ext uri="{FF2B5EF4-FFF2-40B4-BE49-F238E27FC236}">
                <a16:creationId xmlns:a16="http://schemas.microsoft.com/office/drawing/2014/main" xmlns="" id="{FCDCED5C-1066-496D-65B9-3531F3FB571A}"/>
              </a:ext>
            </a:extLst>
          </p:cNvPr>
          <p:cNvSpPr>
            <a:spLocks noGrp="1"/>
          </p:cNvSpPr>
          <p:nvPr>
            <p:ph type="body" idx="2"/>
          </p:nvPr>
        </p:nvSpPr>
        <p:spPr>
          <a:xfrm>
            <a:off x="4679304" y="594733"/>
            <a:ext cx="4045199" cy="4319238"/>
          </a:xfrm>
        </p:spPr>
        <p:txBody>
          <a:bodyPr/>
          <a:lstStyle/>
          <a:p>
            <a:endParaRPr lang="en-US" dirty="0"/>
          </a:p>
        </p:txBody>
      </p:sp>
      <p:pic>
        <p:nvPicPr>
          <p:cNvPr id="6" name="Picture 5" descr="A screenshot of a computer program">
            <a:extLst>
              <a:ext uri="{FF2B5EF4-FFF2-40B4-BE49-F238E27FC236}">
                <a16:creationId xmlns:a16="http://schemas.microsoft.com/office/drawing/2014/main" xmlns="" id="{1F92EFC6-3A7B-9031-16DC-A1B4F72E09E6}"/>
              </a:ext>
            </a:extLst>
          </p:cNvPr>
          <p:cNvPicPr>
            <a:picLocks noChangeAspect="1"/>
          </p:cNvPicPr>
          <p:nvPr/>
        </p:nvPicPr>
        <p:blipFill>
          <a:blip r:embed="rId2"/>
          <a:stretch>
            <a:fillRect/>
          </a:stretch>
        </p:blipFill>
        <p:spPr>
          <a:xfrm>
            <a:off x="4679303" y="618973"/>
            <a:ext cx="4045199" cy="4319238"/>
          </a:xfrm>
          <a:prstGeom prst="rect">
            <a:avLst/>
          </a:prstGeom>
        </p:spPr>
      </p:pic>
    </p:spTree>
    <p:extLst>
      <p:ext uri="{BB962C8B-B14F-4D97-AF65-F5344CB8AC3E}">
        <p14:creationId xmlns:p14="http://schemas.microsoft.com/office/powerpoint/2010/main" val="24461929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E92566-5AE1-B42F-6FB6-DC15FA2FE536}"/>
              </a:ext>
            </a:extLst>
          </p:cNvPr>
          <p:cNvSpPr>
            <a:spLocks noGrp="1"/>
          </p:cNvSpPr>
          <p:nvPr>
            <p:ph type="title"/>
          </p:nvPr>
        </p:nvSpPr>
        <p:spPr/>
        <p:txBody>
          <a:bodyPr/>
          <a:lstStyle/>
          <a:p>
            <a:r>
              <a:rPr lang="en-US" sz="2400" dirty="0"/>
              <a:t>Statistics inference </a:t>
            </a:r>
            <a:r>
              <a:rPr lang="en-US" sz="1100" dirty="0"/>
              <a:t/>
            </a:r>
            <a:br>
              <a:rPr lang="en-US" sz="1100" dirty="0"/>
            </a:br>
            <a:r>
              <a:rPr lang="en-US" sz="1100" dirty="0"/>
              <a:t>We calculated the 90%, 95%, 99% confidence interval for the means of ADWG0021per each gender.</a:t>
            </a:r>
            <a:br>
              <a:rPr lang="en-US" sz="1100" dirty="0"/>
            </a:br>
            <a:endParaRPr lang="en-US" sz="1100" dirty="0"/>
          </a:p>
        </p:txBody>
      </p:sp>
      <p:sp>
        <p:nvSpPr>
          <p:cNvPr id="4" name="Text Placeholder 3">
            <a:extLst>
              <a:ext uri="{FF2B5EF4-FFF2-40B4-BE49-F238E27FC236}">
                <a16:creationId xmlns:a16="http://schemas.microsoft.com/office/drawing/2014/main" xmlns="" id="{A294D8FD-9F0E-5CBB-3C4C-DA95F03376F4}"/>
              </a:ext>
            </a:extLst>
          </p:cNvPr>
          <p:cNvSpPr>
            <a:spLocks noGrp="1"/>
          </p:cNvSpPr>
          <p:nvPr>
            <p:ph type="body" idx="2"/>
          </p:nvPr>
        </p:nvSpPr>
        <p:spPr>
          <a:xfrm>
            <a:off x="5144100" y="2079888"/>
            <a:ext cx="3999900" cy="3635112"/>
          </a:xfrm>
        </p:spPr>
        <p:txBody>
          <a:bodyPr/>
          <a:lstStyle/>
          <a:p>
            <a:pPr marL="342900" lvl="0" indent="-342900">
              <a:lnSpc>
                <a:spcPct val="150000"/>
              </a:lnSpc>
              <a:buFont typeface="Symbol" pitchFamily="2" charset="2"/>
              <a:buChar char=""/>
            </a:pPr>
            <a:r>
              <a:rPr lang="en-US" u="none" kern="100" dirty="0">
                <a:effectLst/>
                <a:latin typeface="+mn-lt"/>
                <a:ea typeface="Calibri" panose="020F0502020204030204" pitchFamily="34" charset="0"/>
                <a:cs typeface="Arial" panose="020B0604020202020204" pitchFamily="34" charset="0"/>
              </a:rPr>
              <a:t>We are 90%, 95%, and 99% confident that the true mean ADWG0021 for males and females falls within the calculated confidence intervals. </a:t>
            </a:r>
            <a:endParaRPr lang="x-none" u="none" kern="100" dirty="0">
              <a:effectLst/>
              <a:latin typeface="+mn-lt"/>
              <a:ea typeface="Calibri" panose="020F0502020204030204" pitchFamily="34" charset="0"/>
              <a:cs typeface="Arial" panose="020B0604020202020204" pitchFamily="34" charset="0"/>
            </a:endParaRPr>
          </a:p>
          <a:p>
            <a:pPr marL="342900" lvl="0" indent="-342900">
              <a:lnSpc>
                <a:spcPct val="150000"/>
              </a:lnSpc>
              <a:spcAft>
                <a:spcPts val="800"/>
              </a:spcAft>
              <a:buFont typeface="Symbol" pitchFamily="2" charset="2"/>
              <a:buChar char=""/>
            </a:pPr>
            <a:r>
              <a:rPr lang="en-US" u="none" kern="100" dirty="0">
                <a:effectLst/>
                <a:latin typeface="+mn-lt"/>
                <a:ea typeface="Calibri" panose="020F0502020204030204" pitchFamily="34" charset="0"/>
                <a:cs typeface="Arial" panose="020B0604020202020204" pitchFamily="34" charset="0"/>
              </a:rPr>
              <a:t>We noticed that by increasing the confidence level, the width of the confidence interval also increases.</a:t>
            </a:r>
          </a:p>
          <a:p>
            <a:pPr marL="342900" lvl="0" indent="-342900">
              <a:lnSpc>
                <a:spcPct val="150000"/>
              </a:lnSpc>
              <a:spcAft>
                <a:spcPts val="800"/>
              </a:spcAft>
              <a:buFont typeface="Symbol" pitchFamily="2" charset="2"/>
              <a:buChar char=""/>
            </a:pPr>
            <a:r>
              <a:rPr lang="en-US" u="none" kern="100" dirty="0">
                <a:latin typeface="+mn-lt"/>
                <a:ea typeface="Calibri" panose="020F0502020204030204" pitchFamily="34" charset="0"/>
                <a:cs typeface="Arial" panose="020B0604020202020204" pitchFamily="34" charset="0"/>
              </a:rPr>
              <a:t>In 99% there is less precision but more confidence that we will capture the true mean.</a:t>
            </a:r>
          </a:p>
          <a:p>
            <a:pPr marL="342900" lvl="0" indent="-342900">
              <a:lnSpc>
                <a:spcPct val="150000"/>
              </a:lnSpc>
              <a:spcAft>
                <a:spcPts val="800"/>
              </a:spcAft>
              <a:buFont typeface="Symbol" pitchFamily="2" charset="2"/>
              <a:buChar char=""/>
            </a:pPr>
            <a:r>
              <a:rPr lang="en-US" u="none" kern="100" dirty="0">
                <a:effectLst/>
                <a:latin typeface="+mn-lt"/>
                <a:ea typeface="Calibri" panose="020F0502020204030204" pitchFamily="34" charset="0"/>
                <a:cs typeface="Arial" panose="020B0604020202020204" pitchFamily="34" charset="0"/>
              </a:rPr>
              <a:t>In 90</a:t>
            </a:r>
            <a:r>
              <a:rPr lang="en-US" u="none" kern="100" dirty="0">
                <a:latin typeface="+mn-lt"/>
                <a:ea typeface="Calibri" panose="020F0502020204030204" pitchFamily="34" charset="0"/>
                <a:cs typeface="Arial" panose="020B0604020202020204" pitchFamily="34" charset="0"/>
              </a:rPr>
              <a:t>% we are more precise but less confidence.</a:t>
            </a:r>
          </a:p>
        </p:txBody>
      </p:sp>
      <p:pic>
        <p:nvPicPr>
          <p:cNvPr id="6" name="Picture 5" descr="A screenshot of a computer&#10;&#10;Description automatically generated">
            <a:extLst>
              <a:ext uri="{FF2B5EF4-FFF2-40B4-BE49-F238E27FC236}">
                <a16:creationId xmlns:a16="http://schemas.microsoft.com/office/drawing/2014/main" xmlns="" id="{27444790-707F-B030-CFC4-8FAD781B823B}"/>
              </a:ext>
            </a:extLst>
          </p:cNvPr>
          <p:cNvPicPr>
            <a:picLocks noChangeAspect="1"/>
          </p:cNvPicPr>
          <p:nvPr/>
        </p:nvPicPr>
        <p:blipFill rotWithShape="1">
          <a:blip r:embed="rId2">
            <a:extLst>
              <a:ext uri="{28A0092B-C50C-407E-A947-70E740481C1C}">
                <a14:useLocalDpi xmlns:a14="http://schemas.microsoft.com/office/drawing/2010/main" val="0"/>
              </a:ext>
            </a:extLst>
          </a:blip>
          <a:srcRect l="2487" t="13747" r="46628" b="77636"/>
          <a:stretch/>
        </p:blipFill>
        <p:spPr bwMode="auto">
          <a:xfrm>
            <a:off x="617045" y="1234068"/>
            <a:ext cx="5235115" cy="702945"/>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xmlns="" id="{CC672F4A-45D8-0874-37F6-098D8691B19A}"/>
              </a:ext>
            </a:extLst>
          </p:cNvPr>
          <p:cNvPicPr>
            <a:picLocks noChangeAspect="1"/>
          </p:cNvPicPr>
          <p:nvPr/>
        </p:nvPicPr>
        <p:blipFill rotWithShape="1">
          <a:blip r:embed="rId3">
            <a:extLst>
              <a:ext uri="{28A0092B-C50C-407E-A947-70E740481C1C}">
                <a14:useLocalDpi xmlns:a14="http://schemas.microsoft.com/office/drawing/2010/main" val="0"/>
              </a:ext>
            </a:extLst>
          </a:blip>
          <a:srcRect l="38598" t="13737" r="38332" b="77776"/>
          <a:stretch/>
        </p:blipFill>
        <p:spPr bwMode="auto">
          <a:xfrm>
            <a:off x="617045" y="2186906"/>
            <a:ext cx="4217670" cy="872490"/>
          </a:xfrm>
          <a:prstGeom prst="rect">
            <a:avLst/>
          </a:prstGeom>
          <a:ln>
            <a:noFill/>
          </a:ln>
          <a:extLst>
            <a:ext uri="{53640926-AAD7-44D8-BBD7-CCE9431645EC}">
              <a14:shadowObscured xmlns:a14="http://schemas.microsoft.com/office/drawing/2010/main"/>
            </a:ext>
          </a:extLst>
        </p:spPr>
      </p:pic>
      <p:sp>
        <p:nvSpPr>
          <p:cNvPr id="32" name="Google Shape;600;p38">
            <a:extLst>
              <a:ext uri="{FF2B5EF4-FFF2-40B4-BE49-F238E27FC236}">
                <a16:creationId xmlns:a16="http://schemas.microsoft.com/office/drawing/2014/main" xmlns="" id="{26DC1AD7-1C0C-C3E5-27F9-77A0463DBB5C}"/>
              </a:ext>
            </a:extLst>
          </p:cNvPr>
          <p:cNvSpPr txBox="1"/>
          <p:nvPr/>
        </p:nvSpPr>
        <p:spPr>
          <a:xfrm>
            <a:off x="1858275" y="3969500"/>
            <a:ext cx="2758800" cy="26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Roboto"/>
                <a:ea typeface="Roboto"/>
                <a:cs typeface="Roboto"/>
                <a:sym typeface="Roboto"/>
              </a:rPr>
              <a:t>interval</a:t>
            </a:r>
            <a:endParaRPr dirty="0">
              <a:solidFill>
                <a:schemeClr val="dk1"/>
              </a:solidFill>
              <a:latin typeface="Roboto"/>
              <a:ea typeface="Roboto"/>
              <a:cs typeface="Roboto"/>
              <a:sym typeface="Roboto"/>
            </a:endParaRPr>
          </a:p>
        </p:txBody>
      </p:sp>
      <p:grpSp>
        <p:nvGrpSpPr>
          <p:cNvPr id="33" name="Google Shape;601;p38">
            <a:extLst>
              <a:ext uri="{FF2B5EF4-FFF2-40B4-BE49-F238E27FC236}">
                <a16:creationId xmlns:a16="http://schemas.microsoft.com/office/drawing/2014/main" xmlns="" id="{93AFE599-3FAA-67BC-ED95-64EBF9889D47}"/>
              </a:ext>
            </a:extLst>
          </p:cNvPr>
          <p:cNvGrpSpPr/>
          <p:nvPr/>
        </p:nvGrpSpPr>
        <p:grpSpPr>
          <a:xfrm>
            <a:off x="1857375" y="3681910"/>
            <a:ext cx="2724300" cy="220232"/>
            <a:chOff x="1857375" y="3681910"/>
            <a:chExt cx="2724300" cy="220232"/>
          </a:xfrm>
        </p:grpSpPr>
        <p:cxnSp>
          <p:nvCxnSpPr>
            <p:cNvPr id="34" name="Google Shape;602;p38">
              <a:extLst>
                <a:ext uri="{FF2B5EF4-FFF2-40B4-BE49-F238E27FC236}">
                  <a16:creationId xmlns:a16="http://schemas.microsoft.com/office/drawing/2014/main" xmlns="" id="{1B5FC41D-89C6-57CD-08D0-878F5F35FBBD}"/>
                </a:ext>
              </a:extLst>
            </p:cNvPr>
            <p:cNvCxnSpPr/>
            <p:nvPr/>
          </p:nvCxnSpPr>
          <p:spPr>
            <a:xfrm>
              <a:off x="1857375" y="3782675"/>
              <a:ext cx="2724300" cy="0"/>
            </a:xfrm>
            <a:prstGeom prst="straightConnector1">
              <a:avLst/>
            </a:prstGeom>
            <a:noFill/>
            <a:ln w="19050" cap="flat" cmpd="sng">
              <a:solidFill>
                <a:schemeClr val="dk1"/>
              </a:solidFill>
              <a:prstDash val="solid"/>
              <a:round/>
              <a:headEnd type="none" w="med" len="med"/>
              <a:tailEnd type="none" w="med" len="med"/>
            </a:ln>
          </p:spPr>
        </p:cxnSp>
        <p:grpSp>
          <p:nvGrpSpPr>
            <p:cNvPr id="35" name="Google Shape;603;p38">
              <a:extLst>
                <a:ext uri="{FF2B5EF4-FFF2-40B4-BE49-F238E27FC236}">
                  <a16:creationId xmlns:a16="http://schemas.microsoft.com/office/drawing/2014/main" xmlns="" id="{3B8B874A-DE10-4F83-E1B2-A31FCBD8BE3C}"/>
                </a:ext>
              </a:extLst>
            </p:cNvPr>
            <p:cNvGrpSpPr/>
            <p:nvPr/>
          </p:nvGrpSpPr>
          <p:grpSpPr>
            <a:xfrm rot="1818974">
              <a:off x="2266652" y="3681910"/>
              <a:ext cx="242242" cy="220232"/>
              <a:chOff x="5482180" y="3339299"/>
              <a:chExt cx="242229" cy="220220"/>
            </a:xfrm>
          </p:grpSpPr>
          <p:sp>
            <p:nvSpPr>
              <p:cNvPr id="36" name="Google Shape;604;p38">
                <a:extLst>
                  <a:ext uri="{FF2B5EF4-FFF2-40B4-BE49-F238E27FC236}">
                    <a16:creationId xmlns:a16="http://schemas.microsoft.com/office/drawing/2014/main" xmlns="" id="{BC904530-05D3-1352-ACF9-009030E495C2}"/>
                  </a:ext>
                </a:extLst>
              </p:cNvPr>
              <p:cNvSpPr/>
              <p:nvPr/>
            </p:nvSpPr>
            <p:spPr>
              <a:xfrm>
                <a:off x="5483663" y="3339299"/>
                <a:ext cx="213978" cy="213322"/>
              </a:xfrm>
              <a:custGeom>
                <a:avLst/>
                <a:gdLst/>
                <a:ahLst/>
                <a:cxnLst/>
                <a:rect l="l" t="t" r="r" b="b"/>
                <a:pathLst>
                  <a:path w="3875" h="3627" extrusionOk="0">
                    <a:moveTo>
                      <a:pt x="1324" y="0"/>
                    </a:moveTo>
                    <a:cubicBezTo>
                      <a:pt x="1059" y="0"/>
                      <a:pt x="1056" y="946"/>
                      <a:pt x="969" y="1186"/>
                    </a:cubicBezTo>
                    <a:cubicBezTo>
                      <a:pt x="890" y="1434"/>
                      <a:pt x="0" y="1997"/>
                      <a:pt x="23" y="2155"/>
                    </a:cubicBezTo>
                    <a:cubicBezTo>
                      <a:pt x="62" y="2420"/>
                      <a:pt x="947" y="2437"/>
                      <a:pt x="1175" y="2437"/>
                    </a:cubicBezTo>
                    <a:cubicBezTo>
                      <a:pt x="1209" y="2437"/>
                      <a:pt x="1228" y="2436"/>
                      <a:pt x="1228" y="2436"/>
                    </a:cubicBezTo>
                    <a:cubicBezTo>
                      <a:pt x="1228" y="2436"/>
                      <a:pt x="1284" y="3428"/>
                      <a:pt x="1431" y="3608"/>
                    </a:cubicBezTo>
                    <a:cubicBezTo>
                      <a:pt x="1442" y="3620"/>
                      <a:pt x="1455" y="3626"/>
                      <a:pt x="1471" y="3626"/>
                    </a:cubicBezTo>
                    <a:cubicBezTo>
                      <a:pt x="1685" y="3626"/>
                      <a:pt x="2309" y="2583"/>
                      <a:pt x="2309" y="2583"/>
                    </a:cubicBezTo>
                    <a:cubicBezTo>
                      <a:pt x="2309" y="2583"/>
                      <a:pt x="2852" y="2810"/>
                      <a:pt x="3273" y="2810"/>
                    </a:cubicBezTo>
                    <a:cubicBezTo>
                      <a:pt x="3330" y="2810"/>
                      <a:pt x="3385" y="2806"/>
                      <a:pt x="3436" y="2797"/>
                    </a:cubicBezTo>
                    <a:cubicBezTo>
                      <a:pt x="3875" y="2718"/>
                      <a:pt x="3143" y="1749"/>
                      <a:pt x="3008" y="1524"/>
                    </a:cubicBezTo>
                    <a:cubicBezTo>
                      <a:pt x="2895" y="1299"/>
                      <a:pt x="3447" y="905"/>
                      <a:pt x="3391" y="679"/>
                    </a:cubicBezTo>
                    <a:cubicBezTo>
                      <a:pt x="3376" y="622"/>
                      <a:pt x="3324" y="601"/>
                      <a:pt x="3247" y="601"/>
                    </a:cubicBezTo>
                    <a:cubicBezTo>
                      <a:pt x="3019" y="601"/>
                      <a:pt x="2582" y="792"/>
                      <a:pt x="2321" y="826"/>
                    </a:cubicBezTo>
                    <a:cubicBezTo>
                      <a:pt x="2313" y="826"/>
                      <a:pt x="2306" y="827"/>
                      <a:pt x="2299" y="827"/>
                    </a:cubicBezTo>
                    <a:cubicBezTo>
                      <a:pt x="1958" y="827"/>
                      <a:pt x="1639" y="70"/>
                      <a:pt x="1352" y="3"/>
                    </a:cubicBezTo>
                    <a:cubicBezTo>
                      <a:pt x="1342" y="1"/>
                      <a:pt x="1333" y="0"/>
                      <a:pt x="1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p>
            </p:txBody>
          </p:sp>
          <p:sp>
            <p:nvSpPr>
              <p:cNvPr id="37" name="Google Shape;605;p38">
                <a:extLst>
                  <a:ext uri="{FF2B5EF4-FFF2-40B4-BE49-F238E27FC236}">
                    <a16:creationId xmlns:a16="http://schemas.microsoft.com/office/drawing/2014/main" xmlns="" id="{04D2BEA2-7FDA-2526-4E84-779259E57FAC}"/>
                  </a:ext>
                </a:extLst>
              </p:cNvPr>
              <p:cNvSpPr/>
              <p:nvPr/>
            </p:nvSpPr>
            <p:spPr>
              <a:xfrm rot="20350776">
                <a:off x="5482180" y="3341068"/>
                <a:ext cx="242229" cy="218451"/>
              </a:xfrm>
              <a:custGeom>
                <a:avLst/>
                <a:gdLst/>
                <a:ahLst/>
                <a:cxnLst/>
                <a:rect l="l" t="t" r="r" b="b"/>
                <a:pathLst>
                  <a:path w="3730" h="3064" extrusionOk="0">
                    <a:moveTo>
                      <a:pt x="1848" y="293"/>
                    </a:moveTo>
                    <a:cubicBezTo>
                      <a:pt x="1904" y="394"/>
                      <a:pt x="1983" y="530"/>
                      <a:pt x="1995" y="563"/>
                    </a:cubicBezTo>
                    <a:cubicBezTo>
                      <a:pt x="2017" y="586"/>
                      <a:pt x="2040" y="631"/>
                      <a:pt x="2051" y="676"/>
                    </a:cubicBezTo>
                    <a:cubicBezTo>
                      <a:pt x="2130" y="856"/>
                      <a:pt x="2242" y="1082"/>
                      <a:pt x="2423" y="1138"/>
                    </a:cubicBezTo>
                    <a:cubicBezTo>
                      <a:pt x="2614" y="1205"/>
                      <a:pt x="2817" y="1217"/>
                      <a:pt x="3008" y="1217"/>
                    </a:cubicBezTo>
                    <a:cubicBezTo>
                      <a:pt x="3155" y="1217"/>
                      <a:pt x="3279" y="1217"/>
                      <a:pt x="3402" y="1250"/>
                    </a:cubicBezTo>
                    <a:cubicBezTo>
                      <a:pt x="3369" y="1296"/>
                      <a:pt x="3290" y="1352"/>
                      <a:pt x="3233" y="1386"/>
                    </a:cubicBezTo>
                    <a:cubicBezTo>
                      <a:pt x="3211" y="1408"/>
                      <a:pt x="3200" y="1431"/>
                      <a:pt x="3166" y="1442"/>
                    </a:cubicBezTo>
                    <a:cubicBezTo>
                      <a:pt x="3087" y="1521"/>
                      <a:pt x="2997" y="1577"/>
                      <a:pt x="2918" y="1645"/>
                    </a:cubicBezTo>
                    <a:lnTo>
                      <a:pt x="2749" y="1769"/>
                    </a:lnTo>
                    <a:cubicBezTo>
                      <a:pt x="2715" y="1780"/>
                      <a:pt x="2693" y="1814"/>
                      <a:pt x="2659" y="1859"/>
                    </a:cubicBezTo>
                    <a:cubicBezTo>
                      <a:pt x="2591" y="1971"/>
                      <a:pt x="2648" y="2163"/>
                      <a:pt x="2715" y="2422"/>
                    </a:cubicBezTo>
                    <a:cubicBezTo>
                      <a:pt x="2727" y="2478"/>
                      <a:pt x="2749" y="2512"/>
                      <a:pt x="2760" y="2557"/>
                    </a:cubicBezTo>
                    <a:cubicBezTo>
                      <a:pt x="2772" y="2568"/>
                      <a:pt x="2772" y="2602"/>
                      <a:pt x="2772" y="2625"/>
                    </a:cubicBezTo>
                    <a:cubicBezTo>
                      <a:pt x="2772" y="2670"/>
                      <a:pt x="2783" y="2715"/>
                      <a:pt x="2783" y="2760"/>
                    </a:cubicBezTo>
                    <a:lnTo>
                      <a:pt x="2085" y="2433"/>
                    </a:lnTo>
                    <a:cubicBezTo>
                      <a:pt x="2012" y="2402"/>
                      <a:pt x="1941" y="2389"/>
                      <a:pt x="1871" y="2389"/>
                    </a:cubicBezTo>
                    <a:cubicBezTo>
                      <a:pt x="1690" y="2389"/>
                      <a:pt x="1518" y="2476"/>
                      <a:pt x="1364" y="2557"/>
                    </a:cubicBezTo>
                    <a:cubicBezTo>
                      <a:pt x="1319" y="2591"/>
                      <a:pt x="1274" y="2613"/>
                      <a:pt x="1240" y="2625"/>
                    </a:cubicBezTo>
                    <a:cubicBezTo>
                      <a:pt x="1195" y="2647"/>
                      <a:pt x="1139" y="2670"/>
                      <a:pt x="1082" y="2703"/>
                    </a:cubicBezTo>
                    <a:cubicBezTo>
                      <a:pt x="1015" y="2726"/>
                      <a:pt x="958" y="2760"/>
                      <a:pt x="902" y="2782"/>
                    </a:cubicBezTo>
                    <a:cubicBezTo>
                      <a:pt x="913" y="2715"/>
                      <a:pt x="925" y="2625"/>
                      <a:pt x="958" y="2546"/>
                    </a:cubicBezTo>
                    <a:cubicBezTo>
                      <a:pt x="970" y="2489"/>
                      <a:pt x="981" y="2422"/>
                      <a:pt x="1003" y="2366"/>
                    </a:cubicBezTo>
                    <a:cubicBezTo>
                      <a:pt x="1015" y="2309"/>
                      <a:pt x="1026" y="2264"/>
                      <a:pt x="1037" y="2219"/>
                    </a:cubicBezTo>
                    <a:cubicBezTo>
                      <a:pt x="1060" y="2163"/>
                      <a:pt x="1071" y="2118"/>
                      <a:pt x="1082" y="2061"/>
                    </a:cubicBezTo>
                    <a:cubicBezTo>
                      <a:pt x="1127" y="1836"/>
                      <a:pt x="902" y="1690"/>
                      <a:pt x="733" y="1555"/>
                    </a:cubicBezTo>
                    <a:cubicBezTo>
                      <a:pt x="688" y="1532"/>
                      <a:pt x="643" y="1498"/>
                      <a:pt x="620" y="1476"/>
                    </a:cubicBezTo>
                    <a:lnTo>
                      <a:pt x="350" y="1250"/>
                    </a:lnTo>
                    <a:cubicBezTo>
                      <a:pt x="406" y="1250"/>
                      <a:pt x="463" y="1228"/>
                      <a:pt x="508" y="1217"/>
                    </a:cubicBezTo>
                    <a:cubicBezTo>
                      <a:pt x="553" y="1217"/>
                      <a:pt x="575" y="1205"/>
                      <a:pt x="587" y="1205"/>
                    </a:cubicBezTo>
                    <a:cubicBezTo>
                      <a:pt x="632" y="1194"/>
                      <a:pt x="699" y="1194"/>
                      <a:pt x="778" y="1194"/>
                    </a:cubicBezTo>
                    <a:cubicBezTo>
                      <a:pt x="1060" y="1183"/>
                      <a:pt x="1262" y="1160"/>
                      <a:pt x="1375" y="1082"/>
                    </a:cubicBezTo>
                    <a:cubicBezTo>
                      <a:pt x="1476" y="991"/>
                      <a:pt x="1533" y="868"/>
                      <a:pt x="1589" y="755"/>
                    </a:cubicBezTo>
                    <a:cubicBezTo>
                      <a:pt x="1600" y="710"/>
                      <a:pt x="1634" y="676"/>
                      <a:pt x="1645" y="642"/>
                    </a:cubicBezTo>
                    <a:cubicBezTo>
                      <a:pt x="1679" y="597"/>
                      <a:pt x="1702" y="541"/>
                      <a:pt x="1735" y="485"/>
                    </a:cubicBezTo>
                    <a:cubicBezTo>
                      <a:pt x="1769" y="417"/>
                      <a:pt x="1803" y="349"/>
                      <a:pt x="1848" y="293"/>
                    </a:cubicBezTo>
                    <a:close/>
                    <a:moveTo>
                      <a:pt x="1814" y="0"/>
                    </a:moveTo>
                    <a:lnTo>
                      <a:pt x="1769" y="34"/>
                    </a:lnTo>
                    <a:cubicBezTo>
                      <a:pt x="1657" y="135"/>
                      <a:pt x="1589" y="293"/>
                      <a:pt x="1533" y="417"/>
                    </a:cubicBezTo>
                    <a:cubicBezTo>
                      <a:pt x="1499" y="462"/>
                      <a:pt x="1488" y="518"/>
                      <a:pt x="1465" y="563"/>
                    </a:cubicBezTo>
                    <a:cubicBezTo>
                      <a:pt x="1431" y="586"/>
                      <a:pt x="1420" y="642"/>
                      <a:pt x="1386" y="687"/>
                    </a:cubicBezTo>
                    <a:cubicBezTo>
                      <a:pt x="1353" y="777"/>
                      <a:pt x="1296" y="901"/>
                      <a:pt x="1240" y="935"/>
                    </a:cubicBezTo>
                    <a:cubicBezTo>
                      <a:pt x="1184" y="991"/>
                      <a:pt x="913" y="991"/>
                      <a:pt x="778" y="1003"/>
                    </a:cubicBezTo>
                    <a:cubicBezTo>
                      <a:pt x="699" y="1003"/>
                      <a:pt x="632" y="1025"/>
                      <a:pt x="575" y="1025"/>
                    </a:cubicBezTo>
                    <a:cubicBezTo>
                      <a:pt x="542" y="1025"/>
                      <a:pt x="519" y="1025"/>
                      <a:pt x="463" y="1036"/>
                    </a:cubicBezTo>
                    <a:cubicBezTo>
                      <a:pt x="384" y="1048"/>
                      <a:pt x="170" y="1093"/>
                      <a:pt x="114" y="1093"/>
                    </a:cubicBezTo>
                    <a:cubicBezTo>
                      <a:pt x="114" y="1093"/>
                      <a:pt x="136" y="1093"/>
                      <a:pt x="147" y="1104"/>
                    </a:cubicBezTo>
                    <a:lnTo>
                      <a:pt x="1" y="1250"/>
                    </a:lnTo>
                    <a:lnTo>
                      <a:pt x="451" y="1611"/>
                    </a:lnTo>
                    <a:cubicBezTo>
                      <a:pt x="497" y="1656"/>
                      <a:pt x="530" y="1690"/>
                      <a:pt x="575" y="1712"/>
                    </a:cubicBezTo>
                    <a:cubicBezTo>
                      <a:pt x="722" y="1814"/>
                      <a:pt x="891" y="1926"/>
                      <a:pt x="857" y="2039"/>
                    </a:cubicBezTo>
                    <a:cubicBezTo>
                      <a:pt x="846" y="2073"/>
                      <a:pt x="834" y="2140"/>
                      <a:pt x="812" y="2174"/>
                    </a:cubicBezTo>
                    <a:cubicBezTo>
                      <a:pt x="801" y="2230"/>
                      <a:pt x="789" y="2275"/>
                      <a:pt x="778" y="2332"/>
                    </a:cubicBezTo>
                    <a:lnTo>
                      <a:pt x="733" y="2501"/>
                    </a:lnTo>
                    <a:cubicBezTo>
                      <a:pt x="688" y="2647"/>
                      <a:pt x="643" y="2782"/>
                      <a:pt x="665" y="2940"/>
                    </a:cubicBezTo>
                    <a:lnTo>
                      <a:pt x="677" y="3053"/>
                    </a:lnTo>
                    <a:lnTo>
                      <a:pt x="801" y="3053"/>
                    </a:lnTo>
                    <a:cubicBezTo>
                      <a:pt x="925" y="3019"/>
                      <a:pt x="1060" y="2951"/>
                      <a:pt x="1184" y="2895"/>
                    </a:cubicBezTo>
                    <a:cubicBezTo>
                      <a:pt x="1229" y="2872"/>
                      <a:pt x="1285" y="2850"/>
                      <a:pt x="1319" y="2827"/>
                    </a:cubicBezTo>
                    <a:cubicBezTo>
                      <a:pt x="1364" y="2816"/>
                      <a:pt x="1420" y="2782"/>
                      <a:pt x="1465" y="2760"/>
                    </a:cubicBezTo>
                    <a:cubicBezTo>
                      <a:pt x="1609" y="2684"/>
                      <a:pt x="1733" y="2627"/>
                      <a:pt x="1848" y="2627"/>
                    </a:cubicBezTo>
                    <a:cubicBezTo>
                      <a:pt x="1887" y="2627"/>
                      <a:pt x="1924" y="2633"/>
                      <a:pt x="1961" y="2647"/>
                    </a:cubicBezTo>
                    <a:lnTo>
                      <a:pt x="2884" y="3064"/>
                    </a:lnTo>
                    <a:lnTo>
                      <a:pt x="2986" y="2895"/>
                    </a:lnTo>
                    <a:cubicBezTo>
                      <a:pt x="3008" y="2906"/>
                      <a:pt x="3031" y="2929"/>
                      <a:pt x="3031" y="2929"/>
                    </a:cubicBezTo>
                    <a:cubicBezTo>
                      <a:pt x="3008" y="2884"/>
                      <a:pt x="2986" y="2703"/>
                      <a:pt x="2986" y="2647"/>
                    </a:cubicBezTo>
                    <a:cubicBezTo>
                      <a:pt x="2974" y="2602"/>
                      <a:pt x="2974" y="2568"/>
                      <a:pt x="2974" y="2557"/>
                    </a:cubicBezTo>
                    <a:cubicBezTo>
                      <a:pt x="2974" y="2534"/>
                      <a:pt x="2941" y="2478"/>
                      <a:pt x="2929" y="2399"/>
                    </a:cubicBezTo>
                    <a:cubicBezTo>
                      <a:pt x="2896" y="2275"/>
                      <a:pt x="2817" y="2039"/>
                      <a:pt x="2862" y="1971"/>
                    </a:cubicBezTo>
                    <a:cubicBezTo>
                      <a:pt x="2873" y="1971"/>
                      <a:pt x="2884" y="1949"/>
                      <a:pt x="2896" y="1938"/>
                    </a:cubicBezTo>
                    <a:lnTo>
                      <a:pt x="3065" y="1814"/>
                    </a:lnTo>
                    <a:cubicBezTo>
                      <a:pt x="3166" y="1746"/>
                      <a:pt x="3256" y="1667"/>
                      <a:pt x="3335" y="1600"/>
                    </a:cubicBezTo>
                    <a:cubicBezTo>
                      <a:pt x="3369" y="1588"/>
                      <a:pt x="3380" y="1555"/>
                      <a:pt x="3402" y="1543"/>
                    </a:cubicBezTo>
                    <a:cubicBezTo>
                      <a:pt x="3515" y="1442"/>
                      <a:pt x="3661" y="1352"/>
                      <a:pt x="3707" y="1217"/>
                    </a:cubicBezTo>
                    <a:lnTo>
                      <a:pt x="3729" y="1138"/>
                    </a:lnTo>
                    <a:lnTo>
                      <a:pt x="3628" y="1104"/>
                    </a:lnTo>
                    <a:cubicBezTo>
                      <a:pt x="3436" y="1036"/>
                      <a:pt x="3222" y="1025"/>
                      <a:pt x="3031" y="1025"/>
                    </a:cubicBezTo>
                    <a:cubicBezTo>
                      <a:pt x="2839" y="1003"/>
                      <a:pt x="2659" y="1003"/>
                      <a:pt x="2501" y="946"/>
                    </a:cubicBezTo>
                    <a:cubicBezTo>
                      <a:pt x="2411" y="924"/>
                      <a:pt x="2321" y="721"/>
                      <a:pt x="2265" y="597"/>
                    </a:cubicBezTo>
                    <a:cubicBezTo>
                      <a:pt x="2254" y="563"/>
                      <a:pt x="2220" y="507"/>
                      <a:pt x="2209" y="473"/>
                    </a:cubicBezTo>
                    <a:cubicBezTo>
                      <a:pt x="1972" y="23"/>
                      <a:pt x="1916" y="11"/>
                      <a:pt x="1871" y="11"/>
                    </a:cubicBezTo>
                    <a:lnTo>
                      <a:pt x="1814" y="0"/>
                    </a:lnTo>
                    <a:close/>
                  </a:path>
                </a:pathLst>
              </a:custGeom>
              <a:solidFill>
                <a:srgbClr val="000000"/>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p>
            </p:txBody>
          </p:sp>
        </p:grpSp>
      </p:grpSp>
      <p:grpSp>
        <p:nvGrpSpPr>
          <p:cNvPr id="38" name="Google Shape;606;p38">
            <a:extLst>
              <a:ext uri="{FF2B5EF4-FFF2-40B4-BE49-F238E27FC236}">
                <a16:creationId xmlns:a16="http://schemas.microsoft.com/office/drawing/2014/main" xmlns="" id="{B4CC50A9-B14D-6488-1CCC-D9127C7227DC}"/>
              </a:ext>
            </a:extLst>
          </p:cNvPr>
          <p:cNvGrpSpPr/>
          <p:nvPr/>
        </p:nvGrpSpPr>
        <p:grpSpPr>
          <a:xfrm>
            <a:off x="1875525" y="4344858"/>
            <a:ext cx="2724300" cy="229028"/>
            <a:chOff x="1875525" y="4344858"/>
            <a:chExt cx="2724300" cy="229028"/>
          </a:xfrm>
        </p:grpSpPr>
        <p:cxnSp>
          <p:nvCxnSpPr>
            <p:cNvPr id="39" name="Google Shape;607;p38">
              <a:extLst>
                <a:ext uri="{FF2B5EF4-FFF2-40B4-BE49-F238E27FC236}">
                  <a16:creationId xmlns:a16="http://schemas.microsoft.com/office/drawing/2014/main" xmlns="" id="{BF5A4578-86F4-BD36-0D28-33487F51CB0E}"/>
                </a:ext>
              </a:extLst>
            </p:cNvPr>
            <p:cNvCxnSpPr/>
            <p:nvPr/>
          </p:nvCxnSpPr>
          <p:spPr>
            <a:xfrm>
              <a:off x="1875525" y="4450675"/>
              <a:ext cx="2724300" cy="0"/>
            </a:xfrm>
            <a:prstGeom prst="straightConnector1">
              <a:avLst/>
            </a:prstGeom>
            <a:noFill/>
            <a:ln w="19050" cap="flat" cmpd="sng">
              <a:solidFill>
                <a:schemeClr val="dk1"/>
              </a:solidFill>
              <a:prstDash val="solid"/>
              <a:round/>
              <a:headEnd type="none" w="med" len="med"/>
              <a:tailEnd type="none" w="med" len="med"/>
            </a:ln>
          </p:spPr>
        </p:cxnSp>
        <p:grpSp>
          <p:nvGrpSpPr>
            <p:cNvPr id="40" name="Google Shape;608;p38">
              <a:extLst>
                <a:ext uri="{FF2B5EF4-FFF2-40B4-BE49-F238E27FC236}">
                  <a16:creationId xmlns:a16="http://schemas.microsoft.com/office/drawing/2014/main" xmlns="" id="{8C66F83B-0ECA-3E41-E198-CB3F5C79EC9B}"/>
                </a:ext>
              </a:extLst>
            </p:cNvPr>
            <p:cNvGrpSpPr/>
            <p:nvPr/>
          </p:nvGrpSpPr>
          <p:grpSpPr>
            <a:xfrm rot="1818974">
              <a:off x="4147901" y="4344858"/>
              <a:ext cx="242243" cy="229028"/>
              <a:chOff x="6498074" y="2740095"/>
              <a:chExt cx="242229" cy="229015"/>
            </a:xfrm>
          </p:grpSpPr>
          <p:sp>
            <p:nvSpPr>
              <p:cNvPr id="41" name="Google Shape;609;p38">
                <a:extLst>
                  <a:ext uri="{FF2B5EF4-FFF2-40B4-BE49-F238E27FC236}">
                    <a16:creationId xmlns:a16="http://schemas.microsoft.com/office/drawing/2014/main" xmlns="" id="{FBF771A0-6311-A2A9-93B0-F2A6C53B313F}"/>
                  </a:ext>
                </a:extLst>
              </p:cNvPr>
              <p:cNvSpPr/>
              <p:nvPr/>
            </p:nvSpPr>
            <p:spPr>
              <a:xfrm>
                <a:off x="6509770" y="2755788"/>
                <a:ext cx="213978" cy="213322"/>
              </a:xfrm>
              <a:custGeom>
                <a:avLst/>
                <a:gdLst/>
                <a:ahLst/>
                <a:cxnLst/>
                <a:rect l="l" t="t" r="r" b="b"/>
                <a:pathLst>
                  <a:path w="3875" h="3627" extrusionOk="0">
                    <a:moveTo>
                      <a:pt x="1324" y="0"/>
                    </a:moveTo>
                    <a:cubicBezTo>
                      <a:pt x="1059" y="0"/>
                      <a:pt x="1056" y="946"/>
                      <a:pt x="969" y="1186"/>
                    </a:cubicBezTo>
                    <a:cubicBezTo>
                      <a:pt x="890" y="1434"/>
                      <a:pt x="0" y="1997"/>
                      <a:pt x="23" y="2155"/>
                    </a:cubicBezTo>
                    <a:cubicBezTo>
                      <a:pt x="62" y="2420"/>
                      <a:pt x="947" y="2437"/>
                      <a:pt x="1175" y="2437"/>
                    </a:cubicBezTo>
                    <a:cubicBezTo>
                      <a:pt x="1209" y="2437"/>
                      <a:pt x="1228" y="2436"/>
                      <a:pt x="1228" y="2436"/>
                    </a:cubicBezTo>
                    <a:cubicBezTo>
                      <a:pt x="1228" y="2436"/>
                      <a:pt x="1284" y="3428"/>
                      <a:pt x="1431" y="3608"/>
                    </a:cubicBezTo>
                    <a:cubicBezTo>
                      <a:pt x="1442" y="3620"/>
                      <a:pt x="1455" y="3626"/>
                      <a:pt x="1471" y="3626"/>
                    </a:cubicBezTo>
                    <a:cubicBezTo>
                      <a:pt x="1685" y="3626"/>
                      <a:pt x="2309" y="2583"/>
                      <a:pt x="2309" y="2583"/>
                    </a:cubicBezTo>
                    <a:cubicBezTo>
                      <a:pt x="2309" y="2583"/>
                      <a:pt x="2852" y="2810"/>
                      <a:pt x="3273" y="2810"/>
                    </a:cubicBezTo>
                    <a:cubicBezTo>
                      <a:pt x="3330" y="2810"/>
                      <a:pt x="3385" y="2806"/>
                      <a:pt x="3436" y="2797"/>
                    </a:cubicBezTo>
                    <a:cubicBezTo>
                      <a:pt x="3875" y="2718"/>
                      <a:pt x="3143" y="1749"/>
                      <a:pt x="3008" y="1524"/>
                    </a:cubicBezTo>
                    <a:cubicBezTo>
                      <a:pt x="2895" y="1299"/>
                      <a:pt x="3447" y="905"/>
                      <a:pt x="3391" y="679"/>
                    </a:cubicBezTo>
                    <a:cubicBezTo>
                      <a:pt x="3376" y="622"/>
                      <a:pt x="3324" y="601"/>
                      <a:pt x="3247" y="601"/>
                    </a:cubicBezTo>
                    <a:cubicBezTo>
                      <a:pt x="3019" y="601"/>
                      <a:pt x="2582" y="792"/>
                      <a:pt x="2321" y="826"/>
                    </a:cubicBezTo>
                    <a:cubicBezTo>
                      <a:pt x="2313" y="826"/>
                      <a:pt x="2306" y="827"/>
                      <a:pt x="2299" y="827"/>
                    </a:cubicBezTo>
                    <a:cubicBezTo>
                      <a:pt x="1958" y="827"/>
                      <a:pt x="1639" y="70"/>
                      <a:pt x="1352" y="3"/>
                    </a:cubicBezTo>
                    <a:cubicBezTo>
                      <a:pt x="1342" y="1"/>
                      <a:pt x="1333" y="0"/>
                      <a:pt x="1324" y="0"/>
                    </a:cubicBezTo>
                    <a:close/>
                  </a:path>
                </a:pathLst>
              </a:custGeom>
              <a:solidFill>
                <a:schemeClr val="lt2"/>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42" name="Google Shape;610;p38">
                <a:extLst>
                  <a:ext uri="{FF2B5EF4-FFF2-40B4-BE49-F238E27FC236}">
                    <a16:creationId xmlns:a16="http://schemas.microsoft.com/office/drawing/2014/main" xmlns="" id="{4E33A3DC-8A37-E22E-154D-5599BAE362E4}"/>
                  </a:ext>
                </a:extLst>
              </p:cNvPr>
              <p:cNvSpPr/>
              <p:nvPr/>
            </p:nvSpPr>
            <p:spPr>
              <a:xfrm rot="20350776">
                <a:off x="6498074" y="2740095"/>
                <a:ext cx="242229" cy="218451"/>
              </a:xfrm>
              <a:custGeom>
                <a:avLst/>
                <a:gdLst/>
                <a:ahLst/>
                <a:cxnLst/>
                <a:rect l="l" t="t" r="r" b="b"/>
                <a:pathLst>
                  <a:path w="3730" h="3064" extrusionOk="0">
                    <a:moveTo>
                      <a:pt x="1848" y="293"/>
                    </a:moveTo>
                    <a:cubicBezTo>
                      <a:pt x="1904" y="394"/>
                      <a:pt x="1983" y="530"/>
                      <a:pt x="1995" y="563"/>
                    </a:cubicBezTo>
                    <a:cubicBezTo>
                      <a:pt x="2017" y="586"/>
                      <a:pt x="2040" y="631"/>
                      <a:pt x="2051" y="676"/>
                    </a:cubicBezTo>
                    <a:cubicBezTo>
                      <a:pt x="2130" y="856"/>
                      <a:pt x="2242" y="1082"/>
                      <a:pt x="2423" y="1138"/>
                    </a:cubicBezTo>
                    <a:cubicBezTo>
                      <a:pt x="2614" y="1205"/>
                      <a:pt x="2817" y="1217"/>
                      <a:pt x="3008" y="1217"/>
                    </a:cubicBezTo>
                    <a:cubicBezTo>
                      <a:pt x="3155" y="1217"/>
                      <a:pt x="3279" y="1217"/>
                      <a:pt x="3402" y="1250"/>
                    </a:cubicBezTo>
                    <a:cubicBezTo>
                      <a:pt x="3369" y="1296"/>
                      <a:pt x="3290" y="1352"/>
                      <a:pt x="3233" y="1386"/>
                    </a:cubicBezTo>
                    <a:cubicBezTo>
                      <a:pt x="3211" y="1408"/>
                      <a:pt x="3200" y="1431"/>
                      <a:pt x="3166" y="1442"/>
                    </a:cubicBezTo>
                    <a:cubicBezTo>
                      <a:pt x="3087" y="1521"/>
                      <a:pt x="2997" y="1577"/>
                      <a:pt x="2918" y="1645"/>
                    </a:cubicBezTo>
                    <a:lnTo>
                      <a:pt x="2749" y="1769"/>
                    </a:lnTo>
                    <a:cubicBezTo>
                      <a:pt x="2715" y="1780"/>
                      <a:pt x="2693" y="1814"/>
                      <a:pt x="2659" y="1859"/>
                    </a:cubicBezTo>
                    <a:cubicBezTo>
                      <a:pt x="2591" y="1971"/>
                      <a:pt x="2648" y="2163"/>
                      <a:pt x="2715" y="2422"/>
                    </a:cubicBezTo>
                    <a:cubicBezTo>
                      <a:pt x="2727" y="2478"/>
                      <a:pt x="2749" y="2512"/>
                      <a:pt x="2760" y="2557"/>
                    </a:cubicBezTo>
                    <a:cubicBezTo>
                      <a:pt x="2772" y="2568"/>
                      <a:pt x="2772" y="2602"/>
                      <a:pt x="2772" y="2625"/>
                    </a:cubicBezTo>
                    <a:cubicBezTo>
                      <a:pt x="2772" y="2670"/>
                      <a:pt x="2783" y="2715"/>
                      <a:pt x="2783" y="2760"/>
                    </a:cubicBezTo>
                    <a:lnTo>
                      <a:pt x="2085" y="2433"/>
                    </a:lnTo>
                    <a:cubicBezTo>
                      <a:pt x="2012" y="2402"/>
                      <a:pt x="1941" y="2389"/>
                      <a:pt x="1871" y="2389"/>
                    </a:cubicBezTo>
                    <a:cubicBezTo>
                      <a:pt x="1690" y="2389"/>
                      <a:pt x="1518" y="2476"/>
                      <a:pt x="1364" y="2557"/>
                    </a:cubicBezTo>
                    <a:cubicBezTo>
                      <a:pt x="1319" y="2591"/>
                      <a:pt x="1274" y="2613"/>
                      <a:pt x="1240" y="2625"/>
                    </a:cubicBezTo>
                    <a:cubicBezTo>
                      <a:pt x="1195" y="2647"/>
                      <a:pt x="1139" y="2670"/>
                      <a:pt x="1082" y="2703"/>
                    </a:cubicBezTo>
                    <a:cubicBezTo>
                      <a:pt x="1015" y="2726"/>
                      <a:pt x="958" y="2760"/>
                      <a:pt x="902" y="2782"/>
                    </a:cubicBezTo>
                    <a:cubicBezTo>
                      <a:pt x="913" y="2715"/>
                      <a:pt x="925" y="2625"/>
                      <a:pt x="958" y="2546"/>
                    </a:cubicBezTo>
                    <a:cubicBezTo>
                      <a:pt x="970" y="2489"/>
                      <a:pt x="981" y="2422"/>
                      <a:pt x="1003" y="2366"/>
                    </a:cubicBezTo>
                    <a:cubicBezTo>
                      <a:pt x="1015" y="2309"/>
                      <a:pt x="1026" y="2264"/>
                      <a:pt x="1037" y="2219"/>
                    </a:cubicBezTo>
                    <a:cubicBezTo>
                      <a:pt x="1060" y="2163"/>
                      <a:pt x="1071" y="2118"/>
                      <a:pt x="1082" y="2061"/>
                    </a:cubicBezTo>
                    <a:cubicBezTo>
                      <a:pt x="1127" y="1836"/>
                      <a:pt x="902" y="1690"/>
                      <a:pt x="733" y="1555"/>
                    </a:cubicBezTo>
                    <a:cubicBezTo>
                      <a:pt x="688" y="1532"/>
                      <a:pt x="643" y="1498"/>
                      <a:pt x="620" y="1476"/>
                    </a:cubicBezTo>
                    <a:lnTo>
                      <a:pt x="350" y="1250"/>
                    </a:lnTo>
                    <a:cubicBezTo>
                      <a:pt x="406" y="1250"/>
                      <a:pt x="463" y="1228"/>
                      <a:pt x="508" y="1217"/>
                    </a:cubicBezTo>
                    <a:cubicBezTo>
                      <a:pt x="553" y="1217"/>
                      <a:pt x="575" y="1205"/>
                      <a:pt x="587" y="1205"/>
                    </a:cubicBezTo>
                    <a:cubicBezTo>
                      <a:pt x="632" y="1194"/>
                      <a:pt x="699" y="1194"/>
                      <a:pt x="778" y="1194"/>
                    </a:cubicBezTo>
                    <a:cubicBezTo>
                      <a:pt x="1060" y="1183"/>
                      <a:pt x="1262" y="1160"/>
                      <a:pt x="1375" y="1082"/>
                    </a:cubicBezTo>
                    <a:cubicBezTo>
                      <a:pt x="1476" y="991"/>
                      <a:pt x="1533" y="868"/>
                      <a:pt x="1589" y="755"/>
                    </a:cubicBezTo>
                    <a:cubicBezTo>
                      <a:pt x="1600" y="710"/>
                      <a:pt x="1634" y="676"/>
                      <a:pt x="1645" y="642"/>
                    </a:cubicBezTo>
                    <a:cubicBezTo>
                      <a:pt x="1679" y="597"/>
                      <a:pt x="1702" y="541"/>
                      <a:pt x="1735" y="485"/>
                    </a:cubicBezTo>
                    <a:cubicBezTo>
                      <a:pt x="1769" y="417"/>
                      <a:pt x="1803" y="349"/>
                      <a:pt x="1848" y="293"/>
                    </a:cubicBezTo>
                    <a:close/>
                    <a:moveTo>
                      <a:pt x="1814" y="0"/>
                    </a:moveTo>
                    <a:lnTo>
                      <a:pt x="1769" y="34"/>
                    </a:lnTo>
                    <a:cubicBezTo>
                      <a:pt x="1657" y="135"/>
                      <a:pt x="1589" y="293"/>
                      <a:pt x="1533" y="417"/>
                    </a:cubicBezTo>
                    <a:cubicBezTo>
                      <a:pt x="1499" y="462"/>
                      <a:pt x="1488" y="518"/>
                      <a:pt x="1465" y="563"/>
                    </a:cubicBezTo>
                    <a:cubicBezTo>
                      <a:pt x="1431" y="586"/>
                      <a:pt x="1420" y="642"/>
                      <a:pt x="1386" y="687"/>
                    </a:cubicBezTo>
                    <a:cubicBezTo>
                      <a:pt x="1353" y="777"/>
                      <a:pt x="1296" y="901"/>
                      <a:pt x="1240" y="935"/>
                    </a:cubicBezTo>
                    <a:cubicBezTo>
                      <a:pt x="1184" y="991"/>
                      <a:pt x="913" y="991"/>
                      <a:pt x="778" y="1003"/>
                    </a:cubicBezTo>
                    <a:cubicBezTo>
                      <a:pt x="699" y="1003"/>
                      <a:pt x="632" y="1025"/>
                      <a:pt x="575" y="1025"/>
                    </a:cubicBezTo>
                    <a:cubicBezTo>
                      <a:pt x="542" y="1025"/>
                      <a:pt x="519" y="1025"/>
                      <a:pt x="463" y="1036"/>
                    </a:cubicBezTo>
                    <a:cubicBezTo>
                      <a:pt x="384" y="1048"/>
                      <a:pt x="170" y="1093"/>
                      <a:pt x="114" y="1093"/>
                    </a:cubicBezTo>
                    <a:cubicBezTo>
                      <a:pt x="114" y="1093"/>
                      <a:pt x="136" y="1093"/>
                      <a:pt x="147" y="1104"/>
                    </a:cubicBezTo>
                    <a:lnTo>
                      <a:pt x="1" y="1250"/>
                    </a:lnTo>
                    <a:lnTo>
                      <a:pt x="451" y="1611"/>
                    </a:lnTo>
                    <a:cubicBezTo>
                      <a:pt x="497" y="1656"/>
                      <a:pt x="530" y="1690"/>
                      <a:pt x="575" y="1712"/>
                    </a:cubicBezTo>
                    <a:cubicBezTo>
                      <a:pt x="722" y="1814"/>
                      <a:pt x="891" y="1926"/>
                      <a:pt x="857" y="2039"/>
                    </a:cubicBezTo>
                    <a:cubicBezTo>
                      <a:pt x="846" y="2073"/>
                      <a:pt x="834" y="2140"/>
                      <a:pt x="812" y="2174"/>
                    </a:cubicBezTo>
                    <a:cubicBezTo>
                      <a:pt x="801" y="2230"/>
                      <a:pt x="789" y="2275"/>
                      <a:pt x="778" y="2332"/>
                    </a:cubicBezTo>
                    <a:lnTo>
                      <a:pt x="733" y="2501"/>
                    </a:lnTo>
                    <a:cubicBezTo>
                      <a:pt x="688" y="2647"/>
                      <a:pt x="643" y="2782"/>
                      <a:pt x="665" y="2940"/>
                    </a:cubicBezTo>
                    <a:lnTo>
                      <a:pt x="677" y="3053"/>
                    </a:lnTo>
                    <a:lnTo>
                      <a:pt x="801" y="3053"/>
                    </a:lnTo>
                    <a:cubicBezTo>
                      <a:pt x="925" y="3019"/>
                      <a:pt x="1060" y="2951"/>
                      <a:pt x="1184" y="2895"/>
                    </a:cubicBezTo>
                    <a:cubicBezTo>
                      <a:pt x="1229" y="2872"/>
                      <a:pt x="1285" y="2850"/>
                      <a:pt x="1319" y="2827"/>
                    </a:cubicBezTo>
                    <a:cubicBezTo>
                      <a:pt x="1364" y="2816"/>
                      <a:pt x="1420" y="2782"/>
                      <a:pt x="1465" y="2760"/>
                    </a:cubicBezTo>
                    <a:cubicBezTo>
                      <a:pt x="1609" y="2684"/>
                      <a:pt x="1733" y="2627"/>
                      <a:pt x="1848" y="2627"/>
                    </a:cubicBezTo>
                    <a:cubicBezTo>
                      <a:pt x="1887" y="2627"/>
                      <a:pt x="1924" y="2633"/>
                      <a:pt x="1961" y="2647"/>
                    </a:cubicBezTo>
                    <a:lnTo>
                      <a:pt x="2884" y="3064"/>
                    </a:lnTo>
                    <a:lnTo>
                      <a:pt x="2986" y="2895"/>
                    </a:lnTo>
                    <a:cubicBezTo>
                      <a:pt x="3008" y="2906"/>
                      <a:pt x="3031" y="2929"/>
                      <a:pt x="3031" y="2929"/>
                    </a:cubicBezTo>
                    <a:cubicBezTo>
                      <a:pt x="3008" y="2884"/>
                      <a:pt x="2986" y="2703"/>
                      <a:pt x="2986" y="2647"/>
                    </a:cubicBezTo>
                    <a:cubicBezTo>
                      <a:pt x="2974" y="2602"/>
                      <a:pt x="2974" y="2568"/>
                      <a:pt x="2974" y="2557"/>
                    </a:cubicBezTo>
                    <a:cubicBezTo>
                      <a:pt x="2974" y="2534"/>
                      <a:pt x="2941" y="2478"/>
                      <a:pt x="2929" y="2399"/>
                    </a:cubicBezTo>
                    <a:cubicBezTo>
                      <a:pt x="2896" y="2275"/>
                      <a:pt x="2817" y="2039"/>
                      <a:pt x="2862" y="1971"/>
                    </a:cubicBezTo>
                    <a:cubicBezTo>
                      <a:pt x="2873" y="1971"/>
                      <a:pt x="2884" y="1949"/>
                      <a:pt x="2896" y="1938"/>
                    </a:cubicBezTo>
                    <a:lnTo>
                      <a:pt x="3065" y="1814"/>
                    </a:lnTo>
                    <a:cubicBezTo>
                      <a:pt x="3166" y="1746"/>
                      <a:pt x="3256" y="1667"/>
                      <a:pt x="3335" y="1600"/>
                    </a:cubicBezTo>
                    <a:cubicBezTo>
                      <a:pt x="3369" y="1588"/>
                      <a:pt x="3380" y="1555"/>
                      <a:pt x="3402" y="1543"/>
                    </a:cubicBezTo>
                    <a:cubicBezTo>
                      <a:pt x="3515" y="1442"/>
                      <a:pt x="3661" y="1352"/>
                      <a:pt x="3707" y="1217"/>
                    </a:cubicBezTo>
                    <a:lnTo>
                      <a:pt x="3729" y="1138"/>
                    </a:lnTo>
                    <a:lnTo>
                      <a:pt x="3628" y="1104"/>
                    </a:lnTo>
                    <a:cubicBezTo>
                      <a:pt x="3436" y="1036"/>
                      <a:pt x="3222" y="1025"/>
                      <a:pt x="3031" y="1025"/>
                    </a:cubicBezTo>
                    <a:cubicBezTo>
                      <a:pt x="2839" y="1003"/>
                      <a:pt x="2659" y="1003"/>
                      <a:pt x="2501" y="946"/>
                    </a:cubicBezTo>
                    <a:cubicBezTo>
                      <a:pt x="2411" y="924"/>
                      <a:pt x="2321" y="721"/>
                      <a:pt x="2265" y="597"/>
                    </a:cubicBezTo>
                    <a:cubicBezTo>
                      <a:pt x="2254" y="563"/>
                      <a:pt x="2220" y="507"/>
                      <a:pt x="2209" y="473"/>
                    </a:cubicBezTo>
                    <a:cubicBezTo>
                      <a:pt x="1972" y="23"/>
                      <a:pt x="1916" y="11"/>
                      <a:pt x="1871" y="11"/>
                    </a:cubicBezTo>
                    <a:lnTo>
                      <a:pt x="1814" y="0"/>
                    </a:lnTo>
                    <a:close/>
                  </a:path>
                </a:pathLst>
              </a:custGeom>
              <a:solidFill>
                <a:srgbClr val="000000"/>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p>
            </p:txBody>
          </p:sp>
        </p:grpSp>
      </p:grpSp>
      <p:sp>
        <p:nvSpPr>
          <p:cNvPr id="43" name="Google Shape;611;p38">
            <a:extLst>
              <a:ext uri="{FF2B5EF4-FFF2-40B4-BE49-F238E27FC236}">
                <a16:creationId xmlns:a16="http://schemas.microsoft.com/office/drawing/2014/main" xmlns="" id="{70686238-28BB-30C6-1431-F70C9ED37240}"/>
              </a:ext>
            </a:extLst>
          </p:cNvPr>
          <p:cNvSpPr txBox="1"/>
          <p:nvPr/>
        </p:nvSpPr>
        <p:spPr>
          <a:xfrm>
            <a:off x="617045" y="3660946"/>
            <a:ext cx="113456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Lower</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45" name="Google Shape;613;p38">
            <a:extLst>
              <a:ext uri="{FF2B5EF4-FFF2-40B4-BE49-F238E27FC236}">
                <a16:creationId xmlns:a16="http://schemas.microsoft.com/office/drawing/2014/main" xmlns="" id="{599A13CD-B0CA-D200-1AC3-3337A17D3EBB}"/>
              </a:ext>
            </a:extLst>
          </p:cNvPr>
          <p:cNvSpPr txBox="1"/>
          <p:nvPr/>
        </p:nvSpPr>
        <p:spPr>
          <a:xfrm>
            <a:off x="617045" y="4318821"/>
            <a:ext cx="1134560" cy="26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Extra Condensed SemiBold"/>
                <a:ea typeface="Fira Sans Extra Condensed SemiBold"/>
                <a:cs typeface="Fira Sans Extra Condensed SemiBold"/>
                <a:sym typeface="Fira Sans Extra Condensed SemiBold"/>
              </a:rPr>
              <a:t>Upper</a:t>
            </a:r>
            <a:endParaRPr sz="2500" dirty="0">
              <a:solidFill>
                <a:schemeClr val="dk1"/>
              </a:solidFill>
              <a:latin typeface="Fira Sans Extra Condensed SemiBold"/>
              <a:ea typeface="Fira Sans Extra Condensed SemiBold"/>
              <a:cs typeface="Fira Sans Extra Condensed SemiBold"/>
              <a:sym typeface="Fira Sans Extra Condensed SemiBold"/>
            </a:endParaRPr>
          </a:p>
        </p:txBody>
      </p:sp>
      <p:pic>
        <p:nvPicPr>
          <p:cNvPr id="47" name="Picture 46" descr="A picture containing colorfulness, screenshot, graphics, art&#10;&#10;Description automatically generated">
            <a:extLst>
              <a:ext uri="{FF2B5EF4-FFF2-40B4-BE49-F238E27FC236}">
                <a16:creationId xmlns:a16="http://schemas.microsoft.com/office/drawing/2014/main" xmlns="" id="{18A3EB28-C1A8-3E28-7122-48A16BC9A554}"/>
              </a:ext>
            </a:extLst>
          </p:cNvPr>
          <p:cNvPicPr>
            <a:picLocks noChangeAspect="1"/>
          </p:cNvPicPr>
          <p:nvPr/>
        </p:nvPicPr>
        <p:blipFill>
          <a:blip r:embed="rId4"/>
          <a:stretch>
            <a:fillRect/>
          </a:stretch>
        </p:blipFill>
        <p:spPr>
          <a:xfrm>
            <a:off x="6880434" y="697825"/>
            <a:ext cx="1178067" cy="1178067"/>
          </a:xfrm>
          <a:prstGeom prst="rect">
            <a:avLst/>
          </a:prstGeom>
        </p:spPr>
      </p:pic>
    </p:spTree>
    <p:extLst>
      <p:ext uri="{BB962C8B-B14F-4D97-AF65-F5344CB8AC3E}">
        <p14:creationId xmlns:p14="http://schemas.microsoft.com/office/powerpoint/2010/main" val="27074901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B4193C-214A-22F2-244F-07F69EA4C67A}"/>
              </a:ext>
            </a:extLst>
          </p:cNvPr>
          <p:cNvSpPr>
            <a:spLocks noGrp="1"/>
          </p:cNvSpPr>
          <p:nvPr>
            <p:ph type="title"/>
          </p:nvPr>
        </p:nvSpPr>
        <p:spPr>
          <a:xfrm>
            <a:off x="457200" y="0"/>
            <a:ext cx="8229600" cy="572700"/>
          </a:xfrm>
        </p:spPr>
        <p:txBody>
          <a:bodyPr/>
          <a:lstStyle/>
          <a:p>
            <a:r>
              <a:rPr lang="en-US" b="1" dirty="0">
                <a:solidFill>
                  <a:schemeClr val="tx1">
                    <a:lumMod val="95000"/>
                    <a:lumOff val="5000"/>
                  </a:schemeClr>
                </a:solidFill>
                <a:effectLst/>
                <a:latin typeface="Fira Sans Extra Condensed SemiBold" panose="020B0604020202020204" charset="0"/>
                <a:ea typeface="Calibri" panose="020F0502020204030204" pitchFamily="34" charset="0"/>
              </a:rPr>
              <a:t>Hypothesis testing</a:t>
            </a:r>
            <a:endParaRPr lang="en-US" dirty="0">
              <a:solidFill>
                <a:schemeClr val="tx1">
                  <a:lumMod val="95000"/>
                  <a:lumOff val="5000"/>
                </a:schemeClr>
              </a:solidFill>
              <a:latin typeface="Fira Sans Extra Condensed SemiBold" panose="020B0604020202020204" charset="0"/>
            </a:endParaRPr>
          </a:p>
        </p:txBody>
      </p:sp>
      <p:sp>
        <p:nvSpPr>
          <p:cNvPr id="3" name="Text Placeholder 2">
            <a:extLst>
              <a:ext uri="{FF2B5EF4-FFF2-40B4-BE49-F238E27FC236}">
                <a16:creationId xmlns:a16="http://schemas.microsoft.com/office/drawing/2014/main" xmlns="" id="{470EB626-6DB6-114A-AB6D-267D90E66BD2}"/>
              </a:ext>
            </a:extLst>
          </p:cNvPr>
          <p:cNvSpPr>
            <a:spLocks noGrp="1"/>
          </p:cNvSpPr>
          <p:nvPr>
            <p:ph type="body" idx="1"/>
          </p:nvPr>
        </p:nvSpPr>
        <p:spPr>
          <a:xfrm>
            <a:off x="0" y="576237"/>
            <a:ext cx="9212580" cy="467703"/>
          </a:xfrm>
        </p:spPr>
        <p:txBody>
          <a:bodyPr/>
          <a:lstStyle/>
          <a:p>
            <a:pPr marL="152400" indent="0">
              <a:buNone/>
            </a:pPr>
            <a:r>
              <a:rPr lang="en-US" sz="1600" b="1" dirty="0">
                <a:solidFill>
                  <a:schemeClr val="accent1">
                    <a:lumMod val="75000"/>
                  </a:schemeClr>
                </a:solidFill>
                <a:effectLst/>
                <a:latin typeface="Fira Sans Extra Condensed SemiBold" panose="020B0604020202020204" charset="0"/>
                <a:ea typeface="Calibri" panose="020F0502020204030204" pitchFamily="34" charset="0"/>
              </a:rPr>
              <a:t>1-We hypothesis that ADWG0021is different between male vs female. Assuming normality and homoscedasticity</a:t>
            </a:r>
            <a:endParaRPr lang="x-none" sz="1600" b="1" dirty="0">
              <a:solidFill>
                <a:schemeClr val="accent1">
                  <a:lumMod val="75000"/>
                </a:schemeClr>
              </a:solidFill>
              <a:effectLst/>
              <a:latin typeface="Fira Sans Extra Condensed SemiBold" panose="020B0604020202020204" charset="0"/>
              <a:ea typeface="Calibri" panose="020F0502020204030204" pitchFamily="34" charset="0"/>
            </a:endParaRPr>
          </a:p>
        </p:txBody>
      </p:sp>
      <p:sp>
        <p:nvSpPr>
          <p:cNvPr id="4" name="TextBox 3">
            <a:extLst>
              <a:ext uri="{FF2B5EF4-FFF2-40B4-BE49-F238E27FC236}">
                <a16:creationId xmlns:a16="http://schemas.microsoft.com/office/drawing/2014/main" xmlns="" id="{408929B2-7824-2648-BC8F-AF4A09AC7CA9}"/>
              </a:ext>
            </a:extLst>
          </p:cNvPr>
          <p:cNvSpPr txBox="1"/>
          <p:nvPr/>
        </p:nvSpPr>
        <p:spPr>
          <a:xfrm>
            <a:off x="365760" y="1173480"/>
            <a:ext cx="8629557" cy="2677656"/>
          </a:xfrm>
          <a:prstGeom prst="rect">
            <a:avLst/>
          </a:prstGeom>
          <a:noFill/>
        </p:spPr>
        <p:txBody>
          <a:bodyPr wrap="square" rtlCol="0">
            <a:spAutoFit/>
          </a:bodyPr>
          <a:lstStyle/>
          <a:p>
            <a:r>
              <a:rPr lang="en-US" b="1" dirty="0"/>
              <a:t>Null Hypothesis : </a:t>
            </a:r>
            <a:r>
              <a:rPr lang="en-US" dirty="0"/>
              <a:t>There is no difference in ADWG0021 between males and females.</a:t>
            </a:r>
          </a:p>
          <a:p>
            <a:r>
              <a:rPr lang="en-US" b="1" dirty="0"/>
              <a:t>Alternative Hypothesis: </a:t>
            </a:r>
            <a:r>
              <a:rPr lang="en-US" dirty="0"/>
              <a:t>There is a difference in ADWG0021 between males and females.</a:t>
            </a:r>
          </a:p>
          <a:p>
            <a:pPr marL="285750" indent="-285750">
              <a:buFont typeface="Arial" panose="020B0604020202020204" pitchFamily="34" charset="0"/>
              <a:buChar char="•"/>
            </a:pPr>
            <a:r>
              <a:rPr lang="en-US" dirty="0"/>
              <a:t> we used </a:t>
            </a:r>
            <a:r>
              <a:rPr lang="en-US" b="1" dirty="0"/>
              <a:t>Two-sample independent t-test </a:t>
            </a:r>
            <a:r>
              <a:rPr lang="en-US" dirty="0"/>
              <a:t>which compares the means of two independent groups (males and females).</a:t>
            </a:r>
          </a:p>
          <a:p>
            <a:r>
              <a:rPr lang="x-none" sz="1400" b="1" dirty="0"/>
              <a:t>Results</a:t>
            </a:r>
            <a:endParaRPr lang="en-US" sz="1400" b="1" dirty="0"/>
          </a:p>
          <a:p>
            <a:r>
              <a:rPr lang="en-US" dirty="0"/>
              <a:t>T</a:t>
            </a:r>
            <a:r>
              <a:rPr lang="en-US" sz="1400" dirty="0"/>
              <a:t>he p-value = 0.7557 which is greater than the alpha of value 0.05, which means that we don't have enough evidence to reject the null hypothesis that There is no difference in ADWG0021 between males and females.</a:t>
            </a:r>
          </a:p>
          <a:p>
            <a:endParaRPr lang="en-US" sz="1400" b="1" dirty="0"/>
          </a:p>
          <a:p>
            <a:endParaRPr lang="en-US" b="1" dirty="0"/>
          </a:p>
          <a:p>
            <a:pPr marL="285750" indent="-285750">
              <a:buFont typeface="Arial" panose="020B0604020202020204" pitchFamily="34" charset="0"/>
              <a:buChar char="•"/>
            </a:pPr>
            <a:endParaRPr lang="en-US" dirty="0"/>
          </a:p>
          <a:p>
            <a:endParaRPr lang="en-US" dirty="0"/>
          </a:p>
        </p:txBody>
      </p:sp>
      <p:pic>
        <p:nvPicPr>
          <p:cNvPr id="5" name="Picture 4" descr="A screenshot of a computer&#10;&#10;Description automatically generated with medium confidence">
            <a:extLst>
              <a:ext uri="{FF2B5EF4-FFF2-40B4-BE49-F238E27FC236}">
                <a16:creationId xmlns:a16="http://schemas.microsoft.com/office/drawing/2014/main" xmlns="" id="{C1CE732A-4143-85BF-771B-5114E3BD4A88}"/>
              </a:ext>
            </a:extLst>
          </p:cNvPr>
          <p:cNvPicPr>
            <a:picLocks noChangeAspect="1"/>
          </p:cNvPicPr>
          <p:nvPr/>
        </p:nvPicPr>
        <p:blipFill rotWithShape="1">
          <a:blip r:embed="rId2"/>
          <a:srcRect t="19480"/>
          <a:stretch/>
        </p:blipFill>
        <p:spPr>
          <a:xfrm>
            <a:off x="1917322" y="3146007"/>
            <a:ext cx="4791624" cy="166933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2556412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D559D7-87A9-279D-3F7B-3AB895B0C9F2}"/>
              </a:ext>
            </a:extLst>
          </p:cNvPr>
          <p:cNvSpPr>
            <a:spLocks noGrp="1"/>
          </p:cNvSpPr>
          <p:nvPr>
            <p:ph type="title"/>
          </p:nvPr>
        </p:nvSpPr>
        <p:spPr>
          <a:xfrm>
            <a:off x="812248" y="256374"/>
            <a:ext cx="8229600" cy="532848"/>
          </a:xfrm>
        </p:spPr>
        <p:txBody>
          <a:bodyPr/>
          <a:lstStyle/>
          <a:p>
            <a:r>
              <a:rPr lang="en-US" sz="2000" b="1" dirty="0">
                <a:solidFill>
                  <a:schemeClr val="accent1">
                    <a:lumMod val="75000"/>
                  </a:schemeClr>
                </a:solidFill>
                <a:latin typeface="Fira Sans Extra Condensed SemiBold" panose="020B0604020202020204" charset="0"/>
                <a:ea typeface="Calibri" panose="020F0502020204030204" pitchFamily="34" charset="0"/>
              </a:rPr>
              <a:t>A</a:t>
            </a:r>
            <a:r>
              <a:rPr lang="en-US" sz="2000" b="1" dirty="0">
                <a:solidFill>
                  <a:schemeClr val="accent1">
                    <a:lumMod val="75000"/>
                  </a:schemeClr>
                </a:solidFill>
                <a:effectLst/>
                <a:latin typeface="Fira Sans Extra Condensed SemiBold" panose="020B0604020202020204" charset="0"/>
                <a:ea typeface="Calibri" panose="020F0502020204030204" pitchFamily="34" charset="0"/>
              </a:rPr>
              <a:t>ssessing assumptions for the t-test:</a:t>
            </a:r>
            <a:endParaRPr lang="en-US" sz="2000" dirty="0">
              <a:solidFill>
                <a:schemeClr val="accent1">
                  <a:lumMod val="75000"/>
                </a:schemeClr>
              </a:solidFill>
              <a:latin typeface="Fira Sans Extra Condensed SemiBold" panose="020B0604020202020204" charset="0"/>
            </a:endParaRPr>
          </a:p>
        </p:txBody>
      </p:sp>
      <p:sp>
        <p:nvSpPr>
          <p:cNvPr id="3" name="Text Placeholder 2">
            <a:extLst>
              <a:ext uri="{FF2B5EF4-FFF2-40B4-BE49-F238E27FC236}">
                <a16:creationId xmlns:a16="http://schemas.microsoft.com/office/drawing/2014/main" xmlns="" id="{4A872E05-11D3-EA6C-70A2-9A6EA1F1CF96}"/>
              </a:ext>
            </a:extLst>
          </p:cNvPr>
          <p:cNvSpPr>
            <a:spLocks noGrp="1"/>
          </p:cNvSpPr>
          <p:nvPr>
            <p:ph type="body" idx="1"/>
          </p:nvPr>
        </p:nvSpPr>
        <p:spPr>
          <a:xfrm>
            <a:off x="149008" y="1602689"/>
            <a:ext cx="3999900" cy="1708201"/>
          </a:xfrm>
        </p:spPr>
        <p:txBody>
          <a:bodyPr/>
          <a:lstStyle/>
          <a:p>
            <a:pPr marL="127000" indent="0" algn="ctr">
              <a:buNone/>
            </a:pPr>
            <a:r>
              <a:rPr lang="en-US" sz="1800" b="1" dirty="0">
                <a:solidFill>
                  <a:schemeClr val="tx1"/>
                </a:solidFill>
                <a:effectLst/>
                <a:latin typeface="Fira Sans Extra Condensed SemiBold" panose="020B0604020202020204" charset="0"/>
                <a:ea typeface="Calibri" panose="020F0502020204030204" pitchFamily="34" charset="0"/>
              </a:rPr>
              <a:t>Normality</a:t>
            </a:r>
            <a:r>
              <a:rPr lang="x-none" sz="1800" b="1" dirty="0">
                <a:solidFill>
                  <a:schemeClr val="tx1"/>
                </a:solidFill>
                <a:effectLst/>
                <a:latin typeface="Fira Sans Extra Condensed SemiBold" panose="020B0604020202020204" charset="0"/>
                <a:ea typeface="Calibri" panose="020F0502020204030204" pitchFamily="34" charset="0"/>
              </a:rPr>
              <a:t>:</a:t>
            </a:r>
            <a:endParaRPr lang="en-US" sz="1800" b="1" dirty="0">
              <a:solidFill>
                <a:schemeClr val="tx1"/>
              </a:solidFill>
              <a:effectLst/>
              <a:latin typeface="Fira Sans Extra Condensed SemiBold" panose="020B0604020202020204" charset="0"/>
              <a:ea typeface="Calibri" panose="020F0502020204030204" pitchFamily="34" charset="0"/>
            </a:endParaRPr>
          </a:p>
          <a:p>
            <a:pPr marL="127000" indent="0">
              <a:buNone/>
            </a:pPr>
            <a:endParaRPr lang="en-US" sz="1800" b="1" dirty="0">
              <a:solidFill>
                <a:schemeClr val="tx1"/>
              </a:solidFill>
              <a:effectLst/>
              <a:latin typeface="Fira Sans Extra Condensed SemiBold" panose="020B0604020202020204" charset="0"/>
              <a:ea typeface="Calibri" panose="020F0502020204030204" pitchFamily="34" charset="0"/>
            </a:endParaRPr>
          </a:p>
          <a:p>
            <a:pPr marL="127000" indent="0">
              <a:buNone/>
            </a:pPr>
            <a:r>
              <a:rPr lang="en-US" sz="1800" b="1" dirty="0">
                <a:solidFill>
                  <a:schemeClr val="tx1"/>
                </a:solidFill>
                <a:effectLst/>
                <a:latin typeface="Fira Sans Extra Condensed SemiBold" panose="020B0604020202020204" charset="0"/>
                <a:ea typeface="Calibri" panose="020F0502020204030204" pitchFamily="34" charset="0"/>
              </a:rPr>
              <a:t>Test assumes</a:t>
            </a:r>
            <a:r>
              <a:rPr lang="en-US" sz="1400" b="1" dirty="0">
                <a:solidFill>
                  <a:schemeClr val="tx1"/>
                </a:solidFill>
                <a:effectLst/>
                <a:latin typeface="Fira Sans Extra Condensed SemiBold" panose="020B0604020202020204" charset="0"/>
                <a:ea typeface="Calibri" panose="020F0502020204030204" pitchFamily="34" charset="0"/>
              </a:rPr>
              <a:t>: </a:t>
            </a:r>
            <a:r>
              <a:rPr lang="en-US" sz="1400" dirty="0">
                <a:solidFill>
                  <a:schemeClr val="tx1"/>
                </a:solidFill>
                <a:effectLst/>
                <a:latin typeface="+mn-lt"/>
                <a:ea typeface="Calibri" panose="020F0502020204030204" pitchFamily="34" charset="0"/>
              </a:rPr>
              <a:t>Normality of the ADWG0021</a:t>
            </a:r>
          </a:p>
          <a:p>
            <a:pPr marL="127000" indent="0">
              <a:buNone/>
            </a:pPr>
            <a:r>
              <a:rPr lang="en-US" sz="1400" dirty="0">
                <a:solidFill>
                  <a:schemeClr val="tx1"/>
                </a:solidFill>
                <a:latin typeface="+mn-lt"/>
                <a:ea typeface="Calibri" panose="020F0502020204030204" pitchFamily="34" charset="0"/>
              </a:rPr>
              <a:t>For males and females.</a:t>
            </a:r>
            <a:r>
              <a:rPr lang="en-US" sz="1400" dirty="0">
                <a:solidFill>
                  <a:schemeClr val="tx1"/>
                </a:solidFill>
                <a:effectLst/>
                <a:latin typeface="+mn-lt"/>
                <a:ea typeface="Calibri" panose="020F0502020204030204" pitchFamily="34" charset="0"/>
              </a:rPr>
              <a:t> </a:t>
            </a:r>
            <a:endParaRPr lang="en-US" sz="1400" b="1" dirty="0">
              <a:solidFill>
                <a:schemeClr val="tx1"/>
              </a:solidFill>
              <a:effectLst/>
              <a:latin typeface="+mn-lt"/>
              <a:ea typeface="Calibri" panose="020F0502020204030204" pitchFamily="34" charset="0"/>
            </a:endParaRPr>
          </a:p>
          <a:p>
            <a:pPr marL="127000" indent="0">
              <a:buNone/>
            </a:pPr>
            <a:endParaRPr lang="x-none" sz="1800" dirty="0">
              <a:solidFill>
                <a:schemeClr val="tx1"/>
              </a:solidFill>
              <a:effectLst/>
              <a:latin typeface="Fira Sans Extra Condensed SemiBold" panose="020B0604020202020204" charset="0"/>
              <a:ea typeface="Calibri" panose="020F0502020204030204" pitchFamily="34" charset="0"/>
            </a:endParaRPr>
          </a:p>
          <a:p>
            <a:pPr marL="127000" indent="0">
              <a:buNone/>
            </a:pPr>
            <a:r>
              <a:rPr lang="en-US" sz="1800" dirty="0">
                <a:solidFill>
                  <a:srgbClr val="0D0D0D"/>
                </a:solidFill>
                <a:effectLst/>
                <a:latin typeface="+mn-lt"/>
                <a:ea typeface="Calibri" panose="020F0502020204030204" pitchFamily="34" charset="0"/>
              </a:rPr>
              <a:t>We assessed normality visually using a histogram and a QQ plot, as well as statistically using the Shapiro-Wilk test</a:t>
            </a:r>
            <a:endParaRPr lang="en-US" dirty="0">
              <a:latin typeface="+mn-lt"/>
            </a:endParaRPr>
          </a:p>
        </p:txBody>
      </p:sp>
      <p:sp>
        <p:nvSpPr>
          <p:cNvPr id="4" name="Text Placeholder 3">
            <a:extLst>
              <a:ext uri="{FF2B5EF4-FFF2-40B4-BE49-F238E27FC236}">
                <a16:creationId xmlns:a16="http://schemas.microsoft.com/office/drawing/2014/main" xmlns="" id="{B2B90F1C-B8CB-F43C-6FF5-6E5AA19EDB0B}"/>
              </a:ext>
            </a:extLst>
          </p:cNvPr>
          <p:cNvSpPr>
            <a:spLocks noGrp="1"/>
          </p:cNvSpPr>
          <p:nvPr>
            <p:ph type="body" idx="2"/>
          </p:nvPr>
        </p:nvSpPr>
        <p:spPr>
          <a:xfrm>
            <a:off x="4995092" y="1602689"/>
            <a:ext cx="3999900" cy="2047290"/>
          </a:xfrm>
        </p:spPr>
        <p:txBody>
          <a:bodyPr/>
          <a:lstStyle/>
          <a:p>
            <a:pPr marL="127000" indent="0" algn="ctr">
              <a:buNone/>
            </a:pPr>
            <a:r>
              <a:rPr lang="en-US" sz="1800" b="1" u="none" dirty="0">
                <a:solidFill>
                  <a:schemeClr val="tx1"/>
                </a:solidFill>
                <a:effectLst/>
                <a:latin typeface="Fira Sans Extra Condensed SemiBold" panose="020B0604020202020204" charset="0"/>
                <a:ea typeface="Calibri" panose="020F0502020204030204" pitchFamily="34" charset="0"/>
              </a:rPr>
              <a:t>Equality of variances:</a:t>
            </a:r>
            <a:r>
              <a:rPr lang="en-US" sz="1800" u="none" dirty="0">
                <a:solidFill>
                  <a:schemeClr val="tx1"/>
                </a:solidFill>
                <a:effectLst/>
                <a:latin typeface="Fira Sans Extra Condensed SemiBold" panose="020B0604020202020204" charset="0"/>
                <a:ea typeface="Calibri" panose="020F0502020204030204" pitchFamily="34" charset="0"/>
              </a:rPr>
              <a:t> </a:t>
            </a:r>
          </a:p>
          <a:p>
            <a:pPr marL="127000" indent="0">
              <a:buNone/>
            </a:pPr>
            <a:endParaRPr lang="x-none" sz="1800" u="none" dirty="0">
              <a:solidFill>
                <a:schemeClr val="tx1"/>
              </a:solidFill>
              <a:effectLst/>
              <a:latin typeface="Fira Sans Extra Condensed SemiBold" panose="020B0604020202020204" charset="0"/>
              <a:ea typeface="Calibri" panose="020F0502020204030204" pitchFamily="34" charset="0"/>
            </a:endParaRPr>
          </a:p>
          <a:p>
            <a:pPr marL="127000" indent="0">
              <a:buNone/>
            </a:pPr>
            <a:r>
              <a:rPr lang="en-US" sz="1800" b="1" u="none" dirty="0">
                <a:solidFill>
                  <a:schemeClr val="tx1"/>
                </a:solidFill>
                <a:latin typeface="Fira Sans Extra Condensed SemiBold" panose="020B0604020202020204" charset="0"/>
                <a:ea typeface="Calibri" panose="020F0502020204030204" pitchFamily="34" charset="0"/>
              </a:rPr>
              <a:t>Test assumes</a:t>
            </a:r>
            <a:r>
              <a:rPr lang="en-US" sz="1400" b="1" u="none" dirty="0">
                <a:solidFill>
                  <a:schemeClr val="tx1"/>
                </a:solidFill>
                <a:latin typeface="+mn-lt"/>
                <a:ea typeface="Calibri" panose="020F0502020204030204" pitchFamily="34" charset="0"/>
              </a:rPr>
              <a:t>: </a:t>
            </a:r>
            <a:r>
              <a:rPr lang="en-US" sz="1400" u="none" dirty="0">
                <a:solidFill>
                  <a:schemeClr val="tx1"/>
                </a:solidFill>
                <a:latin typeface="+mn-lt"/>
                <a:ea typeface="Calibri" panose="020F0502020204030204" pitchFamily="34" charset="0"/>
              </a:rPr>
              <a:t>Homoscedastic ADWG0021 For males and females. </a:t>
            </a:r>
          </a:p>
          <a:p>
            <a:pPr marL="127000" indent="0">
              <a:buNone/>
            </a:pPr>
            <a:endParaRPr lang="x-none" sz="1800" u="none" dirty="0">
              <a:solidFill>
                <a:schemeClr val="tx1"/>
              </a:solidFill>
              <a:latin typeface="Fira Sans Extra Condensed SemiBold" panose="020B0604020202020204" charset="0"/>
              <a:ea typeface="Calibri" panose="020F0502020204030204" pitchFamily="34" charset="0"/>
            </a:endParaRPr>
          </a:p>
          <a:p>
            <a:pPr marL="127000" indent="0">
              <a:buNone/>
            </a:pPr>
            <a:r>
              <a:rPr lang="en-US" sz="1800" u="none" dirty="0">
                <a:solidFill>
                  <a:srgbClr val="0D0D0D"/>
                </a:solidFill>
                <a:effectLst/>
                <a:latin typeface="+mn-lt"/>
                <a:ea typeface="Calibri" panose="020F0502020204030204" pitchFamily="34" charset="0"/>
              </a:rPr>
              <a:t>We checked assumption of homoscedastic using </a:t>
            </a:r>
            <a:r>
              <a:rPr lang="en-US" sz="1800" u="none" dirty="0" err="1">
                <a:solidFill>
                  <a:srgbClr val="0D0D0D"/>
                </a:solidFill>
                <a:effectLst/>
                <a:latin typeface="+mn-lt"/>
                <a:ea typeface="Calibri" panose="020F0502020204030204" pitchFamily="34" charset="0"/>
              </a:rPr>
              <a:t>Levene's</a:t>
            </a:r>
            <a:r>
              <a:rPr lang="en-US" sz="1800" u="none" dirty="0">
                <a:solidFill>
                  <a:srgbClr val="0D0D0D"/>
                </a:solidFill>
                <a:effectLst/>
                <a:latin typeface="+mn-lt"/>
                <a:ea typeface="Calibri" panose="020F0502020204030204" pitchFamily="34" charset="0"/>
              </a:rPr>
              <a:t> test or the F-test for equality of variances.</a:t>
            </a:r>
            <a:endParaRPr lang="x-none" sz="1800" u="none" dirty="0">
              <a:solidFill>
                <a:schemeClr val="tx1"/>
              </a:solidFill>
              <a:latin typeface="+mn-lt"/>
              <a:ea typeface="Calibri" panose="020F0502020204030204" pitchFamily="34" charset="0"/>
            </a:endParaRPr>
          </a:p>
        </p:txBody>
      </p:sp>
      <p:pic>
        <p:nvPicPr>
          <p:cNvPr id="6" name="Picture 5" descr="A clipboard with a question mark and a magnifying glass&#10;&#10;Description automatically generated">
            <a:extLst>
              <a:ext uri="{FF2B5EF4-FFF2-40B4-BE49-F238E27FC236}">
                <a16:creationId xmlns:a16="http://schemas.microsoft.com/office/drawing/2014/main" xmlns="" id="{4549A3D8-692C-D3C4-FB58-285008251B56}"/>
              </a:ext>
            </a:extLst>
          </p:cNvPr>
          <p:cNvPicPr>
            <a:picLocks noChangeAspect="1"/>
          </p:cNvPicPr>
          <p:nvPr/>
        </p:nvPicPr>
        <p:blipFill>
          <a:blip r:embed="rId2"/>
          <a:stretch>
            <a:fillRect/>
          </a:stretch>
        </p:blipFill>
        <p:spPr>
          <a:xfrm>
            <a:off x="56550" y="84372"/>
            <a:ext cx="704850" cy="704850"/>
          </a:xfrm>
          <a:prstGeom prst="rect">
            <a:avLst/>
          </a:prstGeom>
        </p:spPr>
      </p:pic>
    </p:spTree>
    <p:extLst>
      <p:ext uri="{BB962C8B-B14F-4D97-AF65-F5344CB8AC3E}">
        <p14:creationId xmlns:p14="http://schemas.microsoft.com/office/powerpoint/2010/main" val="7094957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175FB3-88EC-A109-BE2B-E4729978E01D}"/>
              </a:ext>
            </a:extLst>
          </p:cNvPr>
          <p:cNvSpPr>
            <a:spLocks noGrp="1"/>
          </p:cNvSpPr>
          <p:nvPr>
            <p:ph type="title"/>
          </p:nvPr>
        </p:nvSpPr>
        <p:spPr>
          <a:xfrm>
            <a:off x="155186" y="175244"/>
            <a:ext cx="2736697" cy="441790"/>
          </a:xfrm>
        </p:spPr>
        <p:txBody>
          <a:bodyPr/>
          <a:lstStyle/>
          <a:p>
            <a:r>
              <a:rPr lang="x-none" dirty="0"/>
              <a:t>Results(Normality)</a:t>
            </a:r>
            <a:endParaRPr lang="en-US" dirty="0"/>
          </a:p>
        </p:txBody>
      </p:sp>
      <p:pic>
        <p:nvPicPr>
          <p:cNvPr id="7" name="Picture 6" descr="A picture containing text, screenshot, diagram, plot&#10;&#10;Description automatically generated">
            <a:extLst>
              <a:ext uri="{FF2B5EF4-FFF2-40B4-BE49-F238E27FC236}">
                <a16:creationId xmlns:a16="http://schemas.microsoft.com/office/drawing/2014/main" xmlns="" id="{A673E7DF-772C-0F2F-1D96-82620E1BB1B9}"/>
              </a:ext>
            </a:extLst>
          </p:cNvPr>
          <p:cNvPicPr>
            <a:picLocks noChangeAspect="1"/>
          </p:cNvPicPr>
          <p:nvPr/>
        </p:nvPicPr>
        <p:blipFill>
          <a:blip r:embed="rId2"/>
          <a:stretch>
            <a:fillRect/>
          </a:stretch>
        </p:blipFill>
        <p:spPr>
          <a:xfrm>
            <a:off x="4815465" y="123205"/>
            <a:ext cx="4328535" cy="4897090"/>
          </a:xfrm>
          <a:prstGeom prst="rect">
            <a:avLst/>
          </a:prstGeom>
          <a:ln>
            <a:noFill/>
          </a:ln>
          <a:effectLst>
            <a:outerShdw blurRad="292100" dist="139700" dir="2700000" algn="tl" rotWithShape="0">
              <a:srgbClr val="333333">
                <a:alpha val="65000"/>
              </a:srgbClr>
            </a:outerShdw>
          </a:effectLst>
        </p:spPr>
      </p:pic>
      <p:pic>
        <p:nvPicPr>
          <p:cNvPr id="13" name="Picture 12" descr="A picture containing text, line, diagram, plot">
            <a:extLst>
              <a:ext uri="{FF2B5EF4-FFF2-40B4-BE49-F238E27FC236}">
                <a16:creationId xmlns:a16="http://schemas.microsoft.com/office/drawing/2014/main" xmlns="" id="{3D63E624-1300-EB8D-7047-BF9746238500}"/>
              </a:ext>
            </a:extLst>
          </p:cNvPr>
          <p:cNvPicPr>
            <a:picLocks noChangeAspect="1"/>
          </p:cNvPicPr>
          <p:nvPr/>
        </p:nvPicPr>
        <p:blipFill>
          <a:blip r:embed="rId3"/>
          <a:stretch>
            <a:fillRect/>
          </a:stretch>
        </p:blipFill>
        <p:spPr>
          <a:xfrm>
            <a:off x="0" y="840058"/>
            <a:ext cx="4721794" cy="3330497"/>
          </a:xfrm>
          <a:prstGeom prst="rect">
            <a:avLst/>
          </a:prstGeom>
        </p:spPr>
      </p:pic>
    </p:spTree>
    <p:extLst>
      <p:ext uri="{BB962C8B-B14F-4D97-AF65-F5344CB8AC3E}">
        <p14:creationId xmlns:p14="http://schemas.microsoft.com/office/powerpoint/2010/main" val="40745599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C963D6-429C-02E6-DFD3-86DD5EDE47A3}"/>
              </a:ext>
            </a:extLst>
          </p:cNvPr>
          <p:cNvSpPr>
            <a:spLocks noGrp="1"/>
          </p:cNvSpPr>
          <p:nvPr>
            <p:ph type="title"/>
          </p:nvPr>
        </p:nvSpPr>
        <p:spPr/>
        <p:txBody>
          <a:bodyPr/>
          <a:lstStyle/>
          <a:p>
            <a:r>
              <a:rPr lang="x-none" dirty="0"/>
              <a:t>Results</a:t>
            </a:r>
            <a:endParaRPr lang="en-US" dirty="0"/>
          </a:p>
        </p:txBody>
      </p:sp>
      <p:sp>
        <p:nvSpPr>
          <p:cNvPr id="3" name="Text Placeholder 2">
            <a:extLst>
              <a:ext uri="{FF2B5EF4-FFF2-40B4-BE49-F238E27FC236}">
                <a16:creationId xmlns:a16="http://schemas.microsoft.com/office/drawing/2014/main" xmlns="" id="{18BAC152-C058-2451-2671-2D3BB9FB9093}"/>
              </a:ext>
            </a:extLst>
          </p:cNvPr>
          <p:cNvSpPr>
            <a:spLocks noGrp="1"/>
          </p:cNvSpPr>
          <p:nvPr>
            <p:ph type="body" idx="1"/>
          </p:nvPr>
        </p:nvSpPr>
        <p:spPr>
          <a:xfrm>
            <a:off x="430647" y="1203745"/>
            <a:ext cx="2808000" cy="3598713"/>
          </a:xfrm>
        </p:spPr>
        <p:txBody>
          <a:bodyPr/>
          <a:lstStyle/>
          <a:p>
            <a:r>
              <a:rPr lang="en-US" sz="1800" kern="100" dirty="0">
                <a:solidFill>
                  <a:srgbClr val="0D0D0D"/>
                </a:solidFill>
                <a:effectLst/>
                <a:latin typeface="Fira Sans Extra Condensed SemiBold" panose="020B0604020202020204" charset="0"/>
                <a:ea typeface="Calibri" panose="020F0502020204030204" pitchFamily="34" charset="0"/>
                <a:cs typeface="Arial" panose="020B0604020202020204" pitchFamily="34" charset="0"/>
              </a:rPr>
              <a:t>The p-value from the Shapiro-Wilk test is greater than the significance level, it indicates that there is not enough evidence to conclude that the data significantly deviate from a normal distribution.</a:t>
            </a:r>
            <a:endParaRPr lang="en-US" sz="1800" kern="100" dirty="0">
              <a:effectLst/>
              <a:latin typeface="Fira Sans Extra Condensed SemiBold" panose="020B0604020202020204" charset="0"/>
              <a:ea typeface="Calibri" panose="020F0502020204030204" pitchFamily="34" charset="0"/>
              <a:cs typeface="Arial" panose="020B0604020202020204" pitchFamily="34" charset="0"/>
            </a:endParaRPr>
          </a:p>
          <a:p>
            <a:endParaRPr lang="en-US" dirty="0"/>
          </a:p>
        </p:txBody>
      </p:sp>
      <p:pic>
        <p:nvPicPr>
          <p:cNvPr id="5" name="Picture 4" descr="A picture containing text, screenshot, font, algebra">
            <a:extLst>
              <a:ext uri="{FF2B5EF4-FFF2-40B4-BE49-F238E27FC236}">
                <a16:creationId xmlns:a16="http://schemas.microsoft.com/office/drawing/2014/main" xmlns="" id="{F41CD028-8B2C-1929-9CCE-108221472FB9}"/>
              </a:ext>
            </a:extLst>
          </p:cNvPr>
          <p:cNvPicPr>
            <a:picLocks noChangeAspect="1"/>
          </p:cNvPicPr>
          <p:nvPr/>
        </p:nvPicPr>
        <p:blipFill>
          <a:blip r:embed="rId2"/>
          <a:stretch>
            <a:fillRect/>
          </a:stretch>
        </p:blipFill>
        <p:spPr>
          <a:xfrm>
            <a:off x="3656673" y="1029350"/>
            <a:ext cx="5301474" cy="2962787"/>
          </a:xfrm>
          <a:prstGeom prst="rect">
            <a:avLst/>
          </a:prstGeom>
        </p:spPr>
      </p:pic>
    </p:spTree>
    <p:extLst>
      <p:ext uri="{BB962C8B-B14F-4D97-AF65-F5344CB8AC3E}">
        <p14:creationId xmlns:p14="http://schemas.microsoft.com/office/powerpoint/2010/main" val="29275504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3FDDDF-7355-BC85-0410-000CF8CCEFEE}"/>
              </a:ext>
            </a:extLst>
          </p:cNvPr>
          <p:cNvSpPr>
            <a:spLocks noGrp="1"/>
          </p:cNvSpPr>
          <p:nvPr>
            <p:ph type="title"/>
          </p:nvPr>
        </p:nvSpPr>
        <p:spPr>
          <a:xfrm>
            <a:off x="52039" y="304800"/>
            <a:ext cx="3345365" cy="619926"/>
          </a:xfrm>
        </p:spPr>
        <p:txBody>
          <a:bodyPr/>
          <a:lstStyle/>
          <a:p>
            <a:r>
              <a:rPr lang="x-none" dirty="0"/>
              <a:t>Results(</a:t>
            </a:r>
            <a:r>
              <a:rPr lang="en-US" sz="1800" b="1" dirty="0">
                <a:solidFill>
                  <a:schemeClr val="tx1"/>
                </a:solidFill>
                <a:effectLst/>
                <a:latin typeface="Fira Sans Extra Condensed SemiBold" panose="020B0604020202020204" charset="0"/>
                <a:ea typeface="Calibri" panose="020F0502020204030204" pitchFamily="34" charset="0"/>
              </a:rPr>
              <a:t>Equality of variances</a:t>
            </a:r>
            <a:r>
              <a:rPr lang="x-none" sz="1800" b="1" dirty="0">
                <a:solidFill>
                  <a:schemeClr val="tx1"/>
                </a:solidFill>
                <a:effectLst/>
                <a:latin typeface="Fira Sans Extra Condensed SemiBold" panose="020B0604020202020204" charset="0"/>
                <a:ea typeface="Calibri" panose="020F0502020204030204" pitchFamily="34" charset="0"/>
              </a:rPr>
              <a:t>)</a:t>
            </a:r>
            <a:endParaRPr lang="en-US" dirty="0">
              <a:solidFill>
                <a:schemeClr val="tx1"/>
              </a:solidFill>
              <a:latin typeface="Fira Sans Extra Condensed SemiBold" panose="020B0604020202020204" charset="0"/>
            </a:endParaRPr>
          </a:p>
        </p:txBody>
      </p:sp>
      <p:sp>
        <p:nvSpPr>
          <p:cNvPr id="3" name="Text Placeholder 2">
            <a:extLst>
              <a:ext uri="{FF2B5EF4-FFF2-40B4-BE49-F238E27FC236}">
                <a16:creationId xmlns:a16="http://schemas.microsoft.com/office/drawing/2014/main" xmlns="" id="{E1800566-C359-3B87-E543-A74E80FAAA79}"/>
              </a:ext>
            </a:extLst>
          </p:cNvPr>
          <p:cNvSpPr>
            <a:spLocks noGrp="1"/>
          </p:cNvSpPr>
          <p:nvPr>
            <p:ph type="body" idx="1"/>
          </p:nvPr>
        </p:nvSpPr>
        <p:spPr>
          <a:xfrm>
            <a:off x="25751" y="924726"/>
            <a:ext cx="3397940" cy="3913974"/>
          </a:xfrm>
        </p:spPr>
        <p:txBody>
          <a:bodyPr/>
          <a:lstStyle/>
          <a:p>
            <a:r>
              <a:rPr lang="en-US" sz="1800" kern="100" dirty="0">
                <a:solidFill>
                  <a:srgbClr val="0D0D0D"/>
                </a:solidFill>
                <a:effectLst/>
                <a:latin typeface="Fira Sans Extra Condensed SemiBold" panose="020B0604020202020204" charset="0"/>
                <a:ea typeface="Calibri" panose="020F0502020204030204" pitchFamily="34" charset="0"/>
                <a:cs typeface="Arial" panose="020B0604020202020204" pitchFamily="34" charset="0"/>
              </a:rPr>
              <a:t>Based on these results and a significant level of alpha= 0.05, there is no significant evidence to suggest differences in variances between the Gender or a significant difference in the ratio of variances. Therefore, you can proceed with the assumption of equal variances in your analysis.</a:t>
            </a:r>
            <a:endParaRPr lang="en-US" sz="1800" kern="100" dirty="0">
              <a:effectLst/>
              <a:latin typeface="Fira Sans Extra Condensed SemiBold" panose="020B0604020202020204" charset="0"/>
              <a:ea typeface="Calibri" panose="020F0502020204030204" pitchFamily="34" charset="0"/>
              <a:cs typeface="Arial" panose="020B0604020202020204" pitchFamily="34" charset="0"/>
            </a:endParaRPr>
          </a:p>
          <a:p>
            <a:endParaRPr lang="en-US" dirty="0"/>
          </a:p>
        </p:txBody>
      </p:sp>
      <p:pic>
        <p:nvPicPr>
          <p:cNvPr id="5" name="Picture 4" descr="A picture containing text, screenshot, font">
            <a:extLst>
              <a:ext uri="{FF2B5EF4-FFF2-40B4-BE49-F238E27FC236}">
                <a16:creationId xmlns:a16="http://schemas.microsoft.com/office/drawing/2014/main" xmlns="" id="{F5D2BAE1-2975-D0B0-14B4-79F0DF57F4FD}"/>
              </a:ext>
            </a:extLst>
          </p:cNvPr>
          <p:cNvPicPr>
            <a:picLocks noChangeAspect="1"/>
          </p:cNvPicPr>
          <p:nvPr/>
        </p:nvPicPr>
        <p:blipFill>
          <a:blip r:embed="rId2"/>
          <a:stretch>
            <a:fillRect/>
          </a:stretch>
        </p:blipFill>
        <p:spPr>
          <a:xfrm>
            <a:off x="3647173" y="1003611"/>
            <a:ext cx="5471076" cy="3100038"/>
          </a:xfrm>
          <a:prstGeom prst="rect">
            <a:avLst/>
          </a:prstGeom>
        </p:spPr>
      </p:pic>
    </p:spTree>
    <p:extLst>
      <p:ext uri="{BB962C8B-B14F-4D97-AF65-F5344CB8AC3E}">
        <p14:creationId xmlns:p14="http://schemas.microsoft.com/office/powerpoint/2010/main" val="38398735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B4193C-214A-22F2-244F-07F69EA4C67A}"/>
              </a:ext>
            </a:extLst>
          </p:cNvPr>
          <p:cNvSpPr>
            <a:spLocks noGrp="1"/>
          </p:cNvSpPr>
          <p:nvPr>
            <p:ph type="title"/>
          </p:nvPr>
        </p:nvSpPr>
        <p:spPr>
          <a:xfrm>
            <a:off x="449580" y="0"/>
            <a:ext cx="8229600" cy="572700"/>
          </a:xfrm>
        </p:spPr>
        <p:txBody>
          <a:bodyPr/>
          <a:lstStyle/>
          <a:p>
            <a:r>
              <a:rPr lang="en-US" b="1" dirty="0">
                <a:solidFill>
                  <a:schemeClr val="tx1">
                    <a:lumMod val="95000"/>
                    <a:lumOff val="5000"/>
                  </a:schemeClr>
                </a:solidFill>
                <a:effectLst/>
                <a:latin typeface="Fira Sans Extra Condensed SemiBold" panose="020B0604020202020204" charset="0"/>
                <a:ea typeface="Calibri" panose="020F0502020204030204" pitchFamily="34" charset="0"/>
              </a:rPr>
              <a:t>Hypothesis testing</a:t>
            </a:r>
            <a:endParaRPr lang="en-US" dirty="0">
              <a:solidFill>
                <a:schemeClr val="tx1">
                  <a:lumMod val="95000"/>
                  <a:lumOff val="5000"/>
                </a:schemeClr>
              </a:solidFill>
              <a:latin typeface="Fira Sans Extra Condensed SemiBold" panose="020B0604020202020204" charset="0"/>
            </a:endParaRPr>
          </a:p>
        </p:txBody>
      </p:sp>
      <p:sp>
        <p:nvSpPr>
          <p:cNvPr id="3" name="Text Placeholder 2">
            <a:extLst>
              <a:ext uri="{FF2B5EF4-FFF2-40B4-BE49-F238E27FC236}">
                <a16:creationId xmlns:a16="http://schemas.microsoft.com/office/drawing/2014/main" xmlns="" id="{470EB626-6DB6-114A-AB6D-267D90E66BD2}"/>
              </a:ext>
            </a:extLst>
          </p:cNvPr>
          <p:cNvSpPr>
            <a:spLocks noGrp="1"/>
          </p:cNvSpPr>
          <p:nvPr>
            <p:ph type="body" idx="1"/>
          </p:nvPr>
        </p:nvSpPr>
        <p:spPr>
          <a:xfrm>
            <a:off x="111512" y="1135379"/>
            <a:ext cx="8883805" cy="3875235"/>
          </a:xfrm>
        </p:spPr>
        <p:txBody>
          <a:bodyPr/>
          <a:lstStyle/>
          <a:p>
            <a:pPr marL="152400" indent="0">
              <a:buNone/>
            </a:pPr>
            <a:r>
              <a:rPr lang="en-US" sz="1600" b="1" dirty="0">
                <a:solidFill>
                  <a:schemeClr val="tx1"/>
                </a:solidFill>
                <a:effectLst/>
                <a:latin typeface="Fira Sans Extra Condensed SemiBold" panose="020B0604020202020204" charset="0"/>
                <a:ea typeface="Calibri" panose="020F0502020204030204" pitchFamily="34" charset="0"/>
              </a:rPr>
              <a:t>Null hypothesis:  </a:t>
            </a:r>
            <a:r>
              <a:rPr lang="en-US" sz="1400" dirty="0">
                <a:solidFill>
                  <a:schemeClr val="tx1"/>
                </a:solidFill>
                <a:effectLst/>
                <a:latin typeface="+mn-lt"/>
                <a:ea typeface="Calibri" panose="020F0502020204030204" pitchFamily="34" charset="0"/>
              </a:rPr>
              <a:t>ADWG0021is “different” in the group receiving Treatment A (normal feed + </a:t>
            </a:r>
            <a:r>
              <a:rPr lang="en-US" sz="1400" dirty="0" err="1">
                <a:solidFill>
                  <a:schemeClr val="tx1"/>
                </a:solidFill>
                <a:effectLst/>
                <a:latin typeface="+mn-lt"/>
                <a:ea typeface="Calibri" panose="020F0502020204030204" pitchFamily="34" charset="0"/>
              </a:rPr>
              <a:t>ZnO</a:t>
            </a:r>
            <a:r>
              <a:rPr lang="en-US" sz="1400" dirty="0">
                <a:solidFill>
                  <a:schemeClr val="tx1"/>
                </a:solidFill>
                <a:effectLst/>
                <a:latin typeface="+mn-lt"/>
                <a:ea typeface="Calibri" panose="020F0502020204030204" pitchFamily="34" charset="0"/>
              </a:rPr>
              <a:t>) compared to the Treatment B (normal feed + nutraceuticals). </a:t>
            </a:r>
          </a:p>
          <a:p>
            <a:pPr marL="152400" indent="0">
              <a:buNone/>
            </a:pPr>
            <a:r>
              <a:rPr lang="en-US" sz="1600" b="1" dirty="0">
                <a:solidFill>
                  <a:schemeClr val="tx1"/>
                </a:solidFill>
                <a:effectLst/>
                <a:latin typeface="Fira Sans Extra Condensed SemiBold" panose="020B0604020202020204" charset="0"/>
                <a:ea typeface="Calibri" panose="020F0502020204030204" pitchFamily="34" charset="0"/>
              </a:rPr>
              <a:t>Alternative: </a:t>
            </a:r>
            <a:r>
              <a:rPr lang="en-US" sz="1400" dirty="0">
                <a:solidFill>
                  <a:schemeClr val="tx1"/>
                </a:solidFill>
                <a:effectLst/>
                <a:latin typeface="+mn-lt"/>
                <a:ea typeface="Calibri" panose="020F0502020204030204" pitchFamily="34" charset="0"/>
              </a:rPr>
              <a:t>There is no difference</a:t>
            </a:r>
            <a:r>
              <a:rPr lang="en-US" sz="1400" dirty="0">
                <a:solidFill>
                  <a:schemeClr val="tx1"/>
                </a:solidFill>
                <a:latin typeface="+mn-lt"/>
                <a:ea typeface="Calibri" panose="020F0502020204030204" pitchFamily="34" charset="0"/>
              </a:rPr>
              <a:t>.</a:t>
            </a:r>
            <a:endParaRPr lang="en-US" sz="1400" dirty="0">
              <a:solidFill>
                <a:schemeClr val="tx1"/>
              </a:solidFill>
              <a:effectLst/>
              <a:latin typeface="+mn-lt"/>
              <a:ea typeface="Calibri" panose="020F0502020204030204" pitchFamily="34" charset="0"/>
            </a:endParaRPr>
          </a:p>
          <a:p>
            <a:pPr marL="152400" indent="0">
              <a:buNone/>
            </a:pPr>
            <a:r>
              <a:rPr lang="en-US" sz="1600" b="1" dirty="0">
                <a:solidFill>
                  <a:schemeClr val="tx1"/>
                </a:solidFill>
                <a:effectLst/>
                <a:latin typeface="Fira Sans Extra Condensed SemiBold" panose="020B0604020202020204" charset="0"/>
                <a:ea typeface="Calibri" panose="020F0502020204030204" pitchFamily="34" charset="0"/>
              </a:rPr>
              <a:t>Result:</a:t>
            </a:r>
          </a:p>
          <a:p>
            <a:r>
              <a:rPr lang="en-US" dirty="0">
                <a:solidFill>
                  <a:schemeClr val="tx1"/>
                </a:solidFill>
                <a:effectLst/>
                <a:latin typeface="+mn-lt"/>
                <a:ea typeface="Calibri" panose="020F0502020204030204" pitchFamily="34" charset="0"/>
              </a:rPr>
              <a:t>mean difference 24.59077</a:t>
            </a:r>
          </a:p>
          <a:p>
            <a:r>
              <a:rPr lang="en-US" dirty="0">
                <a:solidFill>
                  <a:schemeClr val="tx1"/>
                </a:solidFill>
                <a:effectLst/>
                <a:latin typeface="+mn-lt"/>
                <a:ea typeface="Calibri" panose="020F0502020204030204" pitchFamily="34" charset="0"/>
              </a:rPr>
              <a:t>mean difference is not equal to 0</a:t>
            </a:r>
          </a:p>
          <a:p>
            <a:r>
              <a:rPr lang="en-US" dirty="0">
                <a:solidFill>
                  <a:schemeClr val="tx1"/>
                </a:solidFill>
                <a:effectLst/>
                <a:latin typeface="+mn-lt"/>
                <a:ea typeface="Calibri" panose="020F0502020204030204" pitchFamily="34" charset="0"/>
              </a:rPr>
              <a:t>P-value(0.06534) is greater that alpha value (0.05) so we don’t have enough evidence to reject null hypothesis</a:t>
            </a:r>
          </a:p>
          <a:p>
            <a:pPr marL="152400" indent="0">
              <a:buNone/>
            </a:pPr>
            <a:r>
              <a:rPr lang="en-US" sz="1600" b="1" dirty="0">
                <a:solidFill>
                  <a:schemeClr val="tx1"/>
                </a:solidFill>
                <a:effectLst/>
                <a:latin typeface="Fira Sans Extra Condensed SemiBold" panose="020B0604020202020204" charset="0"/>
                <a:ea typeface="Calibri" panose="020F0502020204030204" pitchFamily="34" charset="0"/>
              </a:rPr>
              <a:t>Bartlett test of homogeneity of variances</a:t>
            </a:r>
          </a:p>
          <a:p>
            <a:pPr marL="152400" indent="0">
              <a:buNone/>
            </a:pPr>
            <a:endParaRPr lang="en-US" sz="1600" b="1" dirty="0">
              <a:solidFill>
                <a:schemeClr val="tx1"/>
              </a:solidFill>
              <a:effectLst/>
              <a:latin typeface="Fira Sans Extra Condensed SemiBold" panose="020B0604020202020204" charset="0"/>
              <a:ea typeface="Calibri" panose="020F0502020204030204" pitchFamily="34" charset="0"/>
            </a:endParaRPr>
          </a:p>
          <a:p>
            <a:pPr marL="152400" indent="0">
              <a:buNone/>
            </a:pPr>
            <a:endParaRPr lang="en-US" sz="1600" b="1" dirty="0">
              <a:solidFill>
                <a:schemeClr val="tx1"/>
              </a:solidFill>
              <a:latin typeface="Fira Sans Extra Condensed SemiBold" panose="020B0604020202020204" charset="0"/>
              <a:ea typeface="Calibri" panose="020F0502020204030204" pitchFamily="34" charset="0"/>
            </a:endParaRPr>
          </a:p>
          <a:p>
            <a:pPr marL="152400" indent="0">
              <a:buNone/>
            </a:pPr>
            <a:endParaRPr lang="en-US" sz="1600" b="1" dirty="0">
              <a:solidFill>
                <a:schemeClr val="tx1"/>
              </a:solidFill>
              <a:effectLst/>
              <a:latin typeface="Fira Sans Extra Condensed SemiBold" panose="020B0604020202020204" charset="0"/>
              <a:ea typeface="Calibri" panose="020F0502020204030204" pitchFamily="34" charset="0"/>
            </a:endParaRPr>
          </a:p>
          <a:p>
            <a:pPr marL="152400" indent="0">
              <a:buNone/>
            </a:pPr>
            <a:endParaRPr lang="en-US" sz="1600" b="1" dirty="0">
              <a:solidFill>
                <a:schemeClr val="tx1"/>
              </a:solidFill>
              <a:effectLst/>
              <a:latin typeface="Fira Sans Extra Condensed SemiBold" panose="020B0604020202020204" charset="0"/>
              <a:ea typeface="Calibri" panose="020F0502020204030204" pitchFamily="34" charset="0"/>
            </a:endParaRPr>
          </a:p>
          <a:p>
            <a:pPr marL="152400" indent="0">
              <a:buNone/>
            </a:pPr>
            <a:endParaRPr lang="en-US" sz="1600" b="1" dirty="0">
              <a:solidFill>
                <a:schemeClr val="tx1"/>
              </a:solidFill>
              <a:latin typeface="Fira Sans Extra Condensed SemiBold" panose="020B0604020202020204" charset="0"/>
              <a:ea typeface="Calibri" panose="020F0502020204030204" pitchFamily="34" charset="0"/>
            </a:endParaRPr>
          </a:p>
          <a:p>
            <a:pPr marL="152400" indent="0">
              <a:buNone/>
            </a:pPr>
            <a:endParaRPr lang="en-US" sz="1600" b="1" dirty="0">
              <a:solidFill>
                <a:schemeClr val="tx1"/>
              </a:solidFill>
              <a:effectLst/>
              <a:latin typeface="Fira Sans Extra Condensed SemiBold" panose="020B0604020202020204" charset="0"/>
              <a:ea typeface="Calibri" panose="020F0502020204030204" pitchFamily="34" charset="0"/>
            </a:endParaRPr>
          </a:p>
          <a:p>
            <a:endParaRPr lang="x-none" sz="1600" b="1" dirty="0">
              <a:solidFill>
                <a:schemeClr val="tx1"/>
              </a:solidFill>
              <a:effectLst/>
              <a:latin typeface="Fira Sans Extra Condensed SemiBold" panose="020B0604020202020204" charset="0"/>
              <a:ea typeface="Calibri" panose="020F0502020204030204" pitchFamily="34" charset="0"/>
            </a:endParaRPr>
          </a:p>
        </p:txBody>
      </p:sp>
      <p:sp>
        <p:nvSpPr>
          <p:cNvPr id="5" name="TextBox 4">
            <a:extLst>
              <a:ext uri="{FF2B5EF4-FFF2-40B4-BE49-F238E27FC236}">
                <a16:creationId xmlns:a16="http://schemas.microsoft.com/office/drawing/2014/main" xmlns="" id="{EEC9EDDB-4CCF-7077-9B09-B20E0D84BEA1}"/>
              </a:ext>
            </a:extLst>
          </p:cNvPr>
          <p:cNvSpPr txBox="1"/>
          <p:nvPr/>
        </p:nvSpPr>
        <p:spPr>
          <a:xfrm>
            <a:off x="526151" y="554207"/>
            <a:ext cx="8450580" cy="523220"/>
          </a:xfrm>
          <a:prstGeom prst="rect">
            <a:avLst/>
          </a:prstGeom>
          <a:noFill/>
        </p:spPr>
        <p:txBody>
          <a:bodyPr wrap="square" rtlCol="0">
            <a:spAutoFit/>
          </a:bodyPr>
          <a:lstStyle/>
          <a:p>
            <a:r>
              <a:rPr lang="en-US" b="1" dirty="0">
                <a:solidFill>
                  <a:schemeClr val="accent1">
                    <a:lumMod val="75000"/>
                  </a:schemeClr>
                </a:solidFill>
              </a:rPr>
              <a:t>2-We hypothesis that ADWG0021is “different” in the group receiving Treatment A compared to the Treatment B , assuming heteroscedastic.</a:t>
            </a:r>
          </a:p>
        </p:txBody>
      </p:sp>
      <p:pic>
        <p:nvPicPr>
          <p:cNvPr id="7" name="Picture 6" descr="A screenshot of a computer&#10;&#10;Description automatically generated">
            <a:extLst>
              <a:ext uri="{FF2B5EF4-FFF2-40B4-BE49-F238E27FC236}">
                <a16:creationId xmlns:a16="http://schemas.microsoft.com/office/drawing/2014/main" xmlns="" id="{A7B0422E-3910-CFDB-585A-0AFDC82598AD}"/>
              </a:ext>
            </a:extLst>
          </p:cNvPr>
          <p:cNvPicPr>
            <a:picLocks noChangeAspect="1"/>
          </p:cNvPicPr>
          <p:nvPr/>
        </p:nvPicPr>
        <p:blipFill rotWithShape="1">
          <a:blip r:embed="rId2"/>
          <a:srcRect t="70074" r="64500" b="9481"/>
          <a:stretch/>
        </p:blipFill>
        <p:spPr>
          <a:xfrm>
            <a:off x="5573937" y="1562100"/>
            <a:ext cx="3246120" cy="1182906"/>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xmlns="" id="{782D137E-84C2-A058-3C8C-97D2AB4A0AA2}"/>
              </a:ext>
            </a:extLst>
          </p:cNvPr>
          <p:cNvPicPr>
            <a:picLocks noChangeAspect="1"/>
          </p:cNvPicPr>
          <p:nvPr/>
        </p:nvPicPr>
        <p:blipFill rotWithShape="1">
          <a:blip r:embed="rId3"/>
          <a:srcRect t="76446" r="68167" b="7850"/>
          <a:stretch/>
        </p:blipFill>
        <p:spPr>
          <a:xfrm>
            <a:off x="5909217" y="3171727"/>
            <a:ext cx="2910840" cy="807720"/>
          </a:xfrm>
          <a:prstGeom prst="rect">
            <a:avLst/>
          </a:prstGeom>
        </p:spPr>
      </p:pic>
      <p:sp>
        <p:nvSpPr>
          <p:cNvPr id="11" name="TextBox 10">
            <a:extLst>
              <a:ext uri="{FF2B5EF4-FFF2-40B4-BE49-F238E27FC236}">
                <a16:creationId xmlns:a16="http://schemas.microsoft.com/office/drawing/2014/main" xmlns="" id="{0B30C62F-33F2-7701-C7CB-6F681CD23588}"/>
              </a:ext>
            </a:extLst>
          </p:cNvPr>
          <p:cNvSpPr txBox="1"/>
          <p:nvPr/>
        </p:nvSpPr>
        <p:spPr>
          <a:xfrm>
            <a:off x="342900" y="3331013"/>
            <a:ext cx="5433060" cy="1292662"/>
          </a:xfrm>
          <a:prstGeom prst="rect">
            <a:avLst/>
          </a:prstGeom>
          <a:noFill/>
        </p:spPr>
        <p:txBody>
          <a:bodyPr wrap="square" rtlCol="0">
            <a:spAutoFit/>
          </a:bodyPr>
          <a:lstStyle/>
          <a:p>
            <a:r>
              <a:rPr lang="en-US" sz="1200" b="1" dirty="0"/>
              <a:t>Null (HO) </a:t>
            </a:r>
            <a:r>
              <a:rPr lang="en-US" sz="1200" dirty="0"/>
              <a:t>means there is no difference in variance, </a:t>
            </a:r>
          </a:p>
          <a:p>
            <a:r>
              <a:rPr lang="en-US" sz="1200" b="1" dirty="0"/>
              <a:t>Alternative </a:t>
            </a:r>
            <a:r>
              <a:rPr lang="en-US" sz="1200" dirty="0"/>
              <a:t>(H1) means there is differences in variance (Heteroscedastic).</a:t>
            </a:r>
          </a:p>
          <a:p>
            <a:r>
              <a:rPr lang="en-US" sz="1200" b="1" dirty="0"/>
              <a:t>Results: </a:t>
            </a:r>
          </a:p>
          <a:p>
            <a:r>
              <a:rPr lang="en-US" dirty="0"/>
              <a:t>Since the p-value is 0.955, which is greater than the typical significance level of 0.05, we do not have enough evidence to reject the assumption of equal variances. </a:t>
            </a:r>
          </a:p>
        </p:txBody>
      </p:sp>
    </p:spTree>
    <p:extLst>
      <p:ext uri="{BB962C8B-B14F-4D97-AF65-F5344CB8AC3E}">
        <p14:creationId xmlns:p14="http://schemas.microsoft.com/office/powerpoint/2010/main" val="42543853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75"/>
            <a:ext cx="8229600" cy="482143"/>
          </a:xfrm>
        </p:spPr>
        <p:txBody>
          <a:bodyPr/>
          <a:lstStyle/>
          <a:p>
            <a:r>
              <a:rPr lang="en-US" sz="1600" b="1" dirty="0" smtClean="0">
                <a:solidFill>
                  <a:srgbClr val="FF0000"/>
                </a:solidFill>
                <a:latin typeface="+mj-lt"/>
              </a:rPr>
              <a:t>3- We </a:t>
            </a:r>
            <a:r>
              <a:rPr lang="en-US" sz="1600" b="1" dirty="0">
                <a:solidFill>
                  <a:srgbClr val="FF0000"/>
                </a:solidFill>
                <a:latin typeface="+mj-lt"/>
              </a:rPr>
              <a:t>hypothesis that </a:t>
            </a:r>
            <a:r>
              <a:rPr lang="en-US" sz="1600" b="1" dirty="0" smtClean="0">
                <a:solidFill>
                  <a:srgbClr val="FF0000"/>
                </a:solidFill>
                <a:latin typeface="+mj-lt"/>
              </a:rPr>
              <a:t>ADWG0021 is </a:t>
            </a:r>
            <a:r>
              <a:rPr lang="en-US" sz="1600" b="1" dirty="0">
                <a:solidFill>
                  <a:srgbClr val="FF0000"/>
                </a:solidFill>
                <a:latin typeface="+mj-lt"/>
              </a:rPr>
              <a:t>different between the different Treatments</a:t>
            </a:r>
          </a:p>
        </p:txBody>
      </p:sp>
      <p:sp>
        <p:nvSpPr>
          <p:cNvPr id="3" name="Text Placeholder 2"/>
          <p:cNvSpPr>
            <a:spLocks noGrp="1"/>
          </p:cNvSpPr>
          <p:nvPr>
            <p:ph type="body" idx="1"/>
          </p:nvPr>
        </p:nvSpPr>
        <p:spPr/>
        <p:txBody>
          <a:bodyPr/>
          <a:lstStyle/>
          <a:p>
            <a:r>
              <a:rPr lang="en-US" b="1" dirty="0"/>
              <a:t>Null hypothesis:</a:t>
            </a:r>
            <a:r>
              <a:rPr lang="en-US" dirty="0"/>
              <a:t> </a:t>
            </a:r>
            <a:r>
              <a:rPr lang="en-US" dirty="0" smtClean="0"/>
              <a:t>The </a:t>
            </a:r>
            <a:r>
              <a:rPr lang="en-US" dirty="0"/>
              <a:t>mean of the treatment groups is equal. </a:t>
            </a:r>
          </a:p>
          <a:p>
            <a:r>
              <a:rPr lang="en-US" b="1" dirty="0"/>
              <a:t>Alternative hypothesis: </a:t>
            </a:r>
            <a:r>
              <a:rPr lang="en-US" dirty="0"/>
              <a:t>T</a:t>
            </a:r>
            <a:r>
              <a:rPr lang="en-US" dirty="0" smtClean="0"/>
              <a:t>he </a:t>
            </a:r>
            <a:r>
              <a:rPr lang="en-US" dirty="0"/>
              <a:t>mean of the treatment groups is not equal</a:t>
            </a:r>
            <a:r>
              <a:rPr lang="en-US" dirty="0" smtClean="0"/>
              <a:t>.</a:t>
            </a:r>
          </a:p>
          <a:p>
            <a:r>
              <a:rPr lang="en-US" dirty="0" smtClean="0"/>
              <a:t>Check normality using </a:t>
            </a:r>
            <a:r>
              <a:rPr lang="en-US" dirty="0"/>
              <a:t>Histogram, QQ plot, </a:t>
            </a:r>
            <a:r>
              <a:rPr lang="en-US" dirty="0" smtClean="0"/>
              <a:t>and Shapiro test.</a:t>
            </a:r>
            <a:endParaRPr lang="en-US" dirty="0"/>
          </a:p>
          <a:p>
            <a:pPr marL="0" lvl="0" indent="0">
              <a:lnSpc>
                <a:spcPct val="150000"/>
              </a:lnSpc>
              <a:buSzPts val="1100"/>
              <a:buNone/>
            </a:pPr>
            <a:r>
              <a:rPr lang="en-US" dirty="0" smtClean="0"/>
              <a:t>The range </a:t>
            </a:r>
            <a:r>
              <a:rPr lang="en-US" dirty="0"/>
              <a:t>is between 100 and  180, which means weight gain is small in ADWG0021</a:t>
            </a:r>
            <a:r>
              <a:rPr lang="en-US" dirty="0" smtClean="0"/>
              <a:t>.</a:t>
            </a:r>
          </a:p>
          <a:p>
            <a:pPr marL="0" indent="0">
              <a:lnSpc>
                <a:spcPct val="150000"/>
              </a:lnSpc>
              <a:buSzPts val="1100"/>
              <a:buNone/>
            </a:pPr>
            <a:r>
              <a:rPr lang="en-US" dirty="0" smtClean="0"/>
              <a:t>The </a:t>
            </a:r>
            <a:r>
              <a:rPr lang="en-US" dirty="0"/>
              <a:t>graph is not normal.</a:t>
            </a:r>
          </a:p>
          <a:p>
            <a:pPr marL="285750" lvl="0" indent="-285750">
              <a:lnSpc>
                <a:spcPct val="150000"/>
              </a:lnSpc>
              <a:buSzPts val="1100"/>
              <a:buFont typeface="Arial" panose="020B0604020202020204" pitchFamily="34" charset="0"/>
              <a:buChar char="•"/>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363" y="2417921"/>
            <a:ext cx="3803073" cy="207414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3268" y="2263957"/>
            <a:ext cx="3653532" cy="1585102"/>
          </a:xfrm>
          <a:prstGeom prst="rect">
            <a:avLst/>
          </a:prstGeom>
        </p:spPr>
      </p:pic>
      <p:sp>
        <p:nvSpPr>
          <p:cNvPr id="6" name="Rectangle 5"/>
          <p:cNvSpPr/>
          <p:nvPr/>
        </p:nvSpPr>
        <p:spPr>
          <a:xfrm>
            <a:off x="4386998" y="3738584"/>
            <a:ext cx="4572000" cy="738664"/>
          </a:xfrm>
          <a:prstGeom prst="rect">
            <a:avLst/>
          </a:prstGeom>
        </p:spPr>
        <p:txBody>
          <a:bodyPr>
            <a:spAutoFit/>
          </a:bodyPr>
          <a:lstStyle/>
          <a:p>
            <a:r>
              <a:rPr lang="en-US" dirty="0">
                <a:latin typeface="Calibri" panose="020F0502020204030204" pitchFamily="34" charset="0"/>
                <a:cs typeface="Calibri" panose="020F0502020204030204" pitchFamily="34" charset="0"/>
              </a:rPr>
              <a:t>The p-value is 0.0395 </a:t>
            </a:r>
            <a:r>
              <a:rPr lang="en-US" dirty="0" smtClean="0">
                <a:latin typeface="Calibri" panose="020F0502020204030204" pitchFamily="34" charset="0"/>
                <a:cs typeface="Calibri" panose="020F0502020204030204" pitchFamily="34" charset="0"/>
              </a:rPr>
              <a:t>which is less than 0.05 so we have enough evidence to reject the </a:t>
            </a:r>
            <a:r>
              <a:rPr lang="en-US" dirty="0">
                <a:latin typeface="Calibri" panose="020F0502020204030204" pitchFamily="34" charset="0"/>
                <a:cs typeface="Calibri" panose="020F0502020204030204" pitchFamily="34" charset="0"/>
              </a:rPr>
              <a:t>null hypothesis which means that Treatment A is not normal.</a:t>
            </a:r>
            <a:endParaRPr lang="en-US" dirty="0"/>
          </a:p>
        </p:txBody>
      </p:sp>
    </p:spTree>
    <p:extLst>
      <p:ext uri="{BB962C8B-B14F-4D97-AF65-F5344CB8AC3E}">
        <p14:creationId xmlns:p14="http://schemas.microsoft.com/office/powerpoint/2010/main" val="21146654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5082"/>
            <a:ext cx="4468091" cy="5434445"/>
          </a:xfrm>
        </p:spPr>
        <p:txBody>
          <a:bodyPr/>
          <a:lstStyle/>
          <a:p>
            <a:r>
              <a:rPr lang="en-US" sz="1600" dirty="0" smtClean="0">
                <a:latin typeface="Calibri" panose="020F0502020204030204" pitchFamily="34" charset="0"/>
                <a:cs typeface="Calibri" panose="020F0502020204030204" pitchFamily="34" charset="0"/>
              </a:rPr>
              <a:t>We will check the homoscedasticity by using (Boxplot and </a:t>
            </a:r>
            <a:r>
              <a:rPr lang="en-US" sz="1600" dirty="0" err="1" smtClean="0">
                <a:latin typeface="Calibri" panose="020F0502020204030204" pitchFamily="34" charset="0"/>
                <a:cs typeface="Calibri" panose="020F0502020204030204" pitchFamily="34" charset="0"/>
              </a:rPr>
              <a:t>Levene</a:t>
            </a:r>
            <a:r>
              <a:rPr lang="en-US" sz="1600" dirty="0" smtClean="0">
                <a:latin typeface="Calibri" panose="020F0502020204030204" pitchFamily="34" charset="0"/>
                <a:cs typeface="Calibri" panose="020F0502020204030204" pitchFamily="34" charset="0"/>
              </a:rPr>
              <a:t> test)</a:t>
            </a:r>
            <a:br>
              <a:rPr lang="en-US" sz="1600" dirty="0" smtClean="0">
                <a:latin typeface="Calibri" panose="020F0502020204030204" pitchFamily="34" charset="0"/>
                <a:cs typeface="Calibri" panose="020F0502020204030204" pitchFamily="34" charset="0"/>
              </a:rPr>
            </a:br>
            <a:r>
              <a:rPr lang="en-US" sz="1600" b="1" dirty="0" smtClean="0">
                <a:latin typeface="Calibri" panose="020F0502020204030204" pitchFamily="34" charset="0"/>
                <a:cs typeface="Calibri" panose="020F0502020204030204" pitchFamily="34" charset="0"/>
              </a:rPr>
              <a:t>Assume normality</a:t>
            </a: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The P-value is 0.8968 </a:t>
            </a:r>
            <a:r>
              <a:rPr lang="en-US" sz="1600" dirty="0">
                <a:latin typeface="Calibri" panose="020F0502020204030204" pitchFamily="34" charset="0"/>
                <a:cs typeface="Calibri" panose="020F0502020204030204" pitchFamily="34" charset="0"/>
              </a:rPr>
              <a:t>which is greater than 0.05 so we do not have enough evidence to reject the null hypothesis so the data is homo variance.</a:t>
            </a: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endParaRPr lang="en-US" sz="1600" dirty="0">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04504"/>
            <a:ext cx="4123313" cy="724001"/>
          </a:xfrm>
          <a:prstGeom prst="rect">
            <a:avLst/>
          </a:prstGeom>
        </p:spPr>
      </p:pic>
      <p:sp>
        <p:nvSpPr>
          <p:cNvPr id="4" name="Rectangle 3"/>
          <p:cNvSpPr/>
          <p:nvPr/>
        </p:nvSpPr>
        <p:spPr>
          <a:xfrm>
            <a:off x="4572000" y="396789"/>
            <a:ext cx="4447309" cy="4616648"/>
          </a:xfrm>
          <a:prstGeom prst="rect">
            <a:avLst/>
          </a:prstGeom>
        </p:spPr>
        <p:txBody>
          <a:bodyPr wrap="square">
            <a:spAutoFit/>
          </a:bodyPr>
          <a:lstStyle/>
          <a:p>
            <a:r>
              <a:rPr lang="en-US" dirty="0" smtClean="0">
                <a:latin typeface="Times New Roman" panose="02020603050405020304" pitchFamily="18" charset="0"/>
              </a:rPr>
              <a:t>We will use the </a:t>
            </a:r>
            <a:r>
              <a:rPr lang="en-US" dirty="0" err="1" smtClean="0">
                <a:latin typeface="Times New Roman" panose="02020603050405020304" pitchFamily="18" charset="0"/>
              </a:rPr>
              <a:t>Kruskal</a:t>
            </a:r>
            <a:r>
              <a:rPr lang="en-US" dirty="0" smtClean="0">
                <a:latin typeface="Times New Roman" panose="02020603050405020304" pitchFamily="18" charset="0"/>
              </a:rPr>
              <a:t>-Wallis test because the data is not normal.</a:t>
            </a: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p>
          <a:p>
            <a:endParaRPr lang="en-US" dirty="0"/>
          </a:p>
          <a:p>
            <a:r>
              <a:rPr lang="en-US" dirty="0" smtClean="0"/>
              <a:t>p-value </a:t>
            </a:r>
            <a:r>
              <a:rPr lang="en-US" dirty="0"/>
              <a:t>= 0.09972, so we don’t have enough evidence to reject the null </a:t>
            </a:r>
            <a:r>
              <a:rPr lang="en-US" dirty="0" smtClean="0"/>
              <a:t>hypothesis, meaning </a:t>
            </a:r>
            <a:r>
              <a:rPr lang="en-US" dirty="0"/>
              <a:t>there is no difference between the treatments in </a:t>
            </a:r>
            <a:r>
              <a:rPr lang="en-US" dirty="0" smtClean="0"/>
              <a:t>ADWG0021( Not significant).</a:t>
            </a:r>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930" y="1403138"/>
            <a:ext cx="4336379" cy="714475"/>
          </a:xfrm>
          <a:prstGeom prst="rect">
            <a:avLst/>
          </a:prstGeom>
        </p:spPr>
      </p:pic>
    </p:spTree>
    <p:extLst>
      <p:ext uri="{BB962C8B-B14F-4D97-AF65-F5344CB8AC3E}">
        <p14:creationId xmlns:p14="http://schemas.microsoft.com/office/powerpoint/2010/main" val="36077486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11475"/>
            <a:ext cx="3345873" cy="741000"/>
          </a:xfrm>
        </p:spPr>
        <p:txBody>
          <a:bodyPr/>
          <a:lstStyle/>
          <a:p>
            <a:r>
              <a:rPr lang="en-US" sz="1800" dirty="0">
                <a:latin typeface="Calibri" panose="020F0502020204030204" pitchFamily="34" charset="0"/>
                <a:cs typeface="Calibri" panose="020F0502020204030204" pitchFamily="34" charset="0"/>
              </a:rPr>
              <a:t>We will (assume normality and homoscedasticity).</a:t>
            </a:r>
          </a:p>
        </p:txBody>
      </p:sp>
      <p:sp>
        <p:nvSpPr>
          <p:cNvPr id="3" name="Text Placeholder 2"/>
          <p:cNvSpPr>
            <a:spLocks noGrp="1"/>
          </p:cNvSpPr>
          <p:nvPr>
            <p:ph type="body" idx="1"/>
          </p:nvPr>
        </p:nvSpPr>
        <p:spPr>
          <a:xfrm>
            <a:off x="457200" y="1152475"/>
            <a:ext cx="3345873" cy="3416400"/>
          </a:xfrm>
        </p:spPr>
        <p:txBody>
          <a:bodyPr/>
          <a:lstStyle/>
          <a:p>
            <a:r>
              <a:rPr lang="en-US" dirty="0"/>
              <a:t>ADWG0021 is the dependent variable, treatment is the independent variable</a:t>
            </a:r>
            <a:r>
              <a:rPr lang="en-US" dirty="0" smtClean="0"/>
              <a:t>.</a:t>
            </a:r>
          </a:p>
          <a:p>
            <a:pPr marL="152400" indent="0">
              <a:buNone/>
            </a:pPr>
            <a:endParaRPr lang="en-US" dirty="0" smtClean="0"/>
          </a:p>
          <a:p>
            <a:pPr marL="152400" indent="0">
              <a:buNone/>
            </a:pPr>
            <a:endParaRPr lang="en-US" dirty="0"/>
          </a:p>
          <a:p>
            <a:pPr marL="152400" indent="0">
              <a:buNone/>
            </a:pPr>
            <a:endParaRPr lang="en-US" dirty="0" smtClean="0"/>
          </a:p>
          <a:p>
            <a:pPr marL="152400" indent="0">
              <a:buNone/>
            </a:pPr>
            <a:endParaRPr lang="en-US" dirty="0"/>
          </a:p>
          <a:p>
            <a:pPr marL="152400" indent="0">
              <a:buNone/>
            </a:pPr>
            <a:endParaRPr lang="en-US" dirty="0" smtClean="0"/>
          </a:p>
          <a:p>
            <a:pPr marL="152400" indent="0">
              <a:buNone/>
            </a:pPr>
            <a:endParaRPr lang="en-US" dirty="0"/>
          </a:p>
          <a:p>
            <a:pPr marL="152400" indent="0">
              <a:buNone/>
            </a:pPr>
            <a:r>
              <a:rPr lang="en-US" dirty="0"/>
              <a:t>p-value=0.101 which is greater than 0.05 so we do not have enough evidence to reject the null </a:t>
            </a:r>
            <a:r>
              <a:rPr lang="en-US" dirty="0" smtClean="0"/>
              <a:t>hypothesis which means that they are not significant.</a:t>
            </a:r>
            <a:endParaRPr lang="en-US" dirty="0"/>
          </a:p>
          <a:p>
            <a:pPr marL="15240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785891"/>
            <a:ext cx="3200400" cy="657317"/>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4302384" y="182707"/>
            <a:ext cx="4290897" cy="2986520"/>
          </a:xfrm>
          <a:prstGeom prst="rect">
            <a:avLst/>
          </a:prstGeom>
        </p:spPr>
      </p:pic>
      <p:sp>
        <p:nvSpPr>
          <p:cNvPr id="11" name="Rectangle 10"/>
          <p:cNvSpPr/>
          <p:nvPr/>
        </p:nvSpPr>
        <p:spPr>
          <a:xfrm>
            <a:off x="4021281" y="3353033"/>
            <a:ext cx="4572000" cy="1014380"/>
          </a:xfrm>
          <a:prstGeom prst="rect">
            <a:avLst/>
          </a:prstGeom>
        </p:spPr>
        <p:txBody>
          <a:bodyPr>
            <a:spAutoFit/>
          </a:bodyPr>
          <a:lstStyle/>
          <a:p>
            <a:pPr marL="457200">
              <a:lnSpc>
                <a:spcPct val="107000"/>
              </a:lnSpc>
              <a:spcAft>
                <a:spcPts val="800"/>
              </a:spcAft>
            </a:pPr>
            <a:r>
              <a:rPr lang="en-US" kern="100" dirty="0">
                <a:latin typeface="Times New Roman" panose="02020603050405020304" pitchFamily="18" charset="0"/>
                <a:ea typeface="Calibri" panose="020F0502020204030204" pitchFamily="34" charset="0"/>
                <a:cs typeface="Arial" panose="020B0604020202020204" pitchFamily="34" charset="0"/>
              </a:rPr>
              <a:t>B-A treatments have a p-value=0.0437 which is smaller than 0.05 so we have enough evidence to reject the null hypothesis </a:t>
            </a:r>
            <a:r>
              <a:rPr lang="en-US" kern="100" dirty="0" smtClean="0">
                <a:latin typeface="Times New Roman" panose="02020603050405020304" pitchFamily="18" charset="0"/>
                <a:ea typeface="Calibri" panose="020F0502020204030204" pitchFamily="34" charset="0"/>
                <a:cs typeface="Arial" panose="020B0604020202020204" pitchFamily="34" charset="0"/>
              </a:rPr>
              <a:t>the </a:t>
            </a:r>
            <a:r>
              <a:rPr lang="en-US" kern="100" dirty="0">
                <a:latin typeface="Times New Roman" panose="02020603050405020304" pitchFamily="18" charset="0"/>
                <a:ea typeface="Calibri" panose="020F0502020204030204" pitchFamily="34" charset="0"/>
                <a:cs typeface="Arial" panose="020B0604020202020204" pitchFamily="34" charset="0"/>
              </a:rPr>
              <a:t>data is not normal and B-A treatments </a:t>
            </a:r>
            <a:r>
              <a:rPr lang="en-US" kern="100" dirty="0" smtClean="0">
                <a:latin typeface="Times New Roman" panose="02020603050405020304" pitchFamily="18" charset="0"/>
                <a:ea typeface="Calibri" panose="020F0502020204030204" pitchFamily="34" charset="0"/>
                <a:cs typeface="Arial" panose="020B0604020202020204" pitchFamily="34" charset="0"/>
              </a:rPr>
              <a:t>are </a:t>
            </a:r>
            <a:r>
              <a:rPr lang="en-US" kern="100" dirty="0">
                <a:latin typeface="Times New Roman" panose="02020603050405020304" pitchFamily="18" charset="0"/>
                <a:ea typeface="Calibri" panose="020F0502020204030204" pitchFamily="34" charset="0"/>
                <a:cs typeface="Arial" panose="020B0604020202020204" pitchFamily="34" charset="0"/>
              </a:rPr>
              <a:t>different in ADWG0021.</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9658644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Model</a:t>
            </a:r>
            <a:endParaRPr lang="en-US" dirty="0"/>
          </a:p>
        </p:txBody>
      </p:sp>
      <p:sp>
        <p:nvSpPr>
          <p:cNvPr id="3" name="Text Placeholder 2"/>
          <p:cNvSpPr>
            <a:spLocks noGrp="1"/>
          </p:cNvSpPr>
          <p:nvPr>
            <p:ph type="body" idx="1"/>
          </p:nvPr>
        </p:nvSpPr>
        <p:spPr>
          <a:xfrm>
            <a:off x="457200" y="1152475"/>
            <a:ext cx="4759036" cy="3523434"/>
          </a:xfrm>
        </p:spPr>
        <p:txBody>
          <a:bodyPr/>
          <a:lstStyle/>
          <a:p>
            <a:r>
              <a:rPr lang="en-US" dirty="0"/>
              <a:t>Fit a linear regression to the data and interpret the regression </a:t>
            </a:r>
            <a:r>
              <a:rPr lang="en-US" dirty="0" smtClean="0"/>
              <a:t>coefficient.</a:t>
            </a:r>
          </a:p>
          <a:p>
            <a:r>
              <a:rPr lang="en-US" b="1" dirty="0"/>
              <a:t>Null hypothesis: </a:t>
            </a:r>
            <a:r>
              <a:rPr lang="en-US" dirty="0"/>
              <a:t>the slope equals </a:t>
            </a:r>
            <a:r>
              <a:rPr lang="en-US" dirty="0" smtClean="0"/>
              <a:t>zero, meaning </a:t>
            </a:r>
            <a:r>
              <a:rPr lang="en-US" dirty="0"/>
              <a:t>y cannot be predicted by x. </a:t>
            </a:r>
          </a:p>
          <a:p>
            <a:r>
              <a:rPr lang="en-US" b="1" dirty="0"/>
              <a:t>Alternative hypothesis: </a:t>
            </a:r>
            <a:r>
              <a:rPr lang="en-US" dirty="0"/>
              <a:t>the slope is not equal </a:t>
            </a:r>
            <a:r>
              <a:rPr lang="en-US" dirty="0" smtClean="0"/>
              <a:t>to zero, meaning </a:t>
            </a:r>
            <a:r>
              <a:rPr lang="en-US" dirty="0"/>
              <a:t>y can be predicted by </a:t>
            </a:r>
            <a:r>
              <a:rPr lang="en-US" dirty="0" smtClean="0"/>
              <a:t>x</a:t>
            </a:r>
          </a:p>
          <a:p>
            <a:r>
              <a:rPr lang="en-US" dirty="0"/>
              <a:t>Here we measure the variance in the dependent variable (ADWG0021) (response) that can be predicted by the independent variable (Sex) (Explanatory) </a:t>
            </a:r>
            <a:r>
              <a:rPr lang="en-US" dirty="0" smtClean="0"/>
              <a:t>which </a:t>
            </a:r>
            <a:r>
              <a:rPr lang="en-US" dirty="0"/>
              <a:t>means we have only one explanatory variable so this is a simple linear regression. We will use the multiple R-squared to know the percentage of Y being able to predict X, which equals 0.2579%.</a:t>
            </a:r>
          </a:p>
          <a:p>
            <a:r>
              <a:rPr lang="en-US" dirty="0"/>
              <a:t>The p–value=0.7557 which is greater than the significance level 0.05 so we do not have enough evidence to reject the null hypothesis (not significant), so Y can’t be predicted by X</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6236" y="1955886"/>
            <a:ext cx="3917374" cy="2467517"/>
          </a:xfrm>
          <a:prstGeom prst="rect">
            <a:avLst/>
          </a:prstGeom>
        </p:spPr>
      </p:pic>
    </p:spTree>
    <p:extLst>
      <p:ext uri="{BB962C8B-B14F-4D97-AF65-F5344CB8AC3E}">
        <p14:creationId xmlns:p14="http://schemas.microsoft.com/office/powerpoint/2010/main" val="8695013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a:latin typeface="Calibri" panose="020F0502020204030204" pitchFamily="34" charset="0"/>
                <a:cs typeface="Calibri" panose="020F0502020204030204" pitchFamily="34" charset="0"/>
              </a:rPr>
              <a:t>There is no linear relationship between the explanatory variable (sex) with the response variable (ADWG0021) the regression line is horizontal </a:t>
            </a:r>
            <a:r>
              <a:rPr lang="en-US" sz="1600" dirty="0" smtClean="0">
                <a:latin typeface="Calibri" panose="020F0502020204030204" pitchFamily="34" charset="0"/>
                <a:cs typeface="Calibri" panose="020F0502020204030204" pitchFamily="34" charset="0"/>
              </a:rPr>
              <a:t>and seems </a:t>
            </a:r>
            <a:r>
              <a:rPr lang="en-US" sz="1600" dirty="0">
                <a:latin typeface="Calibri" panose="020F0502020204030204" pitchFamily="34" charset="0"/>
                <a:cs typeface="Calibri" panose="020F0502020204030204" pitchFamily="34" charset="0"/>
              </a:rPr>
              <a:t>to be zero so y (ADWG0021) can't be predicted by x (sex</a:t>
            </a:r>
            <a:r>
              <a:rPr lang="en-US" sz="1600" dirty="0" smtClean="0">
                <a:latin typeface="Calibri" panose="020F0502020204030204" pitchFamily="34" charset="0"/>
                <a:cs typeface="Calibri" panose="020F0502020204030204" pitchFamily="34" charset="0"/>
              </a:rPr>
              <a:t>).</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
            </a:r>
            <a:br>
              <a:rPr lang="en-US" sz="1600" dirty="0">
                <a:latin typeface="Calibri" panose="020F0502020204030204" pitchFamily="34" charset="0"/>
                <a:cs typeface="Calibri" panose="020F0502020204030204" pitchFamily="34" charset="0"/>
              </a:rPr>
            </a:br>
            <a:r>
              <a:rPr lang="en-US" sz="1600" dirty="0" smtClean="0">
                <a:latin typeface="Calibri" panose="020F0502020204030204" pitchFamily="34" charset="0"/>
                <a:cs typeface="Calibri" panose="020F0502020204030204" pitchFamily="34" charset="0"/>
              </a:rPr>
              <a:t/>
            </a:r>
            <a:br>
              <a:rPr lang="en-US" sz="1600" dirty="0" smtClean="0">
                <a:latin typeface="Calibri" panose="020F0502020204030204" pitchFamily="34" charset="0"/>
                <a:cs typeface="Calibri" panose="020F0502020204030204" pitchFamily="34" charset="0"/>
              </a:rPr>
            </a:br>
            <a:endParaRPr lang="en-US" sz="16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565" y="1361210"/>
            <a:ext cx="4589169" cy="3095857"/>
          </a:xfrm>
          <a:prstGeom prst="rect">
            <a:avLst/>
          </a:prstGeom>
        </p:spPr>
      </p:pic>
    </p:spTree>
    <p:extLst>
      <p:ext uri="{BB962C8B-B14F-4D97-AF65-F5344CB8AC3E}">
        <p14:creationId xmlns:p14="http://schemas.microsoft.com/office/powerpoint/2010/main" val="14222494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9" name="Google Shape;129;p28"/>
          <p:cNvSpPr txBox="1">
            <a:spLocks noGrp="1"/>
          </p:cNvSpPr>
          <p:nvPr>
            <p:ph type="title"/>
          </p:nvPr>
        </p:nvSpPr>
        <p:spPr>
          <a:xfrm>
            <a:off x="251460" y="644066"/>
            <a:ext cx="822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400" dirty="0"/>
              <a:t>Calculate 95% confidence interval of the regression slope.</a:t>
            </a:r>
          </a:p>
        </p:txBody>
      </p:sp>
      <p:grpSp>
        <p:nvGrpSpPr>
          <p:cNvPr id="3" name="Google Shape;1037;p48">
            <a:extLst>
              <a:ext uri="{FF2B5EF4-FFF2-40B4-BE49-F238E27FC236}">
                <a16:creationId xmlns:a16="http://schemas.microsoft.com/office/drawing/2014/main" xmlns="" id="{9C8B0550-ABB0-3EA5-4B0D-0098CBA2C694}"/>
              </a:ext>
            </a:extLst>
          </p:cNvPr>
          <p:cNvGrpSpPr/>
          <p:nvPr/>
        </p:nvGrpSpPr>
        <p:grpSpPr>
          <a:xfrm>
            <a:off x="6662809" y="1515364"/>
            <a:ext cx="1068000" cy="1237606"/>
            <a:chOff x="7362773" y="1327844"/>
            <a:chExt cx="1068000" cy="1237606"/>
          </a:xfrm>
        </p:grpSpPr>
        <p:sp>
          <p:nvSpPr>
            <p:cNvPr id="4" name="Google Shape;1038;p48">
              <a:extLst>
                <a:ext uri="{FF2B5EF4-FFF2-40B4-BE49-F238E27FC236}">
                  <a16:creationId xmlns:a16="http://schemas.microsoft.com/office/drawing/2014/main" xmlns="" id="{6B89A3F1-575A-AA08-5CA3-0C2DADAA5529}"/>
                </a:ext>
              </a:extLst>
            </p:cNvPr>
            <p:cNvSpPr txBox="1"/>
            <p:nvPr/>
          </p:nvSpPr>
          <p:spPr>
            <a:xfrm>
              <a:off x="7362773" y="2132550"/>
              <a:ext cx="1068000" cy="43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Condensed SemiBold"/>
                  <a:ea typeface="Fira Sans Condensed SemiBold"/>
                  <a:cs typeface="Fira Sans Condensed SemiBold"/>
                  <a:sym typeface="Fira Sans Condensed SemiBold"/>
                </a:rPr>
                <a:t>97.5%</a:t>
              </a:r>
              <a:endParaRPr sz="2500" dirty="0">
                <a:solidFill>
                  <a:schemeClr val="dk1"/>
                </a:solidFill>
                <a:latin typeface="Fira Sans Condensed SemiBold"/>
                <a:ea typeface="Fira Sans Condensed SemiBold"/>
                <a:cs typeface="Fira Sans Condensed SemiBold"/>
                <a:sym typeface="Fira Sans Condensed SemiBold"/>
              </a:endParaRPr>
            </a:p>
          </p:txBody>
        </p:sp>
        <p:sp>
          <p:nvSpPr>
            <p:cNvPr id="5" name="Google Shape;1039;p48">
              <a:extLst>
                <a:ext uri="{FF2B5EF4-FFF2-40B4-BE49-F238E27FC236}">
                  <a16:creationId xmlns:a16="http://schemas.microsoft.com/office/drawing/2014/main" xmlns="" id="{41DD56D1-79AC-38D2-EA9C-70801622D23A}"/>
                </a:ext>
              </a:extLst>
            </p:cNvPr>
            <p:cNvSpPr/>
            <p:nvPr/>
          </p:nvSpPr>
          <p:spPr>
            <a:xfrm>
              <a:off x="7492926" y="1328081"/>
              <a:ext cx="805800" cy="805800"/>
            </a:xfrm>
            <a:prstGeom prst="pie">
              <a:avLst>
                <a:gd name="adj1" fmla="val 16304128"/>
                <a:gd name="adj2" fmla="val 13699642"/>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40;p48">
              <a:extLst>
                <a:ext uri="{FF2B5EF4-FFF2-40B4-BE49-F238E27FC236}">
                  <a16:creationId xmlns:a16="http://schemas.microsoft.com/office/drawing/2014/main" xmlns="" id="{6D24C3CF-EFB3-A950-E5D4-0975C336BCDE}"/>
                </a:ext>
              </a:extLst>
            </p:cNvPr>
            <p:cNvSpPr/>
            <p:nvPr/>
          </p:nvSpPr>
          <p:spPr>
            <a:xfrm>
              <a:off x="7492926" y="1327844"/>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noFill/>
            <a:ln w="19050" cap="flat" cmpd="sng">
              <a:solidFill>
                <a:schemeClr val="dk1"/>
              </a:solidFill>
              <a:prstDash val="solid"/>
              <a:round/>
              <a:headEnd type="none" w="med" len="med"/>
              <a:tailEnd type="none" w="med" len="med"/>
            </a:ln>
          </p:spPr>
        </p:sp>
      </p:grpSp>
      <p:sp>
        <p:nvSpPr>
          <p:cNvPr id="8" name="Google Shape;172;p29">
            <a:extLst>
              <a:ext uri="{FF2B5EF4-FFF2-40B4-BE49-F238E27FC236}">
                <a16:creationId xmlns:a16="http://schemas.microsoft.com/office/drawing/2014/main" xmlns="" id="{FC7A3B69-FD5C-BF2E-564E-3937B5E24924}"/>
              </a:ext>
            </a:extLst>
          </p:cNvPr>
          <p:cNvSpPr/>
          <p:nvPr/>
        </p:nvSpPr>
        <p:spPr>
          <a:xfrm>
            <a:off x="1166097" y="1500862"/>
            <a:ext cx="805800" cy="805800"/>
          </a:xfrm>
          <a:prstGeom prst="pie">
            <a:avLst>
              <a:gd name="adj1" fmla="val 16304128"/>
              <a:gd name="adj2" fmla="val 2157612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6;p29">
            <a:extLst>
              <a:ext uri="{FF2B5EF4-FFF2-40B4-BE49-F238E27FC236}">
                <a16:creationId xmlns:a16="http://schemas.microsoft.com/office/drawing/2014/main" xmlns="" id="{3B308008-59A7-47A4-701E-7F7A70E099B5}"/>
              </a:ext>
            </a:extLst>
          </p:cNvPr>
          <p:cNvSpPr txBox="1"/>
          <p:nvPr/>
        </p:nvSpPr>
        <p:spPr>
          <a:xfrm>
            <a:off x="1174411" y="2333342"/>
            <a:ext cx="815400" cy="43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dk1"/>
                </a:solidFill>
                <a:latin typeface="Fira Sans Condensed SemiBold"/>
                <a:ea typeface="Fira Sans Condensed SemiBold"/>
                <a:cs typeface="Fira Sans Condensed SemiBold"/>
                <a:sym typeface="Fira Sans Condensed SemiBold"/>
              </a:rPr>
              <a:t>2.5%</a:t>
            </a:r>
            <a:endParaRPr sz="2500" dirty="0">
              <a:solidFill>
                <a:schemeClr val="dk1"/>
              </a:solidFill>
              <a:latin typeface="Fira Sans Condensed SemiBold"/>
              <a:ea typeface="Fira Sans Condensed SemiBold"/>
              <a:cs typeface="Fira Sans Condensed SemiBold"/>
              <a:sym typeface="Fira Sans Condensed SemiBold"/>
            </a:endParaRPr>
          </a:p>
        </p:txBody>
      </p:sp>
      <p:sp>
        <p:nvSpPr>
          <p:cNvPr id="10" name="Google Shape;188;p29">
            <a:extLst>
              <a:ext uri="{FF2B5EF4-FFF2-40B4-BE49-F238E27FC236}">
                <a16:creationId xmlns:a16="http://schemas.microsoft.com/office/drawing/2014/main" xmlns="" id="{DBBF0CBF-B4A7-7981-A884-E05BFC67C260}"/>
              </a:ext>
            </a:extLst>
          </p:cNvPr>
          <p:cNvSpPr/>
          <p:nvPr/>
        </p:nvSpPr>
        <p:spPr>
          <a:xfrm>
            <a:off x="1174411" y="1490949"/>
            <a:ext cx="807700" cy="806275"/>
          </a:xfrm>
          <a:custGeom>
            <a:avLst/>
            <a:gdLst/>
            <a:ahLst/>
            <a:cxnLst/>
            <a:rect l="l" t="t" r="r" b="b"/>
            <a:pathLst>
              <a:path w="32308" h="32251" extrusionOk="0">
                <a:moveTo>
                  <a:pt x="16978" y="15"/>
                </a:moveTo>
                <a:cubicBezTo>
                  <a:pt x="20572" y="74"/>
                  <a:pt x="24019" y="1577"/>
                  <a:pt x="26523" y="3727"/>
                </a:cubicBezTo>
                <a:cubicBezTo>
                  <a:pt x="29027" y="5878"/>
                  <a:pt x="31325" y="9530"/>
                  <a:pt x="32002" y="12918"/>
                </a:cubicBezTo>
                <a:cubicBezTo>
                  <a:pt x="32680" y="16306"/>
                  <a:pt x="32149" y="21048"/>
                  <a:pt x="30588" y="24053"/>
                </a:cubicBezTo>
                <a:cubicBezTo>
                  <a:pt x="29027" y="27058"/>
                  <a:pt x="25963" y="29680"/>
                  <a:pt x="22634" y="30947"/>
                </a:cubicBezTo>
                <a:cubicBezTo>
                  <a:pt x="19305" y="32214"/>
                  <a:pt x="14062" y="32715"/>
                  <a:pt x="10615" y="31654"/>
                </a:cubicBezTo>
                <a:cubicBezTo>
                  <a:pt x="7168" y="30594"/>
                  <a:pt x="3692" y="27559"/>
                  <a:pt x="1954" y="24584"/>
                </a:cubicBezTo>
                <a:cubicBezTo>
                  <a:pt x="216" y="21609"/>
                  <a:pt x="-315" y="17337"/>
                  <a:pt x="186" y="13802"/>
                </a:cubicBezTo>
                <a:cubicBezTo>
                  <a:pt x="687" y="10267"/>
                  <a:pt x="2160" y="5671"/>
                  <a:pt x="4959" y="3373"/>
                </a:cubicBezTo>
                <a:cubicBezTo>
                  <a:pt x="7758" y="1075"/>
                  <a:pt x="13384" y="-44"/>
                  <a:pt x="16978" y="15"/>
                </a:cubicBezTo>
                <a:close/>
              </a:path>
            </a:pathLst>
          </a:custGeom>
          <a:noFill/>
          <a:ln w="19050" cap="flat" cmpd="sng">
            <a:solidFill>
              <a:schemeClr val="dk1"/>
            </a:solidFill>
            <a:prstDash val="solid"/>
            <a:round/>
            <a:headEnd type="none" w="med" len="med"/>
            <a:tailEnd type="none" w="med" len="med"/>
          </a:ln>
        </p:spPr>
      </p:sp>
      <p:sp>
        <p:nvSpPr>
          <p:cNvPr id="11" name="TextBox 10">
            <a:extLst>
              <a:ext uri="{FF2B5EF4-FFF2-40B4-BE49-F238E27FC236}">
                <a16:creationId xmlns:a16="http://schemas.microsoft.com/office/drawing/2014/main" xmlns="" id="{F5040E16-3FA0-2134-2A58-3F3E0121148C}"/>
              </a:ext>
            </a:extLst>
          </p:cNvPr>
          <p:cNvSpPr txBox="1"/>
          <p:nvPr/>
        </p:nvSpPr>
        <p:spPr>
          <a:xfrm>
            <a:off x="1342865" y="3035439"/>
            <a:ext cx="6458269" cy="16682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t>I</a:t>
            </a:r>
            <a:r>
              <a:rPr lang="en-US" dirty="0"/>
              <a:t>nterval is estimated to be between -14.31805 and 10.47877. </a:t>
            </a:r>
          </a:p>
          <a:p>
            <a:pPr marL="285750" indent="-285750">
              <a:lnSpc>
                <a:spcPct val="150000"/>
              </a:lnSpc>
              <a:buFont typeface="Arial" panose="020B0604020202020204" pitchFamily="34" charset="0"/>
              <a:buChar char="•"/>
            </a:pPr>
            <a:r>
              <a:rPr lang="en-US" dirty="0"/>
              <a:t>Null= Y( ADWG0021) can’t be predicted by X (Sex), slope = 0.</a:t>
            </a:r>
          </a:p>
          <a:p>
            <a:pPr marL="285750" indent="-285750">
              <a:lnSpc>
                <a:spcPct val="150000"/>
              </a:lnSpc>
              <a:buFont typeface="Arial" panose="020B0604020202020204" pitchFamily="34" charset="0"/>
              <a:buChar char="•"/>
            </a:pPr>
            <a:r>
              <a:rPr lang="en-US" dirty="0"/>
              <a:t>Alternative= Y( ADWG0021) can be predicted by X (Sex), slope != 0.</a:t>
            </a:r>
          </a:p>
          <a:p>
            <a:pPr marL="285750" indent="-285750">
              <a:lnSpc>
                <a:spcPct val="150000"/>
              </a:lnSpc>
              <a:buFont typeface="Arial" panose="020B0604020202020204" pitchFamily="34" charset="0"/>
              <a:buChar char="•"/>
            </a:pPr>
            <a:r>
              <a:rPr lang="en-US" dirty="0"/>
              <a:t>Since value of slope can be zero, this means that we don’t have enough evidence to reject the null (Y cannot be predicted by x)</a:t>
            </a:r>
          </a:p>
        </p:txBody>
      </p:sp>
      <p:pic>
        <p:nvPicPr>
          <p:cNvPr id="17" name="Picture 16" descr="A screenshot of a computer&#10;&#10;Description automatically generated">
            <a:extLst>
              <a:ext uri="{FF2B5EF4-FFF2-40B4-BE49-F238E27FC236}">
                <a16:creationId xmlns:a16="http://schemas.microsoft.com/office/drawing/2014/main" xmlns="" id="{92570514-9E65-D46E-5629-4278F9C606DB}"/>
              </a:ext>
            </a:extLst>
          </p:cNvPr>
          <p:cNvPicPr>
            <a:picLocks noChangeAspect="1"/>
          </p:cNvPicPr>
          <p:nvPr/>
        </p:nvPicPr>
        <p:blipFill rotWithShape="1">
          <a:blip r:embed="rId3"/>
          <a:srcRect t="83111" r="67667" b="8473"/>
          <a:stretch/>
        </p:blipFill>
        <p:spPr>
          <a:xfrm>
            <a:off x="2545080" y="1682727"/>
            <a:ext cx="3436620" cy="80627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9" name="Google Shape;129;p28"/>
          <p:cNvSpPr txBox="1">
            <a:spLocks noGrp="1"/>
          </p:cNvSpPr>
          <p:nvPr>
            <p:ph type="title"/>
          </p:nvPr>
        </p:nvSpPr>
        <p:spPr>
          <a:xfrm>
            <a:off x="167640" y="153497"/>
            <a:ext cx="861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400" dirty="0"/>
              <a:t>Estimating the average ADWG0021 changes with changing the gender from Female to Male.</a:t>
            </a:r>
          </a:p>
        </p:txBody>
      </p:sp>
      <p:sp>
        <p:nvSpPr>
          <p:cNvPr id="2" name="Google Shape;914;p45">
            <a:extLst>
              <a:ext uri="{FF2B5EF4-FFF2-40B4-BE49-F238E27FC236}">
                <a16:creationId xmlns:a16="http://schemas.microsoft.com/office/drawing/2014/main" xmlns="" id="{46897D5E-FD2F-5C81-111E-AF6BC8D17B80}"/>
              </a:ext>
            </a:extLst>
          </p:cNvPr>
          <p:cNvSpPr/>
          <p:nvPr/>
        </p:nvSpPr>
        <p:spPr>
          <a:xfrm rot="5101855">
            <a:off x="821984" y="2421786"/>
            <a:ext cx="2556761" cy="1352805"/>
          </a:xfrm>
          <a:custGeom>
            <a:avLst/>
            <a:gdLst/>
            <a:ahLst/>
            <a:cxnLst/>
            <a:rect l="l" t="t" r="r" b="b"/>
            <a:pathLst>
              <a:path w="39421" h="20858" extrusionOk="0">
                <a:moveTo>
                  <a:pt x="38614" y="463"/>
                </a:moveTo>
                <a:cubicBezTo>
                  <a:pt x="38700" y="463"/>
                  <a:pt x="38762" y="475"/>
                  <a:pt x="38793" y="502"/>
                </a:cubicBezTo>
                <a:cubicBezTo>
                  <a:pt x="39421" y="1004"/>
                  <a:pt x="38144" y="3662"/>
                  <a:pt x="37935" y="4269"/>
                </a:cubicBezTo>
                <a:cubicBezTo>
                  <a:pt x="37433" y="5691"/>
                  <a:pt x="36931" y="7093"/>
                  <a:pt x="36408" y="8537"/>
                </a:cubicBezTo>
                <a:cubicBezTo>
                  <a:pt x="35654" y="7846"/>
                  <a:pt x="34985" y="7156"/>
                  <a:pt x="34315" y="6361"/>
                </a:cubicBezTo>
                <a:cubicBezTo>
                  <a:pt x="34294" y="6319"/>
                  <a:pt x="34253" y="6319"/>
                  <a:pt x="34211" y="6319"/>
                </a:cubicBezTo>
                <a:cubicBezTo>
                  <a:pt x="34190" y="6277"/>
                  <a:pt x="34148" y="6256"/>
                  <a:pt x="34106" y="6235"/>
                </a:cubicBezTo>
                <a:cubicBezTo>
                  <a:pt x="34074" y="6216"/>
                  <a:pt x="34042" y="6208"/>
                  <a:pt x="34011" y="6208"/>
                </a:cubicBezTo>
                <a:cubicBezTo>
                  <a:pt x="33842" y="6208"/>
                  <a:pt x="33720" y="6464"/>
                  <a:pt x="33897" y="6570"/>
                </a:cubicBezTo>
                <a:cubicBezTo>
                  <a:pt x="33939" y="6591"/>
                  <a:pt x="30005" y="10336"/>
                  <a:pt x="29649" y="10671"/>
                </a:cubicBezTo>
                <a:cubicBezTo>
                  <a:pt x="28247" y="11906"/>
                  <a:pt x="26867" y="13077"/>
                  <a:pt x="25423" y="14249"/>
                </a:cubicBezTo>
                <a:cubicBezTo>
                  <a:pt x="24753" y="14814"/>
                  <a:pt x="24063" y="15358"/>
                  <a:pt x="23372" y="15902"/>
                </a:cubicBezTo>
                <a:cubicBezTo>
                  <a:pt x="22837" y="16303"/>
                  <a:pt x="21638" y="17613"/>
                  <a:pt x="20829" y="17613"/>
                </a:cubicBezTo>
                <a:cubicBezTo>
                  <a:pt x="20752" y="17613"/>
                  <a:pt x="20679" y="17601"/>
                  <a:pt x="20610" y="17576"/>
                </a:cubicBezTo>
                <a:cubicBezTo>
                  <a:pt x="20359" y="17513"/>
                  <a:pt x="19773" y="16718"/>
                  <a:pt x="19606" y="16509"/>
                </a:cubicBezTo>
                <a:lnTo>
                  <a:pt x="16530" y="13287"/>
                </a:lnTo>
                <a:cubicBezTo>
                  <a:pt x="16499" y="13245"/>
                  <a:pt x="16447" y="13224"/>
                  <a:pt x="16394" y="13224"/>
                </a:cubicBezTo>
                <a:cubicBezTo>
                  <a:pt x="16342" y="13224"/>
                  <a:pt x="16290" y="13245"/>
                  <a:pt x="16258" y="13287"/>
                </a:cubicBezTo>
                <a:lnTo>
                  <a:pt x="11781" y="17994"/>
                </a:lnTo>
                <a:cubicBezTo>
                  <a:pt x="11273" y="18543"/>
                  <a:pt x="10409" y="19881"/>
                  <a:pt x="9632" y="19881"/>
                </a:cubicBezTo>
                <a:cubicBezTo>
                  <a:pt x="9609" y="19881"/>
                  <a:pt x="9586" y="19880"/>
                  <a:pt x="9563" y="19878"/>
                </a:cubicBezTo>
                <a:cubicBezTo>
                  <a:pt x="9249" y="19857"/>
                  <a:pt x="8726" y="19271"/>
                  <a:pt x="8433" y="19103"/>
                </a:cubicBezTo>
                <a:cubicBezTo>
                  <a:pt x="7826" y="18664"/>
                  <a:pt x="7219" y="18183"/>
                  <a:pt x="6654" y="17743"/>
                </a:cubicBezTo>
                <a:cubicBezTo>
                  <a:pt x="6612" y="17701"/>
                  <a:pt x="6565" y="17681"/>
                  <a:pt x="6516" y="17681"/>
                </a:cubicBezTo>
                <a:cubicBezTo>
                  <a:pt x="6466" y="17681"/>
                  <a:pt x="6414" y="17701"/>
                  <a:pt x="6361" y="17743"/>
                </a:cubicBezTo>
                <a:cubicBezTo>
                  <a:pt x="5922" y="18141"/>
                  <a:pt x="5504" y="18518"/>
                  <a:pt x="5085" y="18936"/>
                </a:cubicBezTo>
                <a:cubicBezTo>
                  <a:pt x="4792" y="19208"/>
                  <a:pt x="4206" y="20129"/>
                  <a:pt x="3851" y="20233"/>
                </a:cubicBezTo>
                <a:cubicBezTo>
                  <a:pt x="3789" y="20253"/>
                  <a:pt x="3726" y="20262"/>
                  <a:pt x="3661" y="20262"/>
                </a:cubicBezTo>
                <a:cubicBezTo>
                  <a:pt x="3040" y="20262"/>
                  <a:pt x="2282" y="19427"/>
                  <a:pt x="1884" y="19124"/>
                </a:cubicBezTo>
                <a:lnTo>
                  <a:pt x="482" y="17953"/>
                </a:lnTo>
                <a:cubicBezTo>
                  <a:pt x="1884" y="16718"/>
                  <a:pt x="3223" y="15442"/>
                  <a:pt x="4499" y="14061"/>
                </a:cubicBezTo>
                <a:cubicBezTo>
                  <a:pt x="4793" y="13728"/>
                  <a:pt x="4995" y="13322"/>
                  <a:pt x="5447" y="13322"/>
                </a:cubicBezTo>
                <a:cubicBezTo>
                  <a:pt x="5479" y="13322"/>
                  <a:pt x="5511" y="13324"/>
                  <a:pt x="5545" y="13328"/>
                </a:cubicBezTo>
                <a:cubicBezTo>
                  <a:pt x="5859" y="13349"/>
                  <a:pt x="6487" y="14082"/>
                  <a:pt x="6717" y="14249"/>
                </a:cubicBezTo>
                <a:lnTo>
                  <a:pt x="9081" y="16132"/>
                </a:lnTo>
                <a:cubicBezTo>
                  <a:pt x="9123" y="16174"/>
                  <a:pt x="9170" y="16195"/>
                  <a:pt x="9220" y="16195"/>
                </a:cubicBezTo>
                <a:cubicBezTo>
                  <a:pt x="9270" y="16195"/>
                  <a:pt x="9322" y="16174"/>
                  <a:pt x="9374" y="16132"/>
                </a:cubicBezTo>
                <a:lnTo>
                  <a:pt x="14856" y="10734"/>
                </a:lnTo>
                <a:cubicBezTo>
                  <a:pt x="15212" y="10378"/>
                  <a:pt x="15672" y="9709"/>
                  <a:pt x="16091" y="9499"/>
                </a:cubicBezTo>
                <a:cubicBezTo>
                  <a:pt x="16336" y="9384"/>
                  <a:pt x="16555" y="9335"/>
                  <a:pt x="16755" y="9335"/>
                </a:cubicBezTo>
                <a:cubicBezTo>
                  <a:pt x="17457" y="9335"/>
                  <a:pt x="17922" y="9943"/>
                  <a:pt x="18476" y="10399"/>
                </a:cubicBezTo>
                <a:lnTo>
                  <a:pt x="21447" y="12910"/>
                </a:lnTo>
                <a:cubicBezTo>
                  <a:pt x="21485" y="12948"/>
                  <a:pt x="21528" y="12964"/>
                  <a:pt x="21571" y="12964"/>
                </a:cubicBezTo>
                <a:cubicBezTo>
                  <a:pt x="21647" y="12964"/>
                  <a:pt x="21721" y="12914"/>
                  <a:pt x="21761" y="12847"/>
                </a:cubicBezTo>
                <a:cubicBezTo>
                  <a:pt x="21787" y="12856"/>
                  <a:pt x="21817" y="12861"/>
                  <a:pt x="21847" y="12861"/>
                </a:cubicBezTo>
                <a:cubicBezTo>
                  <a:pt x="21890" y="12861"/>
                  <a:pt x="21934" y="12851"/>
                  <a:pt x="21970" y="12826"/>
                </a:cubicBezTo>
                <a:cubicBezTo>
                  <a:pt x="25486" y="10023"/>
                  <a:pt x="28854" y="7072"/>
                  <a:pt x="32118" y="3976"/>
                </a:cubicBezTo>
                <a:cubicBezTo>
                  <a:pt x="32202" y="3913"/>
                  <a:pt x="32202" y="3829"/>
                  <a:pt x="32160" y="3766"/>
                </a:cubicBezTo>
                <a:cubicBezTo>
                  <a:pt x="32160" y="3725"/>
                  <a:pt x="32118" y="3662"/>
                  <a:pt x="32056" y="3620"/>
                </a:cubicBezTo>
                <a:cubicBezTo>
                  <a:pt x="31365" y="3285"/>
                  <a:pt x="30758" y="2867"/>
                  <a:pt x="30193" y="2364"/>
                </a:cubicBezTo>
                <a:cubicBezTo>
                  <a:pt x="31553" y="2051"/>
                  <a:pt x="32913" y="1737"/>
                  <a:pt x="34294" y="1423"/>
                </a:cubicBezTo>
                <a:cubicBezTo>
                  <a:pt x="35027" y="1256"/>
                  <a:pt x="35780" y="1109"/>
                  <a:pt x="36554" y="942"/>
                </a:cubicBezTo>
                <a:cubicBezTo>
                  <a:pt x="36822" y="870"/>
                  <a:pt x="38113" y="463"/>
                  <a:pt x="38614" y="463"/>
                </a:cubicBezTo>
                <a:close/>
                <a:moveTo>
                  <a:pt x="39170" y="0"/>
                </a:moveTo>
                <a:cubicBezTo>
                  <a:pt x="35989" y="628"/>
                  <a:pt x="32851" y="1318"/>
                  <a:pt x="29712" y="2051"/>
                </a:cubicBezTo>
                <a:cubicBezTo>
                  <a:pt x="29587" y="2072"/>
                  <a:pt x="29545" y="2281"/>
                  <a:pt x="29628" y="2385"/>
                </a:cubicBezTo>
                <a:cubicBezTo>
                  <a:pt x="30256" y="2992"/>
                  <a:pt x="30926" y="3453"/>
                  <a:pt x="31679" y="3850"/>
                </a:cubicBezTo>
                <a:cubicBezTo>
                  <a:pt x="28457" y="6884"/>
                  <a:pt x="25130" y="9792"/>
                  <a:pt x="21698" y="12554"/>
                </a:cubicBezTo>
                <a:lnTo>
                  <a:pt x="21657" y="12596"/>
                </a:lnTo>
                <a:cubicBezTo>
                  <a:pt x="20882" y="11906"/>
                  <a:pt x="20087" y="11257"/>
                  <a:pt x="19313" y="10608"/>
                </a:cubicBezTo>
                <a:cubicBezTo>
                  <a:pt x="18644" y="10043"/>
                  <a:pt x="17953" y="9290"/>
                  <a:pt x="17221" y="8872"/>
                </a:cubicBezTo>
                <a:cubicBezTo>
                  <a:pt x="17026" y="8763"/>
                  <a:pt x="16845" y="8716"/>
                  <a:pt x="16675" y="8716"/>
                </a:cubicBezTo>
                <a:cubicBezTo>
                  <a:pt x="15892" y="8716"/>
                  <a:pt x="15332" y="9710"/>
                  <a:pt x="14731" y="10295"/>
                </a:cubicBezTo>
                <a:lnTo>
                  <a:pt x="10462" y="14479"/>
                </a:lnTo>
                <a:cubicBezTo>
                  <a:pt x="10232" y="14688"/>
                  <a:pt x="9730" y="15442"/>
                  <a:pt x="9395" y="15525"/>
                </a:cubicBezTo>
                <a:cubicBezTo>
                  <a:pt x="9313" y="15546"/>
                  <a:pt x="9237" y="15556"/>
                  <a:pt x="9166" y="15556"/>
                </a:cubicBezTo>
                <a:cubicBezTo>
                  <a:pt x="8735" y="15556"/>
                  <a:pt x="8499" y="15206"/>
                  <a:pt x="8140" y="14919"/>
                </a:cubicBezTo>
                <a:lnTo>
                  <a:pt x="5399" y="12722"/>
                </a:lnTo>
                <a:cubicBezTo>
                  <a:pt x="5354" y="12688"/>
                  <a:pt x="5297" y="12666"/>
                  <a:pt x="5241" y="12666"/>
                </a:cubicBezTo>
                <a:cubicBezTo>
                  <a:pt x="5193" y="12666"/>
                  <a:pt x="5145" y="12683"/>
                  <a:pt x="5106" y="12722"/>
                </a:cubicBezTo>
                <a:cubicBezTo>
                  <a:pt x="3537" y="14479"/>
                  <a:pt x="1884" y="16111"/>
                  <a:pt x="126" y="17660"/>
                </a:cubicBezTo>
                <a:cubicBezTo>
                  <a:pt x="63" y="17743"/>
                  <a:pt x="63" y="17827"/>
                  <a:pt x="105" y="17869"/>
                </a:cubicBezTo>
                <a:cubicBezTo>
                  <a:pt x="22" y="17953"/>
                  <a:pt x="1" y="18057"/>
                  <a:pt x="105" y="18141"/>
                </a:cubicBezTo>
                <a:cubicBezTo>
                  <a:pt x="1214" y="19103"/>
                  <a:pt x="2365" y="19982"/>
                  <a:pt x="3558" y="20819"/>
                </a:cubicBezTo>
                <a:cubicBezTo>
                  <a:pt x="3593" y="20845"/>
                  <a:pt x="3631" y="20857"/>
                  <a:pt x="3668" y="20857"/>
                </a:cubicBezTo>
                <a:cubicBezTo>
                  <a:pt x="3718" y="20857"/>
                  <a:pt x="3763" y="20835"/>
                  <a:pt x="3788" y="20798"/>
                </a:cubicBezTo>
                <a:cubicBezTo>
                  <a:pt x="4289" y="20257"/>
                  <a:pt x="5692" y="18276"/>
                  <a:pt x="6564" y="18276"/>
                </a:cubicBezTo>
                <a:cubicBezTo>
                  <a:pt x="6602" y="18276"/>
                  <a:pt x="6639" y="18279"/>
                  <a:pt x="6675" y="18287"/>
                </a:cubicBezTo>
                <a:cubicBezTo>
                  <a:pt x="6989" y="18350"/>
                  <a:pt x="7554" y="18999"/>
                  <a:pt x="7805" y="19145"/>
                </a:cubicBezTo>
                <a:cubicBezTo>
                  <a:pt x="8391" y="19626"/>
                  <a:pt x="9019" y="20045"/>
                  <a:pt x="9688" y="20484"/>
                </a:cubicBezTo>
                <a:cubicBezTo>
                  <a:pt x="9711" y="20507"/>
                  <a:pt x="9740" y="20516"/>
                  <a:pt x="9770" y="20516"/>
                </a:cubicBezTo>
                <a:cubicBezTo>
                  <a:pt x="9822" y="20516"/>
                  <a:pt x="9879" y="20490"/>
                  <a:pt x="9918" y="20463"/>
                </a:cubicBezTo>
                <a:cubicBezTo>
                  <a:pt x="11697" y="18580"/>
                  <a:pt x="13475" y="16718"/>
                  <a:pt x="15254" y="14835"/>
                </a:cubicBezTo>
                <a:cubicBezTo>
                  <a:pt x="15584" y="14505"/>
                  <a:pt x="15879" y="13903"/>
                  <a:pt x="16405" y="13903"/>
                </a:cubicBezTo>
                <a:cubicBezTo>
                  <a:pt x="16445" y="13903"/>
                  <a:pt x="16487" y="13907"/>
                  <a:pt x="16530" y="13914"/>
                </a:cubicBezTo>
                <a:cubicBezTo>
                  <a:pt x="16865" y="13977"/>
                  <a:pt x="17639" y="15065"/>
                  <a:pt x="17890" y="15358"/>
                </a:cubicBezTo>
                <a:lnTo>
                  <a:pt x="20610" y="18204"/>
                </a:lnTo>
                <a:cubicBezTo>
                  <a:pt x="20651" y="18244"/>
                  <a:pt x="20709" y="18267"/>
                  <a:pt x="20762" y="18267"/>
                </a:cubicBezTo>
                <a:cubicBezTo>
                  <a:pt x="20791" y="18267"/>
                  <a:pt x="20818" y="18260"/>
                  <a:pt x="20841" y="18246"/>
                </a:cubicBezTo>
                <a:cubicBezTo>
                  <a:pt x="23435" y="16321"/>
                  <a:pt x="25946" y="14312"/>
                  <a:pt x="28373" y="12220"/>
                </a:cubicBezTo>
                <a:cubicBezTo>
                  <a:pt x="29587" y="11173"/>
                  <a:pt x="30779" y="10106"/>
                  <a:pt x="31972" y="9039"/>
                </a:cubicBezTo>
                <a:cubicBezTo>
                  <a:pt x="32558" y="8474"/>
                  <a:pt x="33792" y="7721"/>
                  <a:pt x="34169" y="6863"/>
                </a:cubicBezTo>
                <a:cubicBezTo>
                  <a:pt x="34817" y="7637"/>
                  <a:pt x="35529" y="8349"/>
                  <a:pt x="36303" y="8997"/>
                </a:cubicBezTo>
                <a:cubicBezTo>
                  <a:pt x="36344" y="9038"/>
                  <a:pt x="36397" y="9057"/>
                  <a:pt x="36450" y="9057"/>
                </a:cubicBezTo>
                <a:cubicBezTo>
                  <a:pt x="36532" y="9057"/>
                  <a:pt x="36612" y="9011"/>
                  <a:pt x="36638" y="8935"/>
                </a:cubicBezTo>
                <a:cubicBezTo>
                  <a:pt x="37642" y="6110"/>
                  <a:pt x="39023" y="3201"/>
                  <a:pt x="39358" y="209"/>
                </a:cubicBezTo>
                <a:cubicBezTo>
                  <a:pt x="39421" y="63"/>
                  <a:pt x="39295" y="0"/>
                  <a:pt x="3917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915;p45">
            <a:extLst>
              <a:ext uri="{FF2B5EF4-FFF2-40B4-BE49-F238E27FC236}">
                <a16:creationId xmlns:a16="http://schemas.microsoft.com/office/drawing/2014/main" xmlns="" id="{D4A7CAB0-B3CD-2DF3-D2C3-7F7125AD27A5}"/>
              </a:ext>
            </a:extLst>
          </p:cNvPr>
          <p:cNvGrpSpPr/>
          <p:nvPr/>
        </p:nvGrpSpPr>
        <p:grpSpPr>
          <a:xfrm rot="12000938">
            <a:off x="1691283" y="2058215"/>
            <a:ext cx="304060" cy="290283"/>
            <a:chOff x="5856861" y="3059709"/>
            <a:chExt cx="304060" cy="290283"/>
          </a:xfrm>
        </p:grpSpPr>
        <p:sp>
          <p:nvSpPr>
            <p:cNvPr id="12" name="Google Shape;916;p45">
              <a:extLst>
                <a:ext uri="{FF2B5EF4-FFF2-40B4-BE49-F238E27FC236}">
                  <a16:creationId xmlns:a16="http://schemas.microsoft.com/office/drawing/2014/main" xmlns="" id="{5F5F07C1-97E8-FF0D-83B1-FB54496C72B1}"/>
                </a:ext>
              </a:extLst>
            </p:cNvPr>
            <p:cNvSpPr/>
            <p:nvPr/>
          </p:nvSpPr>
          <p:spPr>
            <a:xfrm>
              <a:off x="5905500" y="3103750"/>
              <a:ext cx="213978" cy="213322"/>
            </a:xfrm>
            <a:custGeom>
              <a:avLst/>
              <a:gdLst/>
              <a:ahLst/>
              <a:cxnLst/>
              <a:rect l="l" t="t" r="r" b="b"/>
              <a:pathLst>
                <a:path w="3875" h="3627" extrusionOk="0">
                  <a:moveTo>
                    <a:pt x="1324" y="0"/>
                  </a:moveTo>
                  <a:cubicBezTo>
                    <a:pt x="1059" y="0"/>
                    <a:pt x="1056" y="946"/>
                    <a:pt x="969" y="1186"/>
                  </a:cubicBezTo>
                  <a:cubicBezTo>
                    <a:pt x="890" y="1434"/>
                    <a:pt x="0" y="1997"/>
                    <a:pt x="23" y="2155"/>
                  </a:cubicBezTo>
                  <a:cubicBezTo>
                    <a:pt x="62" y="2420"/>
                    <a:pt x="947" y="2437"/>
                    <a:pt x="1175" y="2437"/>
                  </a:cubicBezTo>
                  <a:cubicBezTo>
                    <a:pt x="1209" y="2437"/>
                    <a:pt x="1228" y="2436"/>
                    <a:pt x="1228" y="2436"/>
                  </a:cubicBezTo>
                  <a:cubicBezTo>
                    <a:pt x="1228" y="2436"/>
                    <a:pt x="1284" y="3428"/>
                    <a:pt x="1431" y="3608"/>
                  </a:cubicBezTo>
                  <a:cubicBezTo>
                    <a:pt x="1442" y="3620"/>
                    <a:pt x="1455" y="3626"/>
                    <a:pt x="1471" y="3626"/>
                  </a:cubicBezTo>
                  <a:cubicBezTo>
                    <a:pt x="1685" y="3626"/>
                    <a:pt x="2309" y="2583"/>
                    <a:pt x="2309" y="2583"/>
                  </a:cubicBezTo>
                  <a:cubicBezTo>
                    <a:pt x="2309" y="2583"/>
                    <a:pt x="2852" y="2810"/>
                    <a:pt x="3273" y="2810"/>
                  </a:cubicBezTo>
                  <a:cubicBezTo>
                    <a:pt x="3330" y="2810"/>
                    <a:pt x="3385" y="2806"/>
                    <a:pt x="3436" y="2797"/>
                  </a:cubicBezTo>
                  <a:cubicBezTo>
                    <a:pt x="3875" y="2718"/>
                    <a:pt x="3143" y="1749"/>
                    <a:pt x="3008" y="1524"/>
                  </a:cubicBezTo>
                  <a:cubicBezTo>
                    <a:pt x="2895" y="1299"/>
                    <a:pt x="3447" y="905"/>
                    <a:pt x="3391" y="679"/>
                  </a:cubicBezTo>
                  <a:cubicBezTo>
                    <a:pt x="3376" y="622"/>
                    <a:pt x="3324" y="601"/>
                    <a:pt x="3247" y="601"/>
                  </a:cubicBezTo>
                  <a:cubicBezTo>
                    <a:pt x="3019" y="601"/>
                    <a:pt x="2582" y="792"/>
                    <a:pt x="2321" y="826"/>
                  </a:cubicBezTo>
                  <a:cubicBezTo>
                    <a:pt x="2313" y="826"/>
                    <a:pt x="2306" y="827"/>
                    <a:pt x="2299" y="827"/>
                  </a:cubicBezTo>
                  <a:cubicBezTo>
                    <a:pt x="1958" y="827"/>
                    <a:pt x="1639" y="70"/>
                    <a:pt x="1352" y="3"/>
                  </a:cubicBezTo>
                  <a:cubicBezTo>
                    <a:pt x="1342" y="1"/>
                    <a:pt x="1333" y="0"/>
                    <a:pt x="13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17;p45">
              <a:extLst>
                <a:ext uri="{FF2B5EF4-FFF2-40B4-BE49-F238E27FC236}">
                  <a16:creationId xmlns:a16="http://schemas.microsoft.com/office/drawing/2014/main" xmlns="" id="{D80E20A2-1159-6FB9-3ACC-E957CC045D2C}"/>
                </a:ext>
              </a:extLst>
            </p:cNvPr>
            <p:cNvSpPr/>
            <p:nvPr/>
          </p:nvSpPr>
          <p:spPr>
            <a:xfrm rot="-1249224">
              <a:off x="5887777" y="3095625"/>
              <a:ext cx="242229" cy="218451"/>
            </a:xfrm>
            <a:custGeom>
              <a:avLst/>
              <a:gdLst/>
              <a:ahLst/>
              <a:cxnLst/>
              <a:rect l="l" t="t" r="r" b="b"/>
              <a:pathLst>
                <a:path w="3730" h="3064" extrusionOk="0">
                  <a:moveTo>
                    <a:pt x="1848" y="293"/>
                  </a:moveTo>
                  <a:cubicBezTo>
                    <a:pt x="1904" y="394"/>
                    <a:pt x="1983" y="530"/>
                    <a:pt x="1995" y="563"/>
                  </a:cubicBezTo>
                  <a:cubicBezTo>
                    <a:pt x="2017" y="586"/>
                    <a:pt x="2040" y="631"/>
                    <a:pt x="2051" y="676"/>
                  </a:cubicBezTo>
                  <a:cubicBezTo>
                    <a:pt x="2130" y="856"/>
                    <a:pt x="2242" y="1082"/>
                    <a:pt x="2423" y="1138"/>
                  </a:cubicBezTo>
                  <a:cubicBezTo>
                    <a:pt x="2614" y="1205"/>
                    <a:pt x="2817" y="1217"/>
                    <a:pt x="3008" y="1217"/>
                  </a:cubicBezTo>
                  <a:cubicBezTo>
                    <a:pt x="3155" y="1217"/>
                    <a:pt x="3279" y="1217"/>
                    <a:pt x="3402" y="1250"/>
                  </a:cubicBezTo>
                  <a:cubicBezTo>
                    <a:pt x="3369" y="1296"/>
                    <a:pt x="3290" y="1352"/>
                    <a:pt x="3233" y="1386"/>
                  </a:cubicBezTo>
                  <a:cubicBezTo>
                    <a:pt x="3211" y="1408"/>
                    <a:pt x="3200" y="1431"/>
                    <a:pt x="3166" y="1442"/>
                  </a:cubicBezTo>
                  <a:cubicBezTo>
                    <a:pt x="3087" y="1521"/>
                    <a:pt x="2997" y="1577"/>
                    <a:pt x="2918" y="1645"/>
                  </a:cubicBezTo>
                  <a:lnTo>
                    <a:pt x="2749" y="1769"/>
                  </a:lnTo>
                  <a:cubicBezTo>
                    <a:pt x="2715" y="1780"/>
                    <a:pt x="2693" y="1814"/>
                    <a:pt x="2659" y="1859"/>
                  </a:cubicBezTo>
                  <a:cubicBezTo>
                    <a:pt x="2591" y="1971"/>
                    <a:pt x="2648" y="2163"/>
                    <a:pt x="2715" y="2422"/>
                  </a:cubicBezTo>
                  <a:cubicBezTo>
                    <a:pt x="2727" y="2478"/>
                    <a:pt x="2749" y="2512"/>
                    <a:pt x="2760" y="2557"/>
                  </a:cubicBezTo>
                  <a:cubicBezTo>
                    <a:pt x="2772" y="2568"/>
                    <a:pt x="2772" y="2602"/>
                    <a:pt x="2772" y="2625"/>
                  </a:cubicBezTo>
                  <a:cubicBezTo>
                    <a:pt x="2772" y="2670"/>
                    <a:pt x="2783" y="2715"/>
                    <a:pt x="2783" y="2760"/>
                  </a:cubicBezTo>
                  <a:lnTo>
                    <a:pt x="2085" y="2433"/>
                  </a:lnTo>
                  <a:cubicBezTo>
                    <a:pt x="2012" y="2402"/>
                    <a:pt x="1941" y="2389"/>
                    <a:pt x="1871" y="2389"/>
                  </a:cubicBezTo>
                  <a:cubicBezTo>
                    <a:pt x="1690" y="2389"/>
                    <a:pt x="1518" y="2476"/>
                    <a:pt x="1364" y="2557"/>
                  </a:cubicBezTo>
                  <a:cubicBezTo>
                    <a:pt x="1319" y="2591"/>
                    <a:pt x="1274" y="2613"/>
                    <a:pt x="1240" y="2625"/>
                  </a:cubicBezTo>
                  <a:cubicBezTo>
                    <a:pt x="1195" y="2647"/>
                    <a:pt x="1139" y="2670"/>
                    <a:pt x="1082" y="2703"/>
                  </a:cubicBezTo>
                  <a:cubicBezTo>
                    <a:pt x="1015" y="2726"/>
                    <a:pt x="958" y="2760"/>
                    <a:pt x="902" y="2782"/>
                  </a:cubicBezTo>
                  <a:cubicBezTo>
                    <a:pt x="913" y="2715"/>
                    <a:pt x="925" y="2625"/>
                    <a:pt x="958" y="2546"/>
                  </a:cubicBezTo>
                  <a:cubicBezTo>
                    <a:pt x="970" y="2489"/>
                    <a:pt x="981" y="2422"/>
                    <a:pt x="1003" y="2366"/>
                  </a:cubicBezTo>
                  <a:cubicBezTo>
                    <a:pt x="1015" y="2309"/>
                    <a:pt x="1026" y="2264"/>
                    <a:pt x="1037" y="2219"/>
                  </a:cubicBezTo>
                  <a:cubicBezTo>
                    <a:pt x="1060" y="2163"/>
                    <a:pt x="1071" y="2118"/>
                    <a:pt x="1082" y="2061"/>
                  </a:cubicBezTo>
                  <a:cubicBezTo>
                    <a:pt x="1127" y="1836"/>
                    <a:pt x="902" y="1690"/>
                    <a:pt x="733" y="1555"/>
                  </a:cubicBezTo>
                  <a:cubicBezTo>
                    <a:pt x="688" y="1532"/>
                    <a:pt x="643" y="1498"/>
                    <a:pt x="620" y="1476"/>
                  </a:cubicBezTo>
                  <a:lnTo>
                    <a:pt x="350" y="1250"/>
                  </a:lnTo>
                  <a:cubicBezTo>
                    <a:pt x="406" y="1250"/>
                    <a:pt x="463" y="1228"/>
                    <a:pt x="508" y="1217"/>
                  </a:cubicBezTo>
                  <a:cubicBezTo>
                    <a:pt x="553" y="1217"/>
                    <a:pt x="575" y="1205"/>
                    <a:pt x="587" y="1205"/>
                  </a:cubicBezTo>
                  <a:cubicBezTo>
                    <a:pt x="632" y="1194"/>
                    <a:pt x="699" y="1194"/>
                    <a:pt x="778" y="1194"/>
                  </a:cubicBezTo>
                  <a:cubicBezTo>
                    <a:pt x="1060" y="1183"/>
                    <a:pt x="1262" y="1160"/>
                    <a:pt x="1375" y="1082"/>
                  </a:cubicBezTo>
                  <a:cubicBezTo>
                    <a:pt x="1476" y="991"/>
                    <a:pt x="1533" y="868"/>
                    <a:pt x="1589" y="755"/>
                  </a:cubicBezTo>
                  <a:cubicBezTo>
                    <a:pt x="1600" y="710"/>
                    <a:pt x="1634" y="676"/>
                    <a:pt x="1645" y="642"/>
                  </a:cubicBezTo>
                  <a:cubicBezTo>
                    <a:pt x="1679" y="597"/>
                    <a:pt x="1702" y="541"/>
                    <a:pt x="1735" y="485"/>
                  </a:cubicBezTo>
                  <a:cubicBezTo>
                    <a:pt x="1769" y="417"/>
                    <a:pt x="1803" y="349"/>
                    <a:pt x="1848" y="293"/>
                  </a:cubicBezTo>
                  <a:close/>
                  <a:moveTo>
                    <a:pt x="1814" y="0"/>
                  </a:moveTo>
                  <a:lnTo>
                    <a:pt x="1769" y="34"/>
                  </a:lnTo>
                  <a:cubicBezTo>
                    <a:pt x="1657" y="135"/>
                    <a:pt x="1589" y="293"/>
                    <a:pt x="1533" y="417"/>
                  </a:cubicBezTo>
                  <a:cubicBezTo>
                    <a:pt x="1499" y="462"/>
                    <a:pt x="1488" y="518"/>
                    <a:pt x="1465" y="563"/>
                  </a:cubicBezTo>
                  <a:cubicBezTo>
                    <a:pt x="1431" y="586"/>
                    <a:pt x="1420" y="642"/>
                    <a:pt x="1386" y="687"/>
                  </a:cubicBezTo>
                  <a:cubicBezTo>
                    <a:pt x="1353" y="777"/>
                    <a:pt x="1296" y="901"/>
                    <a:pt x="1240" y="935"/>
                  </a:cubicBezTo>
                  <a:cubicBezTo>
                    <a:pt x="1184" y="991"/>
                    <a:pt x="913" y="991"/>
                    <a:pt x="778" y="1003"/>
                  </a:cubicBezTo>
                  <a:cubicBezTo>
                    <a:pt x="699" y="1003"/>
                    <a:pt x="632" y="1025"/>
                    <a:pt x="575" y="1025"/>
                  </a:cubicBezTo>
                  <a:cubicBezTo>
                    <a:pt x="542" y="1025"/>
                    <a:pt x="519" y="1025"/>
                    <a:pt x="463" y="1036"/>
                  </a:cubicBezTo>
                  <a:cubicBezTo>
                    <a:pt x="384" y="1048"/>
                    <a:pt x="170" y="1093"/>
                    <a:pt x="114" y="1093"/>
                  </a:cubicBezTo>
                  <a:cubicBezTo>
                    <a:pt x="114" y="1093"/>
                    <a:pt x="136" y="1093"/>
                    <a:pt x="147" y="1104"/>
                  </a:cubicBezTo>
                  <a:lnTo>
                    <a:pt x="1" y="1250"/>
                  </a:lnTo>
                  <a:lnTo>
                    <a:pt x="451" y="1611"/>
                  </a:lnTo>
                  <a:cubicBezTo>
                    <a:pt x="497" y="1656"/>
                    <a:pt x="530" y="1690"/>
                    <a:pt x="575" y="1712"/>
                  </a:cubicBezTo>
                  <a:cubicBezTo>
                    <a:pt x="722" y="1814"/>
                    <a:pt x="891" y="1926"/>
                    <a:pt x="857" y="2039"/>
                  </a:cubicBezTo>
                  <a:cubicBezTo>
                    <a:pt x="846" y="2073"/>
                    <a:pt x="834" y="2140"/>
                    <a:pt x="812" y="2174"/>
                  </a:cubicBezTo>
                  <a:cubicBezTo>
                    <a:pt x="801" y="2230"/>
                    <a:pt x="789" y="2275"/>
                    <a:pt x="778" y="2332"/>
                  </a:cubicBezTo>
                  <a:lnTo>
                    <a:pt x="733" y="2501"/>
                  </a:lnTo>
                  <a:cubicBezTo>
                    <a:pt x="688" y="2647"/>
                    <a:pt x="643" y="2782"/>
                    <a:pt x="665" y="2940"/>
                  </a:cubicBezTo>
                  <a:lnTo>
                    <a:pt x="677" y="3053"/>
                  </a:lnTo>
                  <a:lnTo>
                    <a:pt x="801" y="3053"/>
                  </a:lnTo>
                  <a:cubicBezTo>
                    <a:pt x="925" y="3019"/>
                    <a:pt x="1060" y="2951"/>
                    <a:pt x="1184" y="2895"/>
                  </a:cubicBezTo>
                  <a:cubicBezTo>
                    <a:pt x="1229" y="2872"/>
                    <a:pt x="1285" y="2850"/>
                    <a:pt x="1319" y="2827"/>
                  </a:cubicBezTo>
                  <a:cubicBezTo>
                    <a:pt x="1364" y="2816"/>
                    <a:pt x="1420" y="2782"/>
                    <a:pt x="1465" y="2760"/>
                  </a:cubicBezTo>
                  <a:cubicBezTo>
                    <a:pt x="1609" y="2684"/>
                    <a:pt x="1733" y="2627"/>
                    <a:pt x="1848" y="2627"/>
                  </a:cubicBezTo>
                  <a:cubicBezTo>
                    <a:pt x="1887" y="2627"/>
                    <a:pt x="1924" y="2633"/>
                    <a:pt x="1961" y="2647"/>
                  </a:cubicBezTo>
                  <a:lnTo>
                    <a:pt x="2884" y="3064"/>
                  </a:lnTo>
                  <a:lnTo>
                    <a:pt x="2986" y="2895"/>
                  </a:lnTo>
                  <a:cubicBezTo>
                    <a:pt x="3008" y="2906"/>
                    <a:pt x="3031" y="2929"/>
                    <a:pt x="3031" y="2929"/>
                  </a:cubicBezTo>
                  <a:cubicBezTo>
                    <a:pt x="3008" y="2884"/>
                    <a:pt x="2986" y="2703"/>
                    <a:pt x="2986" y="2647"/>
                  </a:cubicBezTo>
                  <a:cubicBezTo>
                    <a:pt x="2974" y="2602"/>
                    <a:pt x="2974" y="2568"/>
                    <a:pt x="2974" y="2557"/>
                  </a:cubicBezTo>
                  <a:cubicBezTo>
                    <a:pt x="2974" y="2534"/>
                    <a:pt x="2941" y="2478"/>
                    <a:pt x="2929" y="2399"/>
                  </a:cubicBezTo>
                  <a:cubicBezTo>
                    <a:pt x="2896" y="2275"/>
                    <a:pt x="2817" y="2039"/>
                    <a:pt x="2862" y="1971"/>
                  </a:cubicBezTo>
                  <a:cubicBezTo>
                    <a:pt x="2873" y="1971"/>
                    <a:pt x="2884" y="1949"/>
                    <a:pt x="2896" y="1938"/>
                  </a:cubicBezTo>
                  <a:lnTo>
                    <a:pt x="3065" y="1814"/>
                  </a:lnTo>
                  <a:cubicBezTo>
                    <a:pt x="3166" y="1746"/>
                    <a:pt x="3256" y="1667"/>
                    <a:pt x="3335" y="1600"/>
                  </a:cubicBezTo>
                  <a:cubicBezTo>
                    <a:pt x="3369" y="1588"/>
                    <a:pt x="3380" y="1555"/>
                    <a:pt x="3402" y="1543"/>
                  </a:cubicBezTo>
                  <a:cubicBezTo>
                    <a:pt x="3515" y="1442"/>
                    <a:pt x="3661" y="1352"/>
                    <a:pt x="3707" y="1217"/>
                  </a:cubicBezTo>
                  <a:lnTo>
                    <a:pt x="3729" y="1138"/>
                  </a:lnTo>
                  <a:lnTo>
                    <a:pt x="3628" y="1104"/>
                  </a:lnTo>
                  <a:cubicBezTo>
                    <a:pt x="3436" y="1036"/>
                    <a:pt x="3222" y="1025"/>
                    <a:pt x="3031" y="1025"/>
                  </a:cubicBezTo>
                  <a:cubicBezTo>
                    <a:pt x="2839" y="1003"/>
                    <a:pt x="2659" y="1003"/>
                    <a:pt x="2501" y="946"/>
                  </a:cubicBezTo>
                  <a:cubicBezTo>
                    <a:pt x="2411" y="924"/>
                    <a:pt x="2321" y="721"/>
                    <a:pt x="2265" y="597"/>
                  </a:cubicBezTo>
                  <a:cubicBezTo>
                    <a:pt x="2254" y="563"/>
                    <a:pt x="2220" y="507"/>
                    <a:pt x="2209" y="473"/>
                  </a:cubicBezTo>
                  <a:cubicBezTo>
                    <a:pt x="1972" y="23"/>
                    <a:pt x="1916" y="11"/>
                    <a:pt x="1871" y="11"/>
                  </a:cubicBezTo>
                  <a:lnTo>
                    <a:pt x="181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918;p45">
            <a:extLst>
              <a:ext uri="{FF2B5EF4-FFF2-40B4-BE49-F238E27FC236}">
                <a16:creationId xmlns:a16="http://schemas.microsoft.com/office/drawing/2014/main" xmlns="" id="{417817A9-5616-9D13-EB81-8D6FD8132E29}"/>
              </a:ext>
            </a:extLst>
          </p:cNvPr>
          <p:cNvGrpSpPr/>
          <p:nvPr/>
        </p:nvGrpSpPr>
        <p:grpSpPr>
          <a:xfrm rot="13437815">
            <a:off x="2226199" y="3875864"/>
            <a:ext cx="304056" cy="290278"/>
            <a:chOff x="5856861" y="3059709"/>
            <a:chExt cx="304060" cy="290283"/>
          </a:xfrm>
        </p:grpSpPr>
        <p:sp>
          <p:nvSpPr>
            <p:cNvPr id="15" name="Google Shape;919;p45">
              <a:extLst>
                <a:ext uri="{FF2B5EF4-FFF2-40B4-BE49-F238E27FC236}">
                  <a16:creationId xmlns:a16="http://schemas.microsoft.com/office/drawing/2014/main" xmlns="" id="{AC5E8827-F25A-3C7E-894E-6C912F48F4A8}"/>
                </a:ext>
              </a:extLst>
            </p:cNvPr>
            <p:cNvSpPr/>
            <p:nvPr/>
          </p:nvSpPr>
          <p:spPr>
            <a:xfrm>
              <a:off x="5905500" y="3103750"/>
              <a:ext cx="213978" cy="213322"/>
            </a:xfrm>
            <a:custGeom>
              <a:avLst/>
              <a:gdLst/>
              <a:ahLst/>
              <a:cxnLst/>
              <a:rect l="l" t="t" r="r" b="b"/>
              <a:pathLst>
                <a:path w="3875" h="3627" extrusionOk="0">
                  <a:moveTo>
                    <a:pt x="1324" y="0"/>
                  </a:moveTo>
                  <a:cubicBezTo>
                    <a:pt x="1059" y="0"/>
                    <a:pt x="1056" y="946"/>
                    <a:pt x="969" y="1186"/>
                  </a:cubicBezTo>
                  <a:cubicBezTo>
                    <a:pt x="890" y="1434"/>
                    <a:pt x="0" y="1997"/>
                    <a:pt x="23" y="2155"/>
                  </a:cubicBezTo>
                  <a:cubicBezTo>
                    <a:pt x="62" y="2420"/>
                    <a:pt x="947" y="2437"/>
                    <a:pt x="1175" y="2437"/>
                  </a:cubicBezTo>
                  <a:cubicBezTo>
                    <a:pt x="1209" y="2437"/>
                    <a:pt x="1228" y="2436"/>
                    <a:pt x="1228" y="2436"/>
                  </a:cubicBezTo>
                  <a:cubicBezTo>
                    <a:pt x="1228" y="2436"/>
                    <a:pt x="1284" y="3428"/>
                    <a:pt x="1431" y="3608"/>
                  </a:cubicBezTo>
                  <a:cubicBezTo>
                    <a:pt x="1442" y="3620"/>
                    <a:pt x="1455" y="3626"/>
                    <a:pt x="1471" y="3626"/>
                  </a:cubicBezTo>
                  <a:cubicBezTo>
                    <a:pt x="1685" y="3626"/>
                    <a:pt x="2309" y="2583"/>
                    <a:pt x="2309" y="2583"/>
                  </a:cubicBezTo>
                  <a:cubicBezTo>
                    <a:pt x="2309" y="2583"/>
                    <a:pt x="2852" y="2810"/>
                    <a:pt x="3273" y="2810"/>
                  </a:cubicBezTo>
                  <a:cubicBezTo>
                    <a:pt x="3330" y="2810"/>
                    <a:pt x="3385" y="2806"/>
                    <a:pt x="3436" y="2797"/>
                  </a:cubicBezTo>
                  <a:cubicBezTo>
                    <a:pt x="3875" y="2718"/>
                    <a:pt x="3143" y="1749"/>
                    <a:pt x="3008" y="1524"/>
                  </a:cubicBezTo>
                  <a:cubicBezTo>
                    <a:pt x="2895" y="1299"/>
                    <a:pt x="3447" y="905"/>
                    <a:pt x="3391" y="679"/>
                  </a:cubicBezTo>
                  <a:cubicBezTo>
                    <a:pt x="3376" y="622"/>
                    <a:pt x="3324" y="601"/>
                    <a:pt x="3247" y="601"/>
                  </a:cubicBezTo>
                  <a:cubicBezTo>
                    <a:pt x="3019" y="601"/>
                    <a:pt x="2582" y="792"/>
                    <a:pt x="2321" y="826"/>
                  </a:cubicBezTo>
                  <a:cubicBezTo>
                    <a:pt x="2313" y="826"/>
                    <a:pt x="2306" y="827"/>
                    <a:pt x="2299" y="827"/>
                  </a:cubicBezTo>
                  <a:cubicBezTo>
                    <a:pt x="1958" y="827"/>
                    <a:pt x="1639" y="70"/>
                    <a:pt x="1352" y="3"/>
                  </a:cubicBezTo>
                  <a:cubicBezTo>
                    <a:pt x="1342" y="1"/>
                    <a:pt x="1333" y="0"/>
                    <a:pt x="13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20;p45">
              <a:extLst>
                <a:ext uri="{FF2B5EF4-FFF2-40B4-BE49-F238E27FC236}">
                  <a16:creationId xmlns:a16="http://schemas.microsoft.com/office/drawing/2014/main" xmlns="" id="{69484E64-1946-5696-2271-770826215929}"/>
                </a:ext>
              </a:extLst>
            </p:cNvPr>
            <p:cNvSpPr/>
            <p:nvPr/>
          </p:nvSpPr>
          <p:spPr>
            <a:xfrm rot="-1249224">
              <a:off x="5887777" y="3095625"/>
              <a:ext cx="242229" cy="218451"/>
            </a:xfrm>
            <a:custGeom>
              <a:avLst/>
              <a:gdLst/>
              <a:ahLst/>
              <a:cxnLst/>
              <a:rect l="l" t="t" r="r" b="b"/>
              <a:pathLst>
                <a:path w="3730" h="3064" extrusionOk="0">
                  <a:moveTo>
                    <a:pt x="1848" y="293"/>
                  </a:moveTo>
                  <a:cubicBezTo>
                    <a:pt x="1904" y="394"/>
                    <a:pt x="1983" y="530"/>
                    <a:pt x="1995" y="563"/>
                  </a:cubicBezTo>
                  <a:cubicBezTo>
                    <a:pt x="2017" y="586"/>
                    <a:pt x="2040" y="631"/>
                    <a:pt x="2051" y="676"/>
                  </a:cubicBezTo>
                  <a:cubicBezTo>
                    <a:pt x="2130" y="856"/>
                    <a:pt x="2242" y="1082"/>
                    <a:pt x="2423" y="1138"/>
                  </a:cubicBezTo>
                  <a:cubicBezTo>
                    <a:pt x="2614" y="1205"/>
                    <a:pt x="2817" y="1217"/>
                    <a:pt x="3008" y="1217"/>
                  </a:cubicBezTo>
                  <a:cubicBezTo>
                    <a:pt x="3155" y="1217"/>
                    <a:pt x="3279" y="1217"/>
                    <a:pt x="3402" y="1250"/>
                  </a:cubicBezTo>
                  <a:cubicBezTo>
                    <a:pt x="3369" y="1296"/>
                    <a:pt x="3290" y="1352"/>
                    <a:pt x="3233" y="1386"/>
                  </a:cubicBezTo>
                  <a:cubicBezTo>
                    <a:pt x="3211" y="1408"/>
                    <a:pt x="3200" y="1431"/>
                    <a:pt x="3166" y="1442"/>
                  </a:cubicBezTo>
                  <a:cubicBezTo>
                    <a:pt x="3087" y="1521"/>
                    <a:pt x="2997" y="1577"/>
                    <a:pt x="2918" y="1645"/>
                  </a:cubicBezTo>
                  <a:lnTo>
                    <a:pt x="2749" y="1769"/>
                  </a:lnTo>
                  <a:cubicBezTo>
                    <a:pt x="2715" y="1780"/>
                    <a:pt x="2693" y="1814"/>
                    <a:pt x="2659" y="1859"/>
                  </a:cubicBezTo>
                  <a:cubicBezTo>
                    <a:pt x="2591" y="1971"/>
                    <a:pt x="2648" y="2163"/>
                    <a:pt x="2715" y="2422"/>
                  </a:cubicBezTo>
                  <a:cubicBezTo>
                    <a:pt x="2727" y="2478"/>
                    <a:pt x="2749" y="2512"/>
                    <a:pt x="2760" y="2557"/>
                  </a:cubicBezTo>
                  <a:cubicBezTo>
                    <a:pt x="2772" y="2568"/>
                    <a:pt x="2772" y="2602"/>
                    <a:pt x="2772" y="2625"/>
                  </a:cubicBezTo>
                  <a:cubicBezTo>
                    <a:pt x="2772" y="2670"/>
                    <a:pt x="2783" y="2715"/>
                    <a:pt x="2783" y="2760"/>
                  </a:cubicBezTo>
                  <a:lnTo>
                    <a:pt x="2085" y="2433"/>
                  </a:lnTo>
                  <a:cubicBezTo>
                    <a:pt x="2012" y="2402"/>
                    <a:pt x="1941" y="2389"/>
                    <a:pt x="1871" y="2389"/>
                  </a:cubicBezTo>
                  <a:cubicBezTo>
                    <a:pt x="1690" y="2389"/>
                    <a:pt x="1518" y="2476"/>
                    <a:pt x="1364" y="2557"/>
                  </a:cubicBezTo>
                  <a:cubicBezTo>
                    <a:pt x="1319" y="2591"/>
                    <a:pt x="1274" y="2613"/>
                    <a:pt x="1240" y="2625"/>
                  </a:cubicBezTo>
                  <a:cubicBezTo>
                    <a:pt x="1195" y="2647"/>
                    <a:pt x="1139" y="2670"/>
                    <a:pt x="1082" y="2703"/>
                  </a:cubicBezTo>
                  <a:cubicBezTo>
                    <a:pt x="1015" y="2726"/>
                    <a:pt x="958" y="2760"/>
                    <a:pt x="902" y="2782"/>
                  </a:cubicBezTo>
                  <a:cubicBezTo>
                    <a:pt x="913" y="2715"/>
                    <a:pt x="925" y="2625"/>
                    <a:pt x="958" y="2546"/>
                  </a:cubicBezTo>
                  <a:cubicBezTo>
                    <a:pt x="970" y="2489"/>
                    <a:pt x="981" y="2422"/>
                    <a:pt x="1003" y="2366"/>
                  </a:cubicBezTo>
                  <a:cubicBezTo>
                    <a:pt x="1015" y="2309"/>
                    <a:pt x="1026" y="2264"/>
                    <a:pt x="1037" y="2219"/>
                  </a:cubicBezTo>
                  <a:cubicBezTo>
                    <a:pt x="1060" y="2163"/>
                    <a:pt x="1071" y="2118"/>
                    <a:pt x="1082" y="2061"/>
                  </a:cubicBezTo>
                  <a:cubicBezTo>
                    <a:pt x="1127" y="1836"/>
                    <a:pt x="902" y="1690"/>
                    <a:pt x="733" y="1555"/>
                  </a:cubicBezTo>
                  <a:cubicBezTo>
                    <a:pt x="688" y="1532"/>
                    <a:pt x="643" y="1498"/>
                    <a:pt x="620" y="1476"/>
                  </a:cubicBezTo>
                  <a:lnTo>
                    <a:pt x="350" y="1250"/>
                  </a:lnTo>
                  <a:cubicBezTo>
                    <a:pt x="406" y="1250"/>
                    <a:pt x="463" y="1228"/>
                    <a:pt x="508" y="1217"/>
                  </a:cubicBezTo>
                  <a:cubicBezTo>
                    <a:pt x="553" y="1217"/>
                    <a:pt x="575" y="1205"/>
                    <a:pt x="587" y="1205"/>
                  </a:cubicBezTo>
                  <a:cubicBezTo>
                    <a:pt x="632" y="1194"/>
                    <a:pt x="699" y="1194"/>
                    <a:pt x="778" y="1194"/>
                  </a:cubicBezTo>
                  <a:cubicBezTo>
                    <a:pt x="1060" y="1183"/>
                    <a:pt x="1262" y="1160"/>
                    <a:pt x="1375" y="1082"/>
                  </a:cubicBezTo>
                  <a:cubicBezTo>
                    <a:pt x="1476" y="991"/>
                    <a:pt x="1533" y="868"/>
                    <a:pt x="1589" y="755"/>
                  </a:cubicBezTo>
                  <a:cubicBezTo>
                    <a:pt x="1600" y="710"/>
                    <a:pt x="1634" y="676"/>
                    <a:pt x="1645" y="642"/>
                  </a:cubicBezTo>
                  <a:cubicBezTo>
                    <a:pt x="1679" y="597"/>
                    <a:pt x="1702" y="541"/>
                    <a:pt x="1735" y="485"/>
                  </a:cubicBezTo>
                  <a:cubicBezTo>
                    <a:pt x="1769" y="417"/>
                    <a:pt x="1803" y="349"/>
                    <a:pt x="1848" y="293"/>
                  </a:cubicBezTo>
                  <a:close/>
                  <a:moveTo>
                    <a:pt x="1814" y="0"/>
                  </a:moveTo>
                  <a:lnTo>
                    <a:pt x="1769" y="34"/>
                  </a:lnTo>
                  <a:cubicBezTo>
                    <a:pt x="1657" y="135"/>
                    <a:pt x="1589" y="293"/>
                    <a:pt x="1533" y="417"/>
                  </a:cubicBezTo>
                  <a:cubicBezTo>
                    <a:pt x="1499" y="462"/>
                    <a:pt x="1488" y="518"/>
                    <a:pt x="1465" y="563"/>
                  </a:cubicBezTo>
                  <a:cubicBezTo>
                    <a:pt x="1431" y="586"/>
                    <a:pt x="1420" y="642"/>
                    <a:pt x="1386" y="687"/>
                  </a:cubicBezTo>
                  <a:cubicBezTo>
                    <a:pt x="1353" y="777"/>
                    <a:pt x="1296" y="901"/>
                    <a:pt x="1240" y="935"/>
                  </a:cubicBezTo>
                  <a:cubicBezTo>
                    <a:pt x="1184" y="991"/>
                    <a:pt x="913" y="991"/>
                    <a:pt x="778" y="1003"/>
                  </a:cubicBezTo>
                  <a:cubicBezTo>
                    <a:pt x="699" y="1003"/>
                    <a:pt x="632" y="1025"/>
                    <a:pt x="575" y="1025"/>
                  </a:cubicBezTo>
                  <a:cubicBezTo>
                    <a:pt x="542" y="1025"/>
                    <a:pt x="519" y="1025"/>
                    <a:pt x="463" y="1036"/>
                  </a:cubicBezTo>
                  <a:cubicBezTo>
                    <a:pt x="384" y="1048"/>
                    <a:pt x="170" y="1093"/>
                    <a:pt x="114" y="1093"/>
                  </a:cubicBezTo>
                  <a:cubicBezTo>
                    <a:pt x="114" y="1093"/>
                    <a:pt x="136" y="1093"/>
                    <a:pt x="147" y="1104"/>
                  </a:cubicBezTo>
                  <a:lnTo>
                    <a:pt x="1" y="1250"/>
                  </a:lnTo>
                  <a:lnTo>
                    <a:pt x="451" y="1611"/>
                  </a:lnTo>
                  <a:cubicBezTo>
                    <a:pt x="497" y="1656"/>
                    <a:pt x="530" y="1690"/>
                    <a:pt x="575" y="1712"/>
                  </a:cubicBezTo>
                  <a:cubicBezTo>
                    <a:pt x="722" y="1814"/>
                    <a:pt x="891" y="1926"/>
                    <a:pt x="857" y="2039"/>
                  </a:cubicBezTo>
                  <a:cubicBezTo>
                    <a:pt x="846" y="2073"/>
                    <a:pt x="834" y="2140"/>
                    <a:pt x="812" y="2174"/>
                  </a:cubicBezTo>
                  <a:cubicBezTo>
                    <a:pt x="801" y="2230"/>
                    <a:pt x="789" y="2275"/>
                    <a:pt x="778" y="2332"/>
                  </a:cubicBezTo>
                  <a:lnTo>
                    <a:pt x="733" y="2501"/>
                  </a:lnTo>
                  <a:cubicBezTo>
                    <a:pt x="688" y="2647"/>
                    <a:pt x="643" y="2782"/>
                    <a:pt x="665" y="2940"/>
                  </a:cubicBezTo>
                  <a:lnTo>
                    <a:pt x="677" y="3053"/>
                  </a:lnTo>
                  <a:lnTo>
                    <a:pt x="801" y="3053"/>
                  </a:lnTo>
                  <a:cubicBezTo>
                    <a:pt x="925" y="3019"/>
                    <a:pt x="1060" y="2951"/>
                    <a:pt x="1184" y="2895"/>
                  </a:cubicBezTo>
                  <a:cubicBezTo>
                    <a:pt x="1229" y="2872"/>
                    <a:pt x="1285" y="2850"/>
                    <a:pt x="1319" y="2827"/>
                  </a:cubicBezTo>
                  <a:cubicBezTo>
                    <a:pt x="1364" y="2816"/>
                    <a:pt x="1420" y="2782"/>
                    <a:pt x="1465" y="2760"/>
                  </a:cubicBezTo>
                  <a:cubicBezTo>
                    <a:pt x="1609" y="2684"/>
                    <a:pt x="1733" y="2627"/>
                    <a:pt x="1848" y="2627"/>
                  </a:cubicBezTo>
                  <a:cubicBezTo>
                    <a:pt x="1887" y="2627"/>
                    <a:pt x="1924" y="2633"/>
                    <a:pt x="1961" y="2647"/>
                  </a:cubicBezTo>
                  <a:lnTo>
                    <a:pt x="2884" y="3064"/>
                  </a:lnTo>
                  <a:lnTo>
                    <a:pt x="2986" y="2895"/>
                  </a:lnTo>
                  <a:cubicBezTo>
                    <a:pt x="3008" y="2906"/>
                    <a:pt x="3031" y="2929"/>
                    <a:pt x="3031" y="2929"/>
                  </a:cubicBezTo>
                  <a:cubicBezTo>
                    <a:pt x="3008" y="2884"/>
                    <a:pt x="2986" y="2703"/>
                    <a:pt x="2986" y="2647"/>
                  </a:cubicBezTo>
                  <a:cubicBezTo>
                    <a:pt x="2974" y="2602"/>
                    <a:pt x="2974" y="2568"/>
                    <a:pt x="2974" y="2557"/>
                  </a:cubicBezTo>
                  <a:cubicBezTo>
                    <a:pt x="2974" y="2534"/>
                    <a:pt x="2941" y="2478"/>
                    <a:pt x="2929" y="2399"/>
                  </a:cubicBezTo>
                  <a:cubicBezTo>
                    <a:pt x="2896" y="2275"/>
                    <a:pt x="2817" y="2039"/>
                    <a:pt x="2862" y="1971"/>
                  </a:cubicBezTo>
                  <a:cubicBezTo>
                    <a:pt x="2873" y="1971"/>
                    <a:pt x="2884" y="1949"/>
                    <a:pt x="2896" y="1938"/>
                  </a:cubicBezTo>
                  <a:lnTo>
                    <a:pt x="3065" y="1814"/>
                  </a:lnTo>
                  <a:cubicBezTo>
                    <a:pt x="3166" y="1746"/>
                    <a:pt x="3256" y="1667"/>
                    <a:pt x="3335" y="1600"/>
                  </a:cubicBezTo>
                  <a:cubicBezTo>
                    <a:pt x="3369" y="1588"/>
                    <a:pt x="3380" y="1555"/>
                    <a:pt x="3402" y="1543"/>
                  </a:cubicBezTo>
                  <a:cubicBezTo>
                    <a:pt x="3515" y="1442"/>
                    <a:pt x="3661" y="1352"/>
                    <a:pt x="3707" y="1217"/>
                  </a:cubicBezTo>
                  <a:lnTo>
                    <a:pt x="3729" y="1138"/>
                  </a:lnTo>
                  <a:lnTo>
                    <a:pt x="3628" y="1104"/>
                  </a:lnTo>
                  <a:cubicBezTo>
                    <a:pt x="3436" y="1036"/>
                    <a:pt x="3222" y="1025"/>
                    <a:pt x="3031" y="1025"/>
                  </a:cubicBezTo>
                  <a:cubicBezTo>
                    <a:pt x="2839" y="1003"/>
                    <a:pt x="2659" y="1003"/>
                    <a:pt x="2501" y="946"/>
                  </a:cubicBezTo>
                  <a:cubicBezTo>
                    <a:pt x="2411" y="924"/>
                    <a:pt x="2321" y="721"/>
                    <a:pt x="2265" y="597"/>
                  </a:cubicBezTo>
                  <a:cubicBezTo>
                    <a:pt x="2254" y="563"/>
                    <a:pt x="2220" y="507"/>
                    <a:pt x="2209" y="473"/>
                  </a:cubicBezTo>
                  <a:cubicBezTo>
                    <a:pt x="1972" y="23"/>
                    <a:pt x="1916" y="11"/>
                    <a:pt x="1871" y="11"/>
                  </a:cubicBezTo>
                  <a:lnTo>
                    <a:pt x="181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921;p45">
            <a:extLst>
              <a:ext uri="{FF2B5EF4-FFF2-40B4-BE49-F238E27FC236}">
                <a16:creationId xmlns:a16="http://schemas.microsoft.com/office/drawing/2014/main" xmlns="" id="{A591A334-E48F-E07E-F329-FCD9CADBB4EF}"/>
              </a:ext>
            </a:extLst>
          </p:cNvPr>
          <p:cNvGrpSpPr/>
          <p:nvPr/>
        </p:nvGrpSpPr>
        <p:grpSpPr>
          <a:xfrm rot="14186111">
            <a:off x="1716911" y="2746115"/>
            <a:ext cx="304064" cy="290286"/>
            <a:chOff x="5856861" y="3059709"/>
            <a:chExt cx="304060" cy="290283"/>
          </a:xfrm>
        </p:grpSpPr>
        <p:sp>
          <p:nvSpPr>
            <p:cNvPr id="19" name="Google Shape;922;p45">
              <a:extLst>
                <a:ext uri="{FF2B5EF4-FFF2-40B4-BE49-F238E27FC236}">
                  <a16:creationId xmlns:a16="http://schemas.microsoft.com/office/drawing/2014/main" xmlns="" id="{3866D74D-B3DB-91D5-9CA4-0F7044EB855D}"/>
                </a:ext>
              </a:extLst>
            </p:cNvPr>
            <p:cNvSpPr/>
            <p:nvPr/>
          </p:nvSpPr>
          <p:spPr>
            <a:xfrm>
              <a:off x="5905500" y="3103750"/>
              <a:ext cx="213978" cy="213322"/>
            </a:xfrm>
            <a:custGeom>
              <a:avLst/>
              <a:gdLst/>
              <a:ahLst/>
              <a:cxnLst/>
              <a:rect l="l" t="t" r="r" b="b"/>
              <a:pathLst>
                <a:path w="3875" h="3627" extrusionOk="0">
                  <a:moveTo>
                    <a:pt x="1324" y="0"/>
                  </a:moveTo>
                  <a:cubicBezTo>
                    <a:pt x="1059" y="0"/>
                    <a:pt x="1056" y="946"/>
                    <a:pt x="969" y="1186"/>
                  </a:cubicBezTo>
                  <a:cubicBezTo>
                    <a:pt x="890" y="1434"/>
                    <a:pt x="0" y="1997"/>
                    <a:pt x="23" y="2155"/>
                  </a:cubicBezTo>
                  <a:cubicBezTo>
                    <a:pt x="62" y="2420"/>
                    <a:pt x="947" y="2437"/>
                    <a:pt x="1175" y="2437"/>
                  </a:cubicBezTo>
                  <a:cubicBezTo>
                    <a:pt x="1209" y="2437"/>
                    <a:pt x="1228" y="2436"/>
                    <a:pt x="1228" y="2436"/>
                  </a:cubicBezTo>
                  <a:cubicBezTo>
                    <a:pt x="1228" y="2436"/>
                    <a:pt x="1284" y="3428"/>
                    <a:pt x="1431" y="3608"/>
                  </a:cubicBezTo>
                  <a:cubicBezTo>
                    <a:pt x="1442" y="3620"/>
                    <a:pt x="1455" y="3626"/>
                    <a:pt x="1471" y="3626"/>
                  </a:cubicBezTo>
                  <a:cubicBezTo>
                    <a:pt x="1685" y="3626"/>
                    <a:pt x="2309" y="2583"/>
                    <a:pt x="2309" y="2583"/>
                  </a:cubicBezTo>
                  <a:cubicBezTo>
                    <a:pt x="2309" y="2583"/>
                    <a:pt x="2852" y="2810"/>
                    <a:pt x="3273" y="2810"/>
                  </a:cubicBezTo>
                  <a:cubicBezTo>
                    <a:pt x="3330" y="2810"/>
                    <a:pt x="3385" y="2806"/>
                    <a:pt x="3436" y="2797"/>
                  </a:cubicBezTo>
                  <a:cubicBezTo>
                    <a:pt x="3875" y="2718"/>
                    <a:pt x="3143" y="1749"/>
                    <a:pt x="3008" y="1524"/>
                  </a:cubicBezTo>
                  <a:cubicBezTo>
                    <a:pt x="2895" y="1299"/>
                    <a:pt x="3447" y="905"/>
                    <a:pt x="3391" y="679"/>
                  </a:cubicBezTo>
                  <a:cubicBezTo>
                    <a:pt x="3376" y="622"/>
                    <a:pt x="3324" y="601"/>
                    <a:pt x="3247" y="601"/>
                  </a:cubicBezTo>
                  <a:cubicBezTo>
                    <a:pt x="3019" y="601"/>
                    <a:pt x="2582" y="792"/>
                    <a:pt x="2321" y="826"/>
                  </a:cubicBezTo>
                  <a:cubicBezTo>
                    <a:pt x="2313" y="826"/>
                    <a:pt x="2306" y="827"/>
                    <a:pt x="2299" y="827"/>
                  </a:cubicBezTo>
                  <a:cubicBezTo>
                    <a:pt x="1958" y="827"/>
                    <a:pt x="1639" y="70"/>
                    <a:pt x="1352" y="3"/>
                  </a:cubicBezTo>
                  <a:cubicBezTo>
                    <a:pt x="1342" y="1"/>
                    <a:pt x="1333" y="0"/>
                    <a:pt x="1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23;p45">
              <a:extLst>
                <a:ext uri="{FF2B5EF4-FFF2-40B4-BE49-F238E27FC236}">
                  <a16:creationId xmlns:a16="http://schemas.microsoft.com/office/drawing/2014/main" xmlns="" id="{F9281584-E198-941B-5E33-A974735A2421}"/>
                </a:ext>
              </a:extLst>
            </p:cNvPr>
            <p:cNvSpPr/>
            <p:nvPr/>
          </p:nvSpPr>
          <p:spPr>
            <a:xfrm rot="-1249224">
              <a:off x="5887777" y="3095625"/>
              <a:ext cx="242229" cy="218451"/>
            </a:xfrm>
            <a:custGeom>
              <a:avLst/>
              <a:gdLst/>
              <a:ahLst/>
              <a:cxnLst/>
              <a:rect l="l" t="t" r="r" b="b"/>
              <a:pathLst>
                <a:path w="3730" h="3064" extrusionOk="0">
                  <a:moveTo>
                    <a:pt x="1848" y="293"/>
                  </a:moveTo>
                  <a:cubicBezTo>
                    <a:pt x="1904" y="394"/>
                    <a:pt x="1983" y="530"/>
                    <a:pt x="1995" y="563"/>
                  </a:cubicBezTo>
                  <a:cubicBezTo>
                    <a:pt x="2017" y="586"/>
                    <a:pt x="2040" y="631"/>
                    <a:pt x="2051" y="676"/>
                  </a:cubicBezTo>
                  <a:cubicBezTo>
                    <a:pt x="2130" y="856"/>
                    <a:pt x="2242" y="1082"/>
                    <a:pt x="2423" y="1138"/>
                  </a:cubicBezTo>
                  <a:cubicBezTo>
                    <a:pt x="2614" y="1205"/>
                    <a:pt x="2817" y="1217"/>
                    <a:pt x="3008" y="1217"/>
                  </a:cubicBezTo>
                  <a:cubicBezTo>
                    <a:pt x="3155" y="1217"/>
                    <a:pt x="3279" y="1217"/>
                    <a:pt x="3402" y="1250"/>
                  </a:cubicBezTo>
                  <a:cubicBezTo>
                    <a:pt x="3369" y="1296"/>
                    <a:pt x="3290" y="1352"/>
                    <a:pt x="3233" y="1386"/>
                  </a:cubicBezTo>
                  <a:cubicBezTo>
                    <a:pt x="3211" y="1408"/>
                    <a:pt x="3200" y="1431"/>
                    <a:pt x="3166" y="1442"/>
                  </a:cubicBezTo>
                  <a:cubicBezTo>
                    <a:pt x="3087" y="1521"/>
                    <a:pt x="2997" y="1577"/>
                    <a:pt x="2918" y="1645"/>
                  </a:cubicBezTo>
                  <a:lnTo>
                    <a:pt x="2749" y="1769"/>
                  </a:lnTo>
                  <a:cubicBezTo>
                    <a:pt x="2715" y="1780"/>
                    <a:pt x="2693" y="1814"/>
                    <a:pt x="2659" y="1859"/>
                  </a:cubicBezTo>
                  <a:cubicBezTo>
                    <a:pt x="2591" y="1971"/>
                    <a:pt x="2648" y="2163"/>
                    <a:pt x="2715" y="2422"/>
                  </a:cubicBezTo>
                  <a:cubicBezTo>
                    <a:pt x="2727" y="2478"/>
                    <a:pt x="2749" y="2512"/>
                    <a:pt x="2760" y="2557"/>
                  </a:cubicBezTo>
                  <a:cubicBezTo>
                    <a:pt x="2772" y="2568"/>
                    <a:pt x="2772" y="2602"/>
                    <a:pt x="2772" y="2625"/>
                  </a:cubicBezTo>
                  <a:cubicBezTo>
                    <a:pt x="2772" y="2670"/>
                    <a:pt x="2783" y="2715"/>
                    <a:pt x="2783" y="2760"/>
                  </a:cubicBezTo>
                  <a:lnTo>
                    <a:pt x="2085" y="2433"/>
                  </a:lnTo>
                  <a:cubicBezTo>
                    <a:pt x="2012" y="2402"/>
                    <a:pt x="1941" y="2389"/>
                    <a:pt x="1871" y="2389"/>
                  </a:cubicBezTo>
                  <a:cubicBezTo>
                    <a:pt x="1690" y="2389"/>
                    <a:pt x="1518" y="2476"/>
                    <a:pt x="1364" y="2557"/>
                  </a:cubicBezTo>
                  <a:cubicBezTo>
                    <a:pt x="1319" y="2591"/>
                    <a:pt x="1274" y="2613"/>
                    <a:pt x="1240" y="2625"/>
                  </a:cubicBezTo>
                  <a:cubicBezTo>
                    <a:pt x="1195" y="2647"/>
                    <a:pt x="1139" y="2670"/>
                    <a:pt x="1082" y="2703"/>
                  </a:cubicBezTo>
                  <a:cubicBezTo>
                    <a:pt x="1015" y="2726"/>
                    <a:pt x="958" y="2760"/>
                    <a:pt x="902" y="2782"/>
                  </a:cubicBezTo>
                  <a:cubicBezTo>
                    <a:pt x="913" y="2715"/>
                    <a:pt x="925" y="2625"/>
                    <a:pt x="958" y="2546"/>
                  </a:cubicBezTo>
                  <a:cubicBezTo>
                    <a:pt x="970" y="2489"/>
                    <a:pt x="981" y="2422"/>
                    <a:pt x="1003" y="2366"/>
                  </a:cubicBezTo>
                  <a:cubicBezTo>
                    <a:pt x="1015" y="2309"/>
                    <a:pt x="1026" y="2264"/>
                    <a:pt x="1037" y="2219"/>
                  </a:cubicBezTo>
                  <a:cubicBezTo>
                    <a:pt x="1060" y="2163"/>
                    <a:pt x="1071" y="2118"/>
                    <a:pt x="1082" y="2061"/>
                  </a:cubicBezTo>
                  <a:cubicBezTo>
                    <a:pt x="1127" y="1836"/>
                    <a:pt x="902" y="1690"/>
                    <a:pt x="733" y="1555"/>
                  </a:cubicBezTo>
                  <a:cubicBezTo>
                    <a:pt x="688" y="1532"/>
                    <a:pt x="643" y="1498"/>
                    <a:pt x="620" y="1476"/>
                  </a:cubicBezTo>
                  <a:lnTo>
                    <a:pt x="350" y="1250"/>
                  </a:lnTo>
                  <a:cubicBezTo>
                    <a:pt x="406" y="1250"/>
                    <a:pt x="463" y="1228"/>
                    <a:pt x="508" y="1217"/>
                  </a:cubicBezTo>
                  <a:cubicBezTo>
                    <a:pt x="553" y="1217"/>
                    <a:pt x="575" y="1205"/>
                    <a:pt x="587" y="1205"/>
                  </a:cubicBezTo>
                  <a:cubicBezTo>
                    <a:pt x="632" y="1194"/>
                    <a:pt x="699" y="1194"/>
                    <a:pt x="778" y="1194"/>
                  </a:cubicBezTo>
                  <a:cubicBezTo>
                    <a:pt x="1060" y="1183"/>
                    <a:pt x="1262" y="1160"/>
                    <a:pt x="1375" y="1082"/>
                  </a:cubicBezTo>
                  <a:cubicBezTo>
                    <a:pt x="1476" y="991"/>
                    <a:pt x="1533" y="868"/>
                    <a:pt x="1589" y="755"/>
                  </a:cubicBezTo>
                  <a:cubicBezTo>
                    <a:pt x="1600" y="710"/>
                    <a:pt x="1634" y="676"/>
                    <a:pt x="1645" y="642"/>
                  </a:cubicBezTo>
                  <a:cubicBezTo>
                    <a:pt x="1679" y="597"/>
                    <a:pt x="1702" y="541"/>
                    <a:pt x="1735" y="485"/>
                  </a:cubicBezTo>
                  <a:cubicBezTo>
                    <a:pt x="1769" y="417"/>
                    <a:pt x="1803" y="349"/>
                    <a:pt x="1848" y="293"/>
                  </a:cubicBezTo>
                  <a:close/>
                  <a:moveTo>
                    <a:pt x="1814" y="0"/>
                  </a:moveTo>
                  <a:lnTo>
                    <a:pt x="1769" y="34"/>
                  </a:lnTo>
                  <a:cubicBezTo>
                    <a:pt x="1657" y="135"/>
                    <a:pt x="1589" y="293"/>
                    <a:pt x="1533" y="417"/>
                  </a:cubicBezTo>
                  <a:cubicBezTo>
                    <a:pt x="1499" y="462"/>
                    <a:pt x="1488" y="518"/>
                    <a:pt x="1465" y="563"/>
                  </a:cubicBezTo>
                  <a:cubicBezTo>
                    <a:pt x="1431" y="586"/>
                    <a:pt x="1420" y="642"/>
                    <a:pt x="1386" y="687"/>
                  </a:cubicBezTo>
                  <a:cubicBezTo>
                    <a:pt x="1353" y="777"/>
                    <a:pt x="1296" y="901"/>
                    <a:pt x="1240" y="935"/>
                  </a:cubicBezTo>
                  <a:cubicBezTo>
                    <a:pt x="1184" y="991"/>
                    <a:pt x="913" y="991"/>
                    <a:pt x="778" y="1003"/>
                  </a:cubicBezTo>
                  <a:cubicBezTo>
                    <a:pt x="699" y="1003"/>
                    <a:pt x="632" y="1025"/>
                    <a:pt x="575" y="1025"/>
                  </a:cubicBezTo>
                  <a:cubicBezTo>
                    <a:pt x="542" y="1025"/>
                    <a:pt x="519" y="1025"/>
                    <a:pt x="463" y="1036"/>
                  </a:cubicBezTo>
                  <a:cubicBezTo>
                    <a:pt x="384" y="1048"/>
                    <a:pt x="170" y="1093"/>
                    <a:pt x="114" y="1093"/>
                  </a:cubicBezTo>
                  <a:cubicBezTo>
                    <a:pt x="114" y="1093"/>
                    <a:pt x="136" y="1093"/>
                    <a:pt x="147" y="1104"/>
                  </a:cubicBezTo>
                  <a:lnTo>
                    <a:pt x="1" y="1250"/>
                  </a:lnTo>
                  <a:lnTo>
                    <a:pt x="451" y="1611"/>
                  </a:lnTo>
                  <a:cubicBezTo>
                    <a:pt x="497" y="1656"/>
                    <a:pt x="530" y="1690"/>
                    <a:pt x="575" y="1712"/>
                  </a:cubicBezTo>
                  <a:cubicBezTo>
                    <a:pt x="722" y="1814"/>
                    <a:pt x="891" y="1926"/>
                    <a:pt x="857" y="2039"/>
                  </a:cubicBezTo>
                  <a:cubicBezTo>
                    <a:pt x="846" y="2073"/>
                    <a:pt x="834" y="2140"/>
                    <a:pt x="812" y="2174"/>
                  </a:cubicBezTo>
                  <a:cubicBezTo>
                    <a:pt x="801" y="2230"/>
                    <a:pt x="789" y="2275"/>
                    <a:pt x="778" y="2332"/>
                  </a:cubicBezTo>
                  <a:lnTo>
                    <a:pt x="733" y="2501"/>
                  </a:lnTo>
                  <a:cubicBezTo>
                    <a:pt x="688" y="2647"/>
                    <a:pt x="643" y="2782"/>
                    <a:pt x="665" y="2940"/>
                  </a:cubicBezTo>
                  <a:lnTo>
                    <a:pt x="677" y="3053"/>
                  </a:lnTo>
                  <a:lnTo>
                    <a:pt x="801" y="3053"/>
                  </a:lnTo>
                  <a:cubicBezTo>
                    <a:pt x="925" y="3019"/>
                    <a:pt x="1060" y="2951"/>
                    <a:pt x="1184" y="2895"/>
                  </a:cubicBezTo>
                  <a:cubicBezTo>
                    <a:pt x="1229" y="2872"/>
                    <a:pt x="1285" y="2850"/>
                    <a:pt x="1319" y="2827"/>
                  </a:cubicBezTo>
                  <a:cubicBezTo>
                    <a:pt x="1364" y="2816"/>
                    <a:pt x="1420" y="2782"/>
                    <a:pt x="1465" y="2760"/>
                  </a:cubicBezTo>
                  <a:cubicBezTo>
                    <a:pt x="1609" y="2684"/>
                    <a:pt x="1733" y="2627"/>
                    <a:pt x="1848" y="2627"/>
                  </a:cubicBezTo>
                  <a:cubicBezTo>
                    <a:pt x="1887" y="2627"/>
                    <a:pt x="1924" y="2633"/>
                    <a:pt x="1961" y="2647"/>
                  </a:cubicBezTo>
                  <a:lnTo>
                    <a:pt x="2884" y="3064"/>
                  </a:lnTo>
                  <a:lnTo>
                    <a:pt x="2986" y="2895"/>
                  </a:lnTo>
                  <a:cubicBezTo>
                    <a:pt x="3008" y="2906"/>
                    <a:pt x="3031" y="2929"/>
                    <a:pt x="3031" y="2929"/>
                  </a:cubicBezTo>
                  <a:cubicBezTo>
                    <a:pt x="3008" y="2884"/>
                    <a:pt x="2986" y="2703"/>
                    <a:pt x="2986" y="2647"/>
                  </a:cubicBezTo>
                  <a:cubicBezTo>
                    <a:pt x="2974" y="2602"/>
                    <a:pt x="2974" y="2568"/>
                    <a:pt x="2974" y="2557"/>
                  </a:cubicBezTo>
                  <a:cubicBezTo>
                    <a:pt x="2974" y="2534"/>
                    <a:pt x="2941" y="2478"/>
                    <a:pt x="2929" y="2399"/>
                  </a:cubicBezTo>
                  <a:cubicBezTo>
                    <a:pt x="2896" y="2275"/>
                    <a:pt x="2817" y="2039"/>
                    <a:pt x="2862" y="1971"/>
                  </a:cubicBezTo>
                  <a:cubicBezTo>
                    <a:pt x="2873" y="1971"/>
                    <a:pt x="2884" y="1949"/>
                    <a:pt x="2896" y="1938"/>
                  </a:cubicBezTo>
                  <a:lnTo>
                    <a:pt x="3065" y="1814"/>
                  </a:lnTo>
                  <a:cubicBezTo>
                    <a:pt x="3166" y="1746"/>
                    <a:pt x="3256" y="1667"/>
                    <a:pt x="3335" y="1600"/>
                  </a:cubicBezTo>
                  <a:cubicBezTo>
                    <a:pt x="3369" y="1588"/>
                    <a:pt x="3380" y="1555"/>
                    <a:pt x="3402" y="1543"/>
                  </a:cubicBezTo>
                  <a:cubicBezTo>
                    <a:pt x="3515" y="1442"/>
                    <a:pt x="3661" y="1352"/>
                    <a:pt x="3707" y="1217"/>
                  </a:cubicBezTo>
                  <a:lnTo>
                    <a:pt x="3729" y="1138"/>
                  </a:lnTo>
                  <a:lnTo>
                    <a:pt x="3628" y="1104"/>
                  </a:lnTo>
                  <a:cubicBezTo>
                    <a:pt x="3436" y="1036"/>
                    <a:pt x="3222" y="1025"/>
                    <a:pt x="3031" y="1025"/>
                  </a:cubicBezTo>
                  <a:cubicBezTo>
                    <a:pt x="2839" y="1003"/>
                    <a:pt x="2659" y="1003"/>
                    <a:pt x="2501" y="946"/>
                  </a:cubicBezTo>
                  <a:cubicBezTo>
                    <a:pt x="2411" y="924"/>
                    <a:pt x="2321" y="721"/>
                    <a:pt x="2265" y="597"/>
                  </a:cubicBezTo>
                  <a:cubicBezTo>
                    <a:pt x="2254" y="563"/>
                    <a:pt x="2220" y="507"/>
                    <a:pt x="2209" y="473"/>
                  </a:cubicBezTo>
                  <a:cubicBezTo>
                    <a:pt x="1972" y="23"/>
                    <a:pt x="1916" y="11"/>
                    <a:pt x="1871" y="11"/>
                  </a:cubicBezTo>
                  <a:lnTo>
                    <a:pt x="181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Picture 21" descr="A screenshot of a computer&#10;&#10;Description automatically generated">
            <a:extLst>
              <a:ext uri="{FF2B5EF4-FFF2-40B4-BE49-F238E27FC236}">
                <a16:creationId xmlns:a16="http://schemas.microsoft.com/office/drawing/2014/main" xmlns="" id="{5D8AA99A-B830-1B20-2EBE-9A92A84004F5}"/>
              </a:ext>
            </a:extLst>
          </p:cNvPr>
          <p:cNvPicPr>
            <a:picLocks noChangeAspect="1"/>
          </p:cNvPicPr>
          <p:nvPr/>
        </p:nvPicPr>
        <p:blipFill rotWithShape="1">
          <a:blip r:embed="rId3"/>
          <a:srcRect t="83111" r="43000" b="8148"/>
          <a:stretch/>
        </p:blipFill>
        <p:spPr>
          <a:xfrm>
            <a:off x="2796540" y="1272540"/>
            <a:ext cx="5753100" cy="906780"/>
          </a:xfrm>
          <a:prstGeom prst="rect">
            <a:avLst/>
          </a:prstGeom>
        </p:spPr>
      </p:pic>
      <p:sp>
        <p:nvSpPr>
          <p:cNvPr id="23" name="TextBox 22">
            <a:extLst>
              <a:ext uri="{FF2B5EF4-FFF2-40B4-BE49-F238E27FC236}">
                <a16:creationId xmlns:a16="http://schemas.microsoft.com/office/drawing/2014/main" xmlns="" id="{3F9493EE-C682-2561-0CB7-EB0B259E96F8}"/>
              </a:ext>
            </a:extLst>
          </p:cNvPr>
          <p:cNvSpPr txBox="1"/>
          <p:nvPr/>
        </p:nvSpPr>
        <p:spPr>
          <a:xfrm>
            <a:off x="3512820" y="2377325"/>
            <a:ext cx="5090160" cy="22467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A coefficient of -1.92 for the "Sex" variable means that, there is an estimated decrease of approximately 1.92 units in the value of ADWG0021 when changing the gender from "Female" to "Male." </a:t>
            </a:r>
          </a:p>
          <a:p>
            <a:pPr marL="285750" indent="-285750">
              <a:lnSpc>
                <a:spcPct val="150000"/>
              </a:lnSpc>
              <a:buFont typeface="Arial" panose="020B0604020202020204" pitchFamily="34" charset="0"/>
              <a:buChar char="•"/>
            </a:pPr>
            <a:r>
              <a:rPr lang="en-US" dirty="0"/>
              <a:t>This suggests that, compared to females, males have a lower average value of ADWG0021.</a:t>
            </a:r>
          </a:p>
          <a:p>
            <a:endParaRPr lang="en-US" dirty="0"/>
          </a:p>
        </p:txBody>
      </p:sp>
    </p:spTree>
    <p:extLst>
      <p:ext uri="{BB962C8B-B14F-4D97-AF65-F5344CB8AC3E}">
        <p14:creationId xmlns:p14="http://schemas.microsoft.com/office/powerpoint/2010/main" val="17524269"/>
      </p:ext>
    </p:extLst>
  </p:cSld>
  <p:clrMapOvr>
    <a:masterClrMapping/>
  </p:clrMapOvr>
  <p:timing>
    <p:tnLst>
      <p:par>
        <p:cTn id="1" dur="indefinite" restart="never" nodeType="tmRoot"/>
      </p:par>
    </p:tnLst>
  </p:timing>
</p:sld>
</file>

<file path=ppt/theme/theme1.xml><?xml version="1.0" encoding="utf-8"?>
<a:theme xmlns:a="http://schemas.openxmlformats.org/drawingml/2006/main" name="Doodle Statistics Infographics by Slidesgo">
  <a:themeElements>
    <a:clrScheme name="Simple Light">
      <a:dk1>
        <a:srgbClr val="000000"/>
      </a:dk1>
      <a:lt1>
        <a:srgbClr val="FFFFFF"/>
      </a:lt1>
      <a:dk2>
        <a:srgbClr val="FCD481"/>
      </a:dk2>
      <a:lt2>
        <a:srgbClr val="00B6C5"/>
      </a:lt2>
      <a:accent1>
        <a:srgbClr val="F46787"/>
      </a:accent1>
      <a:accent2>
        <a:srgbClr val="FDC2C0"/>
      </a:accent2>
      <a:accent3>
        <a:srgbClr val="B28EFC"/>
      </a:accent3>
      <a:accent4>
        <a:srgbClr val="D9D9D9"/>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oodle Statistics Infographics by Slidesgo">
  <a:themeElements>
    <a:clrScheme name="Simple Light">
      <a:dk1>
        <a:srgbClr val="000000"/>
      </a:dk1>
      <a:lt1>
        <a:srgbClr val="FFFFFF"/>
      </a:lt1>
      <a:dk2>
        <a:srgbClr val="FCD481"/>
      </a:dk2>
      <a:lt2>
        <a:srgbClr val="00B6C5"/>
      </a:lt2>
      <a:accent1>
        <a:srgbClr val="F46787"/>
      </a:accent1>
      <a:accent2>
        <a:srgbClr val="FDC2C0"/>
      </a:accent2>
      <a:accent3>
        <a:srgbClr val="B28EFC"/>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698</TotalTime>
  <Words>1981</Words>
  <Application>Microsoft Office PowerPoint</Application>
  <PresentationFormat>On-screen Show (16:9)</PresentationFormat>
  <Paragraphs>236</Paragraphs>
  <Slides>32</Slides>
  <Notes>13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32</vt:i4>
      </vt:variant>
    </vt:vector>
  </HeadingPairs>
  <TitlesOfParts>
    <vt:vector size="42" baseType="lpstr">
      <vt:lpstr>Arial</vt:lpstr>
      <vt:lpstr>Niramit</vt:lpstr>
      <vt:lpstr>Fira Sans Condensed SemiBold</vt:lpstr>
      <vt:lpstr>Times New Roman</vt:lpstr>
      <vt:lpstr>Fira Sans Extra Condensed SemiBold</vt:lpstr>
      <vt:lpstr>Symbol</vt:lpstr>
      <vt:lpstr>Calibri</vt:lpstr>
      <vt:lpstr>Roboto</vt:lpstr>
      <vt:lpstr>Doodle Statistics Infographics by Slidesgo</vt:lpstr>
      <vt:lpstr>Doodle Statistics Infographics by Slidesgo</vt:lpstr>
      <vt:lpstr>Post-weaning diarrhea I statistics </vt:lpstr>
      <vt:lpstr>Introduction</vt:lpstr>
      <vt:lpstr>Dataset</vt:lpstr>
      <vt:lpstr>Table of contents</vt:lpstr>
      <vt:lpstr>Descriptive statistics </vt:lpstr>
      <vt:lpstr>Then we calculated the frequency table for the categorical variables.       There is a positive relationship between (ADWG0021 and ADWG2150) and (ADWG0021and ADWG0050).      </vt:lpstr>
      <vt:lpstr> Bar chart of a categorical variable for the gender </vt:lpstr>
      <vt:lpstr> Bar chart graph with mean ADWG0021 in Males and Females.</vt:lpstr>
      <vt:lpstr>    Histogram of a continuous variable: “ADWG2150”</vt:lpstr>
      <vt:lpstr>    Histogram of a continuous variable: “ADWG0021”</vt:lpstr>
      <vt:lpstr> Scatterplot of ADWG0050 and ADWG0021 with regression  lines for each gender.</vt:lpstr>
      <vt:lpstr> Boxplot of ADWG0021. </vt:lpstr>
      <vt:lpstr> Separate boxplots per Treatment</vt:lpstr>
      <vt:lpstr>Outlier detection </vt:lpstr>
      <vt:lpstr>Normality Testing</vt:lpstr>
      <vt:lpstr>Results</vt:lpstr>
      <vt:lpstr>The results of the normality test indicated that the data were normally distributed as the p-value for ADWG0021, ADWG0050, and ADWG2150 are greater than the significance level of 0.05.  of p value= (0.7305,0.9086,0.9037) which mean we don’t have enough evidence to reject null hypothesis. It is worth noting that even if the normality assumption is violated, certain statistical tests are robust to moderate departures from normality, especially when the sample size is large. Additionally, visual examination of histograms, Q-Q plots, or other graphical methods can provide further insights into the distributional </vt:lpstr>
      <vt:lpstr>Homoscedasticity Testing</vt:lpstr>
      <vt:lpstr>Statistics inference  We calculated the 90%, 95%, 99% confidence interval for the means of ADWG0021per each gender. </vt:lpstr>
      <vt:lpstr>Hypothesis testing</vt:lpstr>
      <vt:lpstr>Assessing assumptions for the t-test:</vt:lpstr>
      <vt:lpstr>Results(Normality)</vt:lpstr>
      <vt:lpstr>Results</vt:lpstr>
      <vt:lpstr>Results(Equality of variances)</vt:lpstr>
      <vt:lpstr>Hypothesis testing</vt:lpstr>
      <vt:lpstr>3- We hypothesis that ADWG0021 is different between the different Treatments</vt:lpstr>
      <vt:lpstr>We will check the homoscedasticity by using (Boxplot and Levene test) Assume normality       The P-value is 0.8968 which is greater than 0.05 so we do not have enough evidence to reject the null hypothesis so the data is homo variance.      </vt:lpstr>
      <vt:lpstr>We will (assume normality and homoscedasticity).</vt:lpstr>
      <vt:lpstr>Linear Model</vt:lpstr>
      <vt:lpstr>There is no linear relationship between the explanatory variable (sex) with the response variable (ADWG0021) the regression line is horizontal and seems to be zero so y (ADWG0021) can't be predicted by x (sex).             </vt:lpstr>
      <vt:lpstr>Calculate 95% confidence interval of the regression slope.</vt:lpstr>
      <vt:lpstr>Estimating the average ADWG0021 changes with changing the gender from Female to Male.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Post-weaning diarrhea I statistics</dc:title>
  <dc:creator>Joy</dc:creator>
  <cp:lastModifiedBy>HANAFI</cp:lastModifiedBy>
  <cp:revision>16</cp:revision>
  <dcterms:modified xsi:type="dcterms:W3CDTF">2025-08-12T20:04:48Z</dcterms:modified>
</cp:coreProperties>
</file>